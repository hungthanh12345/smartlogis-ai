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Kính thưa Thầy/Cô trong Hội đồng! Trong kỷ nguyên chuỗi cung ứng số hóa, kho vận là trái tim luân chuyển dòng vốn. Hôm nay chúng em xin trân trọng giới thiệu SmartLogis AI - Hệ Thống Quản Lý Kho Thông Minh Tích Hợp AI và Bảo Toàn Giao Dịch ACID. Hệ thống giải quyết triệt để vấn đề mất mát dữ liệu và xung đột tồn kho bằng giải thuật Atomic SQL Decrement, đồng thời tích hợp Trợ lý Trí tuệ Nhân tạo Google Gemini giúp ban điều hành ra quyết định chính xác.</a:t>
            </a:r>
          </a:p>
          <a:p>
            <a:r>
              <a:t>Mẹo tương tác: Giọng tự tin, nhấn mạnh 100% ACID và Google Gemini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90s</a:t>
            </a:r>
          </a:p>
          <a:p>
            <a:r>
              <a:t>Lời thoại: Khảo sát thực tế tại các kho vật tư xây dựng cho thấy 4 nỗi đau kinh điển: Thứ nhất, lỗi tồn kho âm do Race Condition. Thứ hai, đứt gãy chuỗi cung ứng do không dự báo được Burn-rate. Thứ ba, ứ đọng vốn với hàng chục SKU nằm kho trên 60 ngày. Và thứ tư, rủi ro lộ bí mật giá vốn khi đưa dữ liệu lên Cloud AI. SmartLogis AI ra đời để giải quyết triệt để 4 bài toán này.</a:t>
            </a:r>
          </a:p>
          <a:p>
            <a:r>
              <a:t>Mẹo tương tác: Giơ ngón tay đếm từ 1 đến 4, tạo sự đồng cảm với khó khăn thực tế của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SmartLogis AI thiết lập 3 mục tiêu chiến lược: Thứ nhất, 100% Zero Negative Stock. Thứ hai, Trợ lý Trí tuệ Nhân tạo Google Gemini tính toán Burn-rate và đưa khuyến nghị nhập hàng tức thời. Thứ ba, nguyên tắc Zero Financial Leakage bảo vệ bí mật kinh doanh với module Data Sanitizer độc quyền.</a:t>
            </a:r>
          </a:p>
          <a:p>
            <a:r>
              <a:t>Mẹo tương tác: Nhấn giọng tại cụm từ 'Zero Negative Stock' và 'Zero Financial Leakage'.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Về mặt kiến trúc, SmartLogis AI áp dụng mô hình phân tầng Modular Clean Architecture: Tầng Presentation sử dụng kết hợp Jinja2 Server-Side Rendering và Tailwind CSS giúp tối ưu tốc độ phản hồi trang dưới 50 mili-giây. Tầng Security đảm bảo xác thực bằng JSON Web Token với cơ chế bảo vệ HTTP-only Cookie và phân quyền RBAC nghiêm ngặt 3 vai trò: Admin, Thủ kho kiêm Kế toán và Nhân viên kho. Tầng Nghiệp vụ đóng vai trò bộ não điều phối, nơi xử lý các transaction ACID và kết nối với Google Gemini Engine. Và dưới cùng là tầng CSDL với SQLite chế độ WAL hoặc MySQL 8.0 InnoDB tối ưu hóa bằng 8 B-Tree Indexes.</a:t>
            </a:r>
          </a:p>
          <a:p>
            <a:r>
              <a:t>Mẹo tương tác: Quét tay theo thứ tự từ tầng trên xuống tầng dưới để người nghe nắm bắt luồng kiến trúc.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Đi sâu vào tầng dữ liệu, mô hình CSDL của chúng em gồm 10 bảng thực thể được chuẩn hóa nghiêm ngặt theo dạng chuẩn 3NF. Bảng ton_kho gắn chặt quan hệ 1-1 với hang_hoa, và mọi biến động đều tự động ghi sổ vào bảng the_kho. Hệ thống hỗ trợ song song SQLite WAL và MySQL 8.0 InnoDB với 8 chỉ mục B-Tree Index trên các trường khóa ngoại và thời gian giao dịch, giúp giảm độ trễ truy vấn báo cáo 30 ngày xuống dưới 5 mili-giây. Đồng thời, các CheckConstraint cấp CSDL bảo đảm không ai có thể ghi số âm vào hệ thống.</a:t>
            </a:r>
          </a:p>
          <a:p>
            <a:r>
              <a:t>Mẹo tương tác: Chỉ vào các dòng hỗ trợ SQLite/MySQL và 8 B-Tree Indexes để chứng minh năng lực tối ưu hệ thống sâu.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90s</a:t>
            </a:r>
          </a:p>
          <a:p>
            <a:r>
              <a:t>Lời thoại: Đây là một trong những điểm sáng kỹ thuật quan trọng nhất của đồ án. Thông thường, các lập trình viên hay đọc tồn kho vào biến Python rồi trừ ton.SoLuongTon -= qty. Cách làm này dẫn tới thảm họa Lost Update khi nhiều người cùng thao tác. Để khắc phục, SmartLogis AI áp dụng Atomic SQL Decrement: đẩy toàn bộ điều kiện trừ xuống cấp SQL Engine với mệnh đề WHERE SoLuongTon &gt;= :qty. Nếu tại thời điểm ghi số lượng không đủ, rowcount trả về bằng 0, hệ thống lập tức Rollback toàn bộ chứng từ Master-Detail và trả về lỗi 400 rõ ràng.</a:t>
            </a:r>
          </a:p>
          <a:p>
            <a:r>
              <a:t>Mẹo tương tác: Dùng tay miêu tả hai luồng truy cập song song để hội đồng cảm nhận rõ nét hiểm họa của Race Condition và sự ưu việt của Atomic SQL.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Bên cạnh giải thuật chống tồn âm, SmartLogis AI đóng gói toàn bộ quy trình Nhập - Xuất kho trong một giao dịch ACID nguyên tử duy nhất gồm 4 bước. Đồng thời, mô hình phân quyền RBAC được tối ưu hóa cho thực tế doanh nghiệp với 3 vai trò rõ ràng: Admin nắm toàn quyền hệ thống; Thủ kho kiêm Kế toán được trao quyền vận hành kho, lập chứng từ và kết xuất báo cáo tài chính kế toán; trong khi Nhân viên kho (Staff) chỉ có quyền tra cứu danh mục để kiểm đếm hiện trường và bị chặn hoàn toàn các thao tác sửa đổi hay lập phiếu (HTTP 403).</a:t>
            </a:r>
          </a:p>
          <a:p>
            <a:r>
              <a:t>Mẹo tương tác: Chỉ vào cột 'Nhân viên kho (Staff)' và nhấn mạnh tính phân quyền phân cấp bảo mật chặt chẽ trong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Khi đưa trí tuệ nhân tạo vào doanh nghiệp, bài toán hóc búa nhất là: 'Làm thế nào để tận dụng sức mạnh LLM mà không để lộ bí mật giá vốn?'. Câu trả lời của chúng em là module Data Sanitizer. Trước khi bất kỳ dữ liệu nào gửi đi, thuật toán quét đệ quy sẽ loại bỏ hoàn toàn các trường nhạy cảm như đơn giá nhập, thành tiền hay chiết khấu. Ngữ cảnh cung cấp cho Google Gemini chỉ thuần túy là các chỉ số vận hành. Hội đồng có thể kiểm chứng trực tiếp tính minh bạch này qua endpoint /raw-context trong phần demo.</a:t>
            </a:r>
          </a:p>
          <a:p>
            <a:r>
              <a:t>Mẹo tương tác: Nhìn thẳng vào hội đồng, khẳng định: 'Dữ liệu tài chính không bao giờ rời khỏi máy chủ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Hiện tượng 'ảo giác' là rủi ro lớn nhất của các mô hình LLM. Trong SmartLogis AI, chúng em áp dụng kỹ thuật Prompt Engineering chặt chẽ: System Instruction ràng buộc AI chỉ được phép đóng vai Senior Logistics Assistant, suy luận thuần túy trên tập JSON thực tế và trả lời theo cấu trúc 3 phần bắt buộc: Phần 1 tóm lược sức khỏe kho; Phần 2 đưa ra cảnh báo và đề xuất khối lượng nhập cụ thể; và Phần 3 chỉ điểm các mặt hàng xuất đột biến hoặc hàng chết nằm kho trên 60 ngày.</a:t>
            </a:r>
          </a:p>
          <a:p>
            <a:r>
              <a:t>Mẹo tương tác: Chỉ vào 3 phần của báo cáo, giải thích lý do vì sao cấu trúc này tối ưu cho ban giám đốc ra quyết định nhanh.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70s</a:t>
            </a:r>
          </a:p>
          <a:p>
            <a:r>
              <a:t>Lời thoại: Một hệ thống doanh nghiệp không thể ngừng hoạt động chỉ vì mất kết nối Internet hay nhà cung cấp AI gặp sự cố mã lỗi 429 Quota Exceeded. Do đó, chúng em xây dựng Local Grounded Fallback Engine. Hệ thống được trang bị cơ chế thử lại Exponential Backoff 3 lần. Nếu API bên ngoài vẫn không phản hồi, bộ phân tích toán học nội bộ sẽ tự động kích hoạt ngay lập tức: tự tính toán số dư tồn, tốc độ xuất kho và sinh ra báo cáo 3 phần chuẩn xác 100% dựa trên dữ liệu thật.</a:t>
            </a:r>
          </a:p>
          <a:p>
            <a:r>
              <a:t>Mẹo tương tác: Nhấn mạnh thông điệp: 'Tính sẵn sàng cao là tiêu chuẩn bắt buộc của phần mềm cấp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Quy trình phát triển SmartLogis AI được tổ chức chặt chẽ qua 4 giai đoạn kỹ thuật phần mềm: Giai đoạn 1 thiết kế kiến trúc phân tầng và chuẩn hóa mô hình thực thể 3NF. Giai đoạn 2 kiểm toán sâu, giải quyết lỗi đua lệnh bằng Atomic SQL Decrement và thiết lập 8 chỉ mục B-Tree. Giai đoạn 3 hiện thực hóa mô hình AI với Google Gemini, Data Sanitizer và Fallback Engine. Và Giai đoạn 4 hoàn thiện đóng gói Docker Compose đa container, cấu hình Nginx Gateway và đạt độ phủ kiểm thử tự động tuyệt đối.</a:t>
            </a:r>
          </a:p>
          <a:p>
            <a:r>
              <a:t>Mẹo tương tác: Quét tay theo chiều ngang qua 4 giai đoạn, thể hiện sự hoàn thiện trọn vẹn và tính kỷ luật của nhóm dự án.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Để đảm bảo hệ thống đủ tiêu chuẩn vận hành thực tế, chúng em xây dựng bộ kiểm thử tự động toàn diện bằng framework Pytest gồm 16 kịch bản trọng yếu. Đặc biệt, chúng em thực hiện bài kiểm thử Concurrency Stress Test bằng ThreadPoolExecutor: giả lập nhiều thủ kho cùng xuất vét kho đồng thời, kết quả chứng minh tồn kho dừng lại chính xác ở số dư khả dụng và không bao giờ bị âm. Cùng với đó là các kịch bản kiểm thử RBAC chặt chẽ đảm bảo Nhân viên kho bị chặn 403 khi thao tác trái quyền. Toàn bộ 16 test cases từ bảo mật AI, giao dịch ACID, phân quyền RBAC đến xuất báo cáo Excel đều vượt qua với tỷ lệ thành công 100%.</a:t>
            </a:r>
          </a:p>
          <a:p>
            <a:r>
              <a:t>Mẹo tương tác: Nhấn mạnh bài test Concurrency và tỷ lệ 16/16 test cases passed để tạo sự thuyết phục cao nhất với hội đồng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Về mặt vận hành triển khai, SmartLogis AI được đóng gói hoàn chỉnh bằng Docker Compose với kiến trúc 4 container độc lập: Nginx đóng vai trò Reverse Proxy làm cổng vào duy nhất, bảo vệ hệ thống với chứng chỉ bảo mật SSL HTTPS; cụm Backend FastAPI xử lý logic; PostgreSQL 15 đảm bảo an toàn dữ liệu; và pgAdmin 4 hỗ trợ quản trị trực quan. Đặc biệt, hệ thống hỗ trợ truy cập đa thiết bị trong mạng LAN: thủ kho có thể dùng máy tính bảng hoặc điện thoại di động kết nối trực tiếp để quét mã và thao tác xuất nhập kho ngay tại hiện trường.</a:t>
            </a:r>
          </a:p>
          <a:p>
            <a:r>
              <a:t>Mẹo tương tác: Giơ điện thoại hoặc tablet lên làm động tác minh họa việc thủ kho truy cập qua mạng Wi-Fi tại hiện trường.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Sau đây, chúng em xin phép được bắt đầu phần Live Demo hệ thống thực tế trong đúng 5 phút theo lộ trình chuẩn: Phút 1: Đăng nhập so sánh 2 vai trò Thủ kho kiêm Kế toán và Nhân viên kho để thấy rõ phân quyền RBAC; Phút 2: Tương tác với AI Widget để nhận báo cáo phân tích chiến lược từ Google Gemini; Phút 3: Trực tiếp 'thử thách' tính toàn vẹn hệ thống bằng cách xuất vượt số lượng tồn kho để quan sát cơ chế chống tồn âm; Phút 4: Lập phiếu nhập và tra cứu sổ Thẻ kho; Và Phút 5: Thanh tra trực tiếp payload gửi tới AI để chứng minh 100% giá vốn đã được khử nhạy cảm.</a:t>
            </a:r>
          </a:p>
          <a:p>
            <a:r>
              <a:t>Mẹo tương tác: Chuyển sang màn hình trình chiếu trình duyệt web, bắt đầu thao tác mượt mà theo đúng 5 bước đã nêu.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Kính thưa Hội đồng, SmartLogis AI đã hoàn thành 100% các mục tiêu đề ra với 16/16 test cases đạt chuẩn, mang lại một giải pháp quản trị kho vận toàn diện: vừa an toàn tuyệt đối với giao dịch ACID chống tồn âm trên cả MySQL 8.0 và SQLite, vừa thông minh vượt bậc với sự trợ lực từ Google Gemini, phân quyền 3 vai trò thực tế và sẵn sàng triển khai ngay vào doanh nghiệp. Trong tương lai, chúng em sẽ tiếp tục mở rộng mô hình học máy chuỗi thời gian để dự báo nhu cầu theo mùa vụ công trình và phát triển ứng dụng di động quét mã vạch tại hiện trường bãi vật tư. Chúng em xin trân trọng cảm ơn sự hướng dẫn tận tình của Thầy/Cô và rất mong nhận được những góp ý quý báu từ Hội đồng để hoàn thiện dự án hơn nữa. Xin trân trọng cảm ơn!</a:t>
            </a:r>
          </a:p>
          <a:p>
            <a:r>
              <a:t>Mẹo tương tác: Cúi đầu chào trang trọng, mỉm cười tự tin, chuyển sang trạng thái sẵn sàng lắng nghe câu hỏi phản biện.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77240"/>
            <a:ext cx="3474720" cy="402336"/>
          </a:xfrm>
          <a:prstGeom prst="roundRect">
            <a:avLst/>
          </a:prstGeom>
          <a:solidFill>
            <a:srgbClr val="1E3A8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6B6D4"/>
                </a:solidFill>
                <a:latin typeface="Segoe UI"/>
              </a:defRPr>
            </a:pPr>
            <a:r>
              <a:t>SMARTLOGIS AI • PRODUCTION V4.0</a:t>
            </a:r>
          </a:p>
        </p:txBody>
      </p:sp>
      <p:sp>
        <p:nvSpPr>
          <p:cNvPr id="4" name="TextBox 3"/>
          <p:cNvSpPr txBox="1"/>
          <p:nvPr/>
        </p:nvSpPr>
        <p:spPr>
          <a:xfrm>
            <a:off x="914400" y="1325880"/>
            <a:ext cx="10332720" cy="1737360"/>
          </a:xfrm>
          <a:prstGeom prst="rect">
            <a:avLst/>
          </a:prstGeom>
          <a:noFill/>
        </p:spPr>
        <p:txBody>
          <a:bodyPr wrap="square">
            <a:spAutoFit/>
          </a:bodyPr>
          <a:lstStyle/>
          <a:p>
            <a:pPr>
              <a:defRPr sz="4000" b="1">
                <a:solidFill>
                  <a:srgbClr val="FFFFFF"/>
                </a:solidFill>
                <a:latin typeface="Segoe UI"/>
              </a:defRPr>
            </a:pPr>
            <a:r>
              <a:t>HỆ THỐNG QUẢN LÝ KHO THÔNG MINH</a:t>
            </a:r>
          </a:p>
          <a:p>
            <a:pPr>
              <a:spcBef>
                <a:spcPts val="400"/>
              </a:spcBef>
              <a:defRPr sz="3600" b="1">
                <a:solidFill>
                  <a:srgbClr val="06B6D4"/>
                </a:solidFill>
                <a:latin typeface="Segoe UI"/>
              </a:defRPr>
            </a:pPr>
            <a:r>
              <a:t>TÍCH HỢP AI &amp; BẢO TOÀN GIAO DỊCH ACID</a:t>
            </a:r>
          </a:p>
        </p:txBody>
      </p:sp>
      <p:sp>
        <p:nvSpPr>
          <p:cNvPr id="5" name="TextBox 4"/>
          <p:cNvSpPr txBox="1"/>
          <p:nvPr/>
        </p:nvSpPr>
        <p:spPr>
          <a:xfrm>
            <a:off x="914400" y="3246120"/>
            <a:ext cx="10332720" cy="548640"/>
          </a:xfrm>
          <a:prstGeom prst="rect">
            <a:avLst/>
          </a:prstGeom>
          <a:noFill/>
        </p:spPr>
        <p:txBody>
          <a:bodyPr wrap="none">
            <a:spAutoFit/>
          </a:bodyPr>
          <a:lstStyle/>
          <a:p>
            <a:pPr>
              <a:defRPr sz="1800">
                <a:solidFill>
                  <a:srgbClr val="94A3B8"/>
                </a:solidFill>
                <a:latin typeface="Segoe UI"/>
              </a:defRPr>
            </a:pPr>
            <a:r>
              <a:t>Giải Pháp Quản Trị Kho Vận Vật Tư Công Trình: Chống Tồn Âm 2 Tầng &amp; Trợ Lý Google Gemini</a:t>
            </a:r>
          </a:p>
        </p:txBody>
      </p:sp>
      <p:sp>
        <p:nvSpPr>
          <p:cNvPr id="6" name="Rounded Rectangle 5"/>
          <p:cNvSpPr/>
          <p:nvPr/>
        </p:nvSpPr>
        <p:spPr>
          <a:xfrm>
            <a:off x="914400"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100% ACID CONCURRENCY</a:t>
            </a:r>
          </a:p>
          <a:p>
            <a:pPr>
              <a:spcBef>
                <a:spcPts val="600"/>
              </a:spcBef>
              <a:defRPr sz="1400" b="1">
                <a:solidFill>
                  <a:srgbClr val="FFFFFF"/>
                </a:solidFill>
                <a:latin typeface="Segoe UI"/>
              </a:defRPr>
            </a:pPr>
            <a:r>
              <a:t>Loại bỏ hoàn toàn lỗi Tồn âm</a:t>
            </a:r>
          </a:p>
          <a:p>
            <a:pPr>
              <a:spcBef>
                <a:spcPts val="500"/>
              </a:spcBef>
              <a:defRPr sz="1300">
                <a:solidFill>
                  <a:srgbClr val="94A3B8"/>
                </a:solidFill>
                <a:latin typeface="Segoe UI"/>
              </a:defRPr>
            </a:pPr>
            <a:r>
              <a:t>• Atomic SQL Decrement &amp; DB CheckConstraints bảo vệ 2 tầng</a:t>
            </a:r>
          </a:p>
        </p:txBody>
      </p:sp>
      <p:sp>
        <p:nvSpPr>
          <p:cNvPr id="7" name="Rounded Rectangle 6"/>
          <p:cNvSpPr/>
          <p:nvPr/>
        </p:nvSpPr>
        <p:spPr>
          <a:xfrm>
            <a:off x="4443984"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GOOGLE GEMINI LLM</a:t>
            </a:r>
          </a:p>
          <a:p>
            <a:pPr>
              <a:spcBef>
                <a:spcPts val="600"/>
              </a:spcBef>
              <a:defRPr sz="1400" b="1">
                <a:solidFill>
                  <a:srgbClr val="FFFFFF"/>
                </a:solidFill>
                <a:latin typeface="Segoe UI"/>
              </a:defRPr>
            </a:pPr>
            <a:r>
              <a:t>Trợ lý Điều hành Tự động</a:t>
            </a:r>
          </a:p>
          <a:p>
            <a:pPr>
              <a:spcBef>
                <a:spcPts val="500"/>
              </a:spcBef>
              <a:defRPr sz="1300">
                <a:solidFill>
                  <a:srgbClr val="94A3B8"/>
                </a:solidFill>
                <a:latin typeface="Segoe UI"/>
              </a:defRPr>
            </a:pPr>
            <a:r>
              <a:t>• Data Sanitizer bảo vệ 100% bí mật giá vốn khi phân tích</a:t>
            </a:r>
          </a:p>
        </p:txBody>
      </p:sp>
      <p:sp>
        <p:nvSpPr>
          <p:cNvPr id="8" name="Rounded Rectangle 7"/>
          <p:cNvSpPr/>
          <p:nvPr/>
        </p:nvSpPr>
        <p:spPr>
          <a:xfrm>
            <a:off x="7973568"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PRODUCTION DOCKER</a:t>
            </a:r>
          </a:p>
          <a:p>
            <a:pPr>
              <a:spcBef>
                <a:spcPts val="600"/>
              </a:spcBef>
              <a:defRPr sz="1400" b="1">
                <a:solidFill>
                  <a:srgbClr val="FFFFFF"/>
                </a:solidFill>
                <a:latin typeface="Segoe UI"/>
              </a:defRPr>
            </a:pPr>
            <a:r>
              <a:t>Sẵn sàng Triển khai Thực tế</a:t>
            </a:r>
          </a:p>
          <a:p>
            <a:pPr>
              <a:spcBef>
                <a:spcPts val="500"/>
              </a:spcBef>
              <a:defRPr sz="1300">
                <a:solidFill>
                  <a:srgbClr val="94A3B8"/>
                </a:solidFill>
                <a:latin typeface="Segoe UI"/>
              </a:defRPr>
            </a:pPr>
            <a:r>
              <a:t>• Nginx SSL Gateway &amp; Hỗ trợ đa thiết bị Mobile/Tablet mạng LAN</a:t>
            </a:r>
          </a:p>
        </p:txBody>
      </p:sp>
      <p:sp>
        <p:nvSpPr>
          <p:cNvPr id="9" name="TextBox 8"/>
          <p:cNvSpPr txBox="1"/>
          <p:nvPr/>
        </p:nvSpPr>
        <p:spPr>
          <a:xfrm>
            <a:off x="914400" y="6080760"/>
            <a:ext cx="10332720" cy="457200"/>
          </a:xfrm>
          <a:prstGeom prst="rect">
            <a:avLst/>
          </a:prstGeom>
          <a:noFill/>
        </p:spPr>
        <p:txBody>
          <a:bodyPr wrap="none">
            <a:spAutoFit/>
          </a:bodyPr>
          <a:lstStyle/>
          <a:p>
            <a:pPr>
              <a:defRPr sz="1350">
                <a:solidFill>
                  <a:srgbClr val="94A3B8"/>
                </a:solidFill>
                <a:latin typeface="Segoe UI"/>
              </a:defRPr>
            </a:pPr>
            <a:r>
              <a:t>Đội ngũ Thực hiện: Nguyễn Thành Hưng (Admin) • Hoàng Tiến Đạt (Thủ kho kiêm KT) | Đồ Án Tốt Nghiệp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PROBLEM STATEMENT</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Thực Trạng &amp; 4 Nỗi Đau Lớn Trong Quản Trị Kho Vật Tư</a:t>
            </a:r>
          </a:p>
        </p:txBody>
      </p:sp>
      <p:sp>
        <p:nvSpPr>
          <p:cNvPr id="4" name="Rounded Rectangle 3"/>
          <p:cNvSpPr/>
          <p:nvPr/>
        </p:nvSpPr>
        <p:spPr>
          <a:xfrm>
            <a:off x="731520" y="146304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E11D48"/>
                </a:solidFill>
                <a:latin typeface="Segoe UI"/>
              </a:defRPr>
            </a:pPr>
            <a:r>
              <a:t>⚠️ 1. TỒN KHO ÂM (NEGATIVE STOCK)</a:t>
            </a:r>
          </a:p>
          <a:p>
            <a:pPr algn="l">
              <a:spcBef>
                <a:spcPts val="400"/>
              </a:spcBef>
              <a:defRPr sz="1350" b="1">
                <a:solidFill>
                  <a:srgbClr val="0F172A"/>
                </a:solidFill>
                <a:latin typeface="Segoe UI"/>
              </a:defRPr>
            </a:pPr>
            <a:r>
              <a:t>Lỗi Race Condition &amp; Lost Update Khi Xuất Đồng Thời</a:t>
            </a:r>
          </a:p>
          <a:p>
            <a:pPr algn="l">
              <a:spcBef>
                <a:spcPts val="400"/>
              </a:spcBef>
              <a:defRPr sz="1300">
                <a:solidFill>
                  <a:srgbClr val="334155"/>
                </a:solidFill>
                <a:latin typeface="Segoe UI"/>
              </a:defRPr>
            </a:pPr>
            <a:r>
              <a:t>• Nhiều thủ kho cùng xuất một mặt hàng tại cùng thời điểm</a:t>
            </a:r>
          </a:p>
          <a:p>
            <a:pPr algn="l">
              <a:spcBef>
                <a:spcPts val="400"/>
              </a:spcBef>
              <a:defRPr sz="1300">
                <a:solidFill>
                  <a:srgbClr val="334155"/>
                </a:solidFill>
                <a:latin typeface="Segoe UI"/>
              </a:defRPr>
            </a:pPr>
            <a:r>
              <a:t>• Hệ thống không khóa dòng dẫn đến xuất vượt số lượng có thực</a:t>
            </a:r>
          </a:p>
          <a:p>
            <a:pPr algn="l">
              <a:spcBef>
                <a:spcPts val="400"/>
              </a:spcBef>
              <a:defRPr sz="1300">
                <a:solidFill>
                  <a:srgbClr val="334155"/>
                </a:solidFill>
                <a:latin typeface="Segoe UI"/>
              </a:defRPr>
            </a:pPr>
            <a:r>
              <a:t>• Sai lệch sổ sách nghiêm trọng giữa thủ kho và kế toán công ty</a:t>
            </a:r>
          </a:p>
        </p:txBody>
      </p:sp>
      <p:sp>
        <p:nvSpPr>
          <p:cNvPr id="5" name="Rectangle 4"/>
          <p:cNvSpPr/>
          <p:nvPr/>
        </p:nvSpPr>
        <p:spPr>
          <a:xfrm>
            <a:off x="731520" y="1463040"/>
            <a:ext cx="521208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146304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1E3A8A"/>
                </a:solidFill>
                <a:latin typeface="Segoe UI"/>
              </a:defRPr>
            </a:pPr>
            <a:r>
              <a:t>⛓️ 2. ĐỨT GÃY CHUỖI CUNG ỨNG</a:t>
            </a:r>
          </a:p>
          <a:p>
            <a:pPr algn="l">
              <a:spcBef>
                <a:spcPts val="400"/>
              </a:spcBef>
              <a:defRPr sz="1350" b="1">
                <a:solidFill>
                  <a:srgbClr val="0F172A"/>
                </a:solidFill>
                <a:latin typeface="Segoe UI"/>
              </a:defRPr>
            </a:pPr>
            <a:r>
              <a:t>Cạn Kiệt Vật Tư Do Thiếu Dự Báo Tốc Độ Tiêu Thụ</a:t>
            </a:r>
          </a:p>
          <a:p>
            <a:pPr algn="l">
              <a:spcBef>
                <a:spcPts val="400"/>
              </a:spcBef>
              <a:defRPr sz="1300">
                <a:solidFill>
                  <a:srgbClr val="334155"/>
                </a:solidFill>
                <a:latin typeface="Segoe UI"/>
              </a:defRPr>
            </a:pPr>
            <a:r>
              <a:t>• Không theo dõi tốc độ tiêu thụ hàng ngày (Burn-rate tiêu chuẩn)</a:t>
            </a:r>
          </a:p>
          <a:p>
            <a:pPr algn="l">
              <a:spcBef>
                <a:spcPts val="400"/>
              </a:spcBef>
              <a:defRPr sz="1300">
                <a:solidFill>
                  <a:srgbClr val="334155"/>
                </a:solidFill>
                <a:latin typeface="Segoe UI"/>
              </a:defRPr>
            </a:pPr>
            <a:r>
              <a:t>• Hàng chạm ngưỡng cạn kiệt mới phát hiện để đặt nhà cung cấp</a:t>
            </a:r>
          </a:p>
          <a:p>
            <a:pPr algn="l">
              <a:spcBef>
                <a:spcPts val="400"/>
              </a:spcBef>
              <a:defRPr sz="1300">
                <a:solidFill>
                  <a:srgbClr val="334155"/>
                </a:solidFill>
                <a:latin typeface="Segoe UI"/>
              </a:defRPr>
            </a:pPr>
            <a:r>
              <a:t>• Gây chậm tiến độ thi công toàn bộ dây chuyền công trình xây dựng</a:t>
            </a:r>
          </a:p>
        </p:txBody>
      </p:sp>
      <p:sp>
        <p:nvSpPr>
          <p:cNvPr id="7" name="Rectangle 6"/>
          <p:cNvSpPr/>
          <p:nvPr/>
        </p:nvSpPr>
        <p:spPr>
          <a:xfrm>
            <a:off x="6245352" y="1463040"/>
            <a:ext cx="52120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406908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1E3A8A"/>
                </a:solidFill>
                <a:latin typeface="Segoe UI"/>
              </a:defRPr>
            </a:pPr>
            <a:r>
              <a:t>📦 3. ĐỌNG VỐN (DEAD STOCK)</a:t>
            </a:r>
          </a:p>
          <a:p>
            <a:pPr algn="l">
              <a:spcBef>
                <a:spcPts val="400"/>
              </a:spcBef>
              <a:defRPr sz="1350" b="1">
                <a:solidFill>
                  <a:srgbClr val="0F172A"/>
                </a:solidFill>
                <a:latin typeface="Segoe UI"/>
              </a:defRPr>
            </a:pPr>
            <a:r>
              <a:t>Lãng Phí Hàng Chục Tỷ Đồng Lưu Kho Không Luân Chuyển</a:t>
            </a:r>
          </a:p>
          <a:p>
            <a:pPr algn="l">
              <a:spcBef>
                <a:spcPts val="400"/>
              </a:spcBef>
              <a:defRPr sz="1300">
                <a:solidFill>
                  <a:srgbClr val="334155"/>
                </a:solidFill>
                <a:latin typeface="Segoe UI"/>
              </a:defRPr>
            </a:pPr>
            <a:r>
              <a:t>• Nhiều SKU vật tư giá trị cao nằm kho &gt; 60 ngày không ai hay biết</a:t>
            </a:r>
          </a:p>
          <a:p>
            <a:pPr algn="l">
              <a:spcBef>
                <a:spcPts val="400"/>
              </a:spcBef>
              <a:defRPr sz="1300">
                <a:solidFill>
                  <a:srgbClr val="334155"/>
                </a:solidFill>
                <a:latin typeface="Segoe UI"/>
              </a:defRPr>
            </a:pPr>
            <a:r>
              <a:t>• Chiếm dụng diện tích mặt bằng và phát sinh chi phí lưu bãi lớn</a:t>
            </a:r>
          </a:p>
          <a:p>
            <a:pPr algn="l">
              <a:spcBef>
                <a:spcPts val="400"/>
              </a:spcBef>
              <a:defRPr sz="1300">
                <a:solidFill>
                  <a:srgbClr val="334155"/>
                </a:solidFill>
                <a:latin typeface="Segoe UI"/>
              </a:defRPr>
            </a:pPr>
            <a:r>
              <a:t>• Ban giám đốc thiếu công cụ tự động cảnh báo để giải phóng hàng</a:t>
            </a:r>
          </a:p>
        </p:txBody>
      </p:sp>
      <p:sp>
        <p:nvSpPr>
          <p:cNvPr id="9" name="Rectangle 8"/>
          <p:cNvSpPr/>
          <p:nvPr/>
        </p:nvSpPr>
        <p:spPr>
          <a:xfrm>
            <a:off x="731520" y="4069080"/>
            <a:ext cx="52120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5352" y="406908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E11D48"/>
                </a:solidFill>
                <a:latin typeface="Segoe UI"/>
              </a:defRPr>
            </a:pPr>
            <a:r>
              <a:t>🔒 4. RỦI RO LỘ BÍ MẬT GIÁ VỐN</a:t>
            </a:r>
          </a:p>
          <a:p>
            <a:pPr algn="l">
              <a:spcBef>
                <a:spcPts val="400"/>
              </a:spcBef>
              <a:defRPr sz="1350" b="1">
                <a:solidFill>
                  <a:srgbClr val="0F172A"/>
                </a:solidFill>
                <a:latin typeface="Segoe UI"/>
              </a:defRPr>
            </a:pPr>
            <a:r>
              <a:t>Rò Rỉ Dữ Liệu Tài Chính Khi Đưa Thẳng Lên Cloud AI</a:t>
            </a:r>
          </a:p>
          <a:p>
            <a:pPr algn="l">
              <a:spcBef>
                <a:spcPts val="400"/>
              </a:spcBef>
              <a:defRPr sz="1300">
                <a:solidFill>
                  <a:srgbClr val="334155"/>
                </a:solidFill>
                <a:latin typeface="Segoe UI"/>
              </a:defRPr>
            </a:pPr>
            <a:r>
              <a:t>• Đưa trực tiếp đơn giá nhập và thành tiền lên các LLM công cộng</a:t>
            </a:r>
          </a:p>
          <a:p>
            <a:pPr algn="l">
              <a:spcBef>
                <a:spcPts val="400"/>
              </a:spcBef>
              <a:defRPr sz="1300">
                <a:solidFill>
                  <a:srgbClr val="334155"/>
                </a:solidFill>
                <a:latin typeface="Segoe UI"/>
              </a:defRPr>
            </a:pPr>
            <a:r>
              <a:t>• Nguy cơ lộ mức chiết khấu và chính sách giá mua nhà cung cấp</a:t>
            </a:r>
          </a:p>
          <a:p>
            <a:pPr algn="l">
              <a:spcBef>
                <a:spcPts val="400"/>
              </a:spcBef>
              <a:defRPr sz="1300">
                <a:solidFill>
                  <a:srgbClr val="334155"/>
                </a:solidFill>
                <a:latin typeface="Segoe UI"/>
              </a:defRPr>
            </a:pPr>
            <a:r>
              <a:t>• Mối đe dọa an toàn thông tin và uy tín cạnh tranh của doanh nghiệp</a:t>
            </a:r>
          </a:p>
        </p:txBody>
      </p:sp>
      <p:sp>
        <p:nvSpPr>
          <p:cNvPr id="11" name="Rectangle 10"/>
          <p:cNvSpPr/>
          <p:nvPr/>
        </p:nvSpPr>
        <p:spPr>
          <a:xfrm>
            <a:off x="6245352" y="4069080"/>
            <a:ext cx="521208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OBJECTIVES &amp; VALUE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Mục Tiêu Chiến Lược: 100% Zero Tồn Âm &amp; AI Cố Vấn Tự Động</a:t>
            </a:r>
          </a:p>
        </p:txBody>
      </p:sp>
      <p:sp>
        <p:nvSpPr>
          <p:cNvPr id="4" name="Rounded Rectangle 3"/>
          <p:cNvSpPr/>
          <p:nvPr/>
        </p:nvSpPr>
        <p:spPr>
          <a:xfrm>
            <a:off x="731520" y="1463040"/>
            <a:ext cx="3364992"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Bảo Vệ Đồng Thời 2 Lớp</a:t>
            </a:r>
          </a:p>
          <a:p>
            <a:pPr algn="l">
              <a:spcBef>
                <a:spcPts val="700"/>
              </a:spcBef>
              <a:defRPr sz="1300">
                <a:solidFill>
                  <a:srgbClr val="0F172A"/>
                </a:solidFill>
                <a:latin typeface="Segoe UI"/>
              </a:defRPr>
            </a:pPr>
            <a:r>
              <a:t>• Atomic SQL Decrement loại bỏ 100% Race Condition</a:t>
            </a:r>
          </a:p>
          <a:p>
            <a:pPr algn="l">
              <a:spcBef>
                <a:spcPts val="700"/>
              </a:spcBef>
              <a:defRPr sz="1300">
                <a:solidFill>
                  <a:srgbClr val="0F172A"/>
                </a:solidFill>
                <a:latin typeface="Segoe UI"/>
              </a:defRPr>
            </a:pPr>
            <a:r>
              <a:t>• Hardware CheckConstraint (Ton &gt;= 0) cấp CSDL</a:t>
            </a:r>
          </a:p>
          <a:p>
            <a:pPr algn="l">
              <a:spcBef>
                <a:spcPts val="700"/>
              </a:spcBef>
              <a:defRPr sz="1300">
                <a:solidFill>
                  <a:srgbClr val="0F172A"/>
                </a:solidFill>
                <a:latin typeface="Segoe UI"/>
              </a:defRPr>
            </a:pPr>
            <a:r>
              <a:t>• Tự động Rollback toàn bộ chứng từ nếu hàng thiếu</a:t>
            </a:r>
          </a:p>
          <a:p>
            <a:pPr algn="l">
              <a:spcBef>
                <a:spcPts val="700"/>
              </a:spcBef>
              <a:defRPr sz="1300">
                <a:solidFill>
                  <a:srgbClr val="0F172A"/>
                </a:solidFill>
                <a:latin typeface="Segoe UI"/>
              </a:defRPr>
            </a:pPr>
            <a:r>
              <a:t>• Cam kết an toàn số liệu kho tuyệt đối 24/7</a:t>
            </a:r>
          </a:p>
        </p:txBody>
      </p:sp>
      <p:sp>
        <p:nvSpPr>
          <p:cNvPr id="5" name="Rounded Rectangle 4"/>
          <p:cNvSpPr/>
          <p:nvPr/>
        </p:nvSpPr>
        <p:spPr>
          <a:xfrm>
            <a:off x="731520" y="1463040"/>
            <a:ext cx="3364992" cy="80467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100% ZERO TỒN ÂM</a:t>
            </a:r>
          </a:p>
        </p:txBody>
      </p:sp>
      <p:sp>
        <p:nvSpPr>
          <p:cNvPr id="6" name="Rounded Rectangle 5"/>
          <p:cNvSpPr/>
          <p:nvPr/>
        </p:nvSpPr>
        <p:spPr>
          <a:xfrm>
            <a:off x="4416552" y="1463040"/>
            <a:ext cx="3364992"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Google Gemini Cố Vấn 24/7</a:t>
            </a:r>
          </a:p>
          <a:p>
            <a:pPr algn="l">
              <a:spcBef>
                <a:spcPts val="700"/>
              </a:spcBef>
              <a:defRPr sz="1300">
                <a:solidFill>
                  <a:srgbClr val="0F172A"/>
                </a:solidFill>
                <a:latin typeface="Segoe UI"/>
              </a:defRPr>
            </a:pPr>
            <a:r>
              <a:t>• Tự động tính toán Burn-rate tiêu thụ thực tế 30 ngày</a:t>
            </a:r>
          </a:p>
          <a:p>
            <a:pPr algn="l">
              <a:spcBef>
                <a:spcPts val="700"/>
              </a:spcBef>
              <a:defRPr sz="1300">
                <a:solidFill>
                  <a:srgbClr val="0F172A"/>
                </a:solidFill>
                <a:latin typeface="Segoe UI"/>
              </a:defRPr>
            </a:pPr>
            <a:r>
              <a:t>• Cảnh báo &amp; gợi ý khối lượng nhập hàng khẩn cấp</a:t>
            </a:r>
          </a:p>
          <a:p>
            <a:pPr algn="l">
              <a:spcBef>
                <a:spcPts val="700"/>
              </a:spcBef>
              <a:defRPr sz="1300">
                <a:solidFill>
                  <a:srgbClr val="0F172A"/>
                </a:solidFill>
                <a:latin typeface="Segoe UI"/>
              </a:defRPr>
            </a:pPr>
            <a:r>
              <a:t>• Tự động chỉ điểm các SKU tồn đọng Dead Stock &gt; 60 ngày</a:t>
            </a:r>
          </a:p>
          <a:p>
            <a:pPr algn="l">
              <a:spcBef>
                <a:spcPts val="700"/>
              </a:spcBef>
              <a:defRPr sz="1300">
                <a:solidFill>
                  <a:srgbClr val="0F172A"/>
                </a:solidFill>
                <a:latin typeface="Segoe UI"/>
              </a:defRPr>
            </a:pPr>
            <a:r>
              <a:t>• Báo cáo điều hành chuẩn hóa 3 phần súc tích</a:t>
            </a:r>
          </a:p>
        </p:txBody>
      </p:sp>
      <p:sp>
        <p:nvSpPr>
          <p:cNvPr id="7" name="Rounded Rectangle 6"/>
          <p:cNvSpPr/>
          <p:nvPr/>
        </p:nvSpPr>
        <p:spPr>
          <a:xfrm>
            <a:off x="4416552" y="1463040"/>
            <a:ext cx="3364992" cy="80467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TRỢ LÝ AI ĐIỀU HÀNH</a:t>
            </a:r>
          </a:p>
        </p:txBody>
      </p:sp>
      <p:sp>
        <p:nvSpPr>
          <p:cNvPr id="8" name="Rounded Rectangle 7"/>
          <p:cNvSpPr/>
          <p:nvPr/>
        </p:nvSpPr>
        <p:spPr>
          <a:xfrm>
            <a:off x="8101584" y="1463040"/>
            <a:ext cx="3364992"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Khử Nhạy Cảm Dữ Liệu 100%</a:t>
            </a:r>
          </a:p>
          <a:p>
            <a:pPr algn="l">
              <a:spcBef>
                <a:spcPts val="700"/>
              </a:spcBef>
              <a:defRPr sz="1300">
                <a:solidFill>
                  <a:srgbClr val="0F172A"/>
                </a:solidFill>
                <a:latin typeface="Segoe UI"/>
              </a:defRPr>
            </a:pPr>
            <a:r>
              <a:t>• Module Data Sanitizer độc quyền khử sạch đơn giá nhập</a:t>
            </a:r>
          </a:p>
          <a:p>
            <a:pPr algn="l">
              <a:spcBef>
                <a:spcPts val="700"/>
              </a:spcBef>
              <a:defRPr sz="1300">
                <a:solidFill>
                  <a:srgbClr val="0F172A"/>
                </a:solidFill>
                <a:latin typeface="Segoe UI"/>
              </a:defRPr>
            </a:pPr>
            <a:r>
              <a:t>• Chỉ gửi context số lượng và phân loại hàng hóa cho LLM</a:t>
            </a:r>
          </a:p>
          <a:p>
            <a:pPr algn="l">
              <a:spcBef>
                <a:spcPts val="700"/>
              </a:spcBef>
              <a:defRPr sz="1300">
                <a:solidFill>
                  <a:srgbClr val="0F172A"/>
                </a:solidFill>
                <a:latin typeface="Segoe UI"/>
              </a:defRPr>
            </a:pPr>
            <a:r>
              <a:t>• Local Grounded Fallback Engine khi mất mạng/lỗi 429</a:t>
            </a:r>
          </a:p>
          <a:p>
            <a:pPr algn="l">
              <a:spcBef>
                <a:spcPts val="700"/>
              </a:spcBef>
              <a:defRPr sz="1300">
                <a:solidFill>
                  <a:srgbClr val="0F172A"/>
                </a:solidFill>
                <a:latin typeface="Segoe UI"/>
              </a:defRPr>
            </a:pPr>
            <a:r>
              <a:t>• Thanh tra minh bạch qua API /raw-context bất kỳ lúc nào</a:t>
            </a:r>
          </a:p>
        </p:txBody>
      </p:sp>
      <p:sp>
        <p:nvSpPr>
          <p:cNvPr id="9" name="Rounded Rectangle 8"/>
          <p:cNvSpPr/>
          <p:nvPr/>
        </p:nvSpPr>
        <p:spPr>
          <a:xfrm>
            <a:off x="8101584" y="1463040"/>
            <a:ext cx="3364992" cy="80467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ZERO FINANCIAL LEAK</a:t>
            </a:r>
          </a:p>
        </p:txBody>
      </p:sp>
      <p:sp>
        <p:nvSpPr>
          <p:cNvPr id="10" name="Rounded Rectangle 9"/>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6B6D4"/>
                </a:solidFill>
                <a:latin typeface="Segoe UI"/>
              </a:defRPr>
            </a:pPr>
            <a:r>
              <a:t>🎯 CAM KẾT ĐẦU RA: Vận hành mượt mà, phân quyền RBAC 3 vai trò, đóng gói Docker 1-click hoàn chỉnh.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SYSTEM ARCHITECTURE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Kiến Trúc Phân Tầng Hệ Thống (Modular Clean Architecture)</a:t>
            </a:r>
          </a:p>
        </p:txBody>
      </p:sp>
      <p:sp>
        <p:nvSpPr>
          <p:cNvPr id="4" name="Rounded Rectangle 3"/>
          <p:cNvSpPr/>
          <p:nvPr/>
        </p:nvSpPr>
        <p:spPr>
          <a:xfrm>
            <a:off x="731520" y="138988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2563EB"/>
                </a:solidFill>
                <a:latin typeface="Segoe UI"/>
              </a:defRPr>
            </a:pPr>
            <a:r>
              <a:t>1. PRESENTATION LAYER (TẦNG GIAO DIỆN NGƯỜI DÙNG)</a:t>
            </a:r>
          </a:p>
          <a:p>
            <a:pPr algn="l">
              <a:spcBef>
                <a:spcPts val="300"/>
              </a:spcBef>
              <a:defRPr sz="1350" b="1">
                <a:solidFill>
                  <a:srgbClr val="2563EB"/>
                </a:solidFill>
                <a:latin typeface="Segoe UI"/>
              </a:defRPr>
            </a:pPr>
            <a:r>
              <a:t>Công nghệ cốt lõi: Jinja2 Server-Side Rendering • Tailwind CSS • Chart.js • WebSocket Stream</a:t>
            </a:r>
          </a:p>
          <a:p>
            <a:pPr algn="l">
              <a:spcBef>
                <a:spcPts val="300"/>
              </a:spcBef>
              <a:defRPr sz="1250">
                <a:solidFill>
                  <a:srgbClr val="0F172A"/>
                </a:solidFill>
                <a:latin typeface="Segoe UI"/>
              </a:defRPr>
            </a:pPr>
            <a:r>
              <a:t>Nhiệm vụ nghiệp vụ: Giao diện điều hành thời gian thực, hiển thị trực quan 4 thẻ KPIs kho vận, widget AI tương tác trực tiếp và tương thích 100% responsive đa thiết bị (PC, tablet, mobile).</a:t>
            </a:r>
          </a:p>
        </p:txBody>
      </p:sp>
      <p:sp>
        <p:nvSpPr>
          <p:cNvPr id="5" name="Rectangle 4"/>
          <p:cNvSpPr/>
          <p:nvPr/>
        </p:nvSpPr>
        <p:spPr>
          <a:xfrm>
            <a:off x="731520" y="1389888"/>
            <a:ext cx="164592" cy="11338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67004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1E3A8A"/>
                </a:solidFill>
                <a:latin typeface="Segoe UI"/>
              </a:defRPr>
            </a:pPr>
            <a:r>
              <a:t>2. SECURITY &amp; RBAC LAYER (TẦNG BẢO MẬT &amp; PHÂN QUYỀN)</a:t>
            </a:r>
          </a:p>
          <a:p>
            <a:pPr algn="l">
              <a:spcBef>
                <a:spcPts val="300"/>
              </a:spcBef>
              <a:defRPr sz="1350" b="1">
                <a:solidFill>
                  <a:srgbClr val="2563EB"/>
                </a:solidFill>
                <a:latin typeface="Segoe UI"/>
              </a:defRPr>
            </a:pPr>
            <a:r>
              <a:t>Công nghệ cốt lõi: FastAPI OAuth2 • JSON Web Token (JWT) • HTTP-Only Cookie • Bcrypt Password Hashing</a:t>
            </a:r>
          </a:p>
          <a:p>
            <a:pPr algn="l">
              <a:spcBef>
                <a:spcPts val="300"/>
              </a:spcBef>
              <a:defRPr sz="1250">
                <a:solidFill>
                  <a:srgbClr val="0F172A"/>
                </a:solidFill>
                <a:latin typeface="Segoe UI"/>
              </a:defRPr>
            </a:pPr>
            <a:r>
              <a:t>Nhiệm vụ nghiệp vụ: Xác thực phiên an toàn chống XSS/CSRF, phân quyền RBAC nghiêm ngặt 3 vai trò: Admin (Toàn quyền), Thủ kho kiêm Kế toán (Vận hành kho &amp; Báo cáo Excel) và Nhân viên kho (Tra cứu chỉ đọc).</a:t>
            </a:r>
          </a:p>
        </p:txBody>
      </p:sp>
      <p:sp>
        <p:nvSpPr>
          <p:cNvPr id="7" name="Rectangle 6"/>
          <p:cNvSpPr/>
          <p:nvPr/>
        </p:nvSpPr>
        <p:spPr>
          <a:xfrm>
            <a:off x="731520" y="2670048"/>
            <a:ext cx="164592" cy="113385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95020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0F2341"/>
                </a:solidFill>
                <a:latin typeface="Segoe UI"/>
              </a:defRPr>
            </a:pPr>
            <a:r>
              <a:t>3. BUSINESS &amp; AI ENGINE LAYER (TẦNG NGHIỆP VỤ &amp; TRÍ TUỆ NHÂN TẠO)</a:t>
            </a:r>
          </a:p>
          <a:p>
            <a:pPr algn="l">
              <a:spcBef>
                <a:spcPts val="300"/>
              </a:spcBef>
              <a:defRPr sz="1350" b="1">
                <a:solidFill>
                  <a:srgbClr val="2563EB"/>
                </a:solidFill>
                <a:latin typeface="Segoe UI"/>
              </a:defRPr>
            </a:pPr>
            <a:r>
              <a:t>Công nghệ cốt lõi: Python 3.12 • Uvicorn ASGI • Google Gemini API Client • Local Grounded Fallback Engine</a:t>
            </a:r>
          </a:p>
          <a:p>
            <a:pPr algn="l">
              <a:spcBef>
                <a:spcPts val="300"/>
              </a:spcBef>
              <a:defRPr sz="1250">
                <a:solidFill>
                  <a:srgbClr val="0F172A"/>
                </a:solidFill>
                <a:latin typeface="Segoe UI"/>
              </a:defRPr>
            </a:pPr>
            <a:r>
              <a:t>Nhiệm vụ nghiệp vụ: Điều phối chu trình giao dịch kho Master-Detail, tính toán tốc độ Burn-rate 30 ngày, module Data Sanitizer khử 100% giá vốn nhạy cảm và cơ chế tự phục hồi 24/7.</a:t>
            </a:r>
          </a:p>
        </p:txBody>
      </p:sp>
      <p:sp>
        <p:nvSpPr>
          <p:cNvPr id="9" name="Rectangle 8"/>
          <p:cNvSpPr/>
          <p:nvPr/>
        </p:nvSpPr>
        <p:spPr>
          <a:xfrm>
            <a:off x="731520" y="3950208"/>
            <a:ext cx="164592" cy="1133856"/>
          </a:xfrm>
          <a:prstGeom prst="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523036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0A192F"/>
                </a:solidFill>
                <a:latin typeface="Segoe UI"/>
              </a:defRPr>
            </a:pPr>
            <a:r>
              <a:t>4. DATABASE &amp; STORAGE LAYER (TẦNG DỮ LIỆU &amp; BẢO TOÀN ACID)</a:t>
            </a:r>
          </a:p>
          <a:p>
            <a:pPr algn="l">
              <a:spcBef>
                <a:spcPts val="300"/>
              </a:spcBef>
              <a:defRPr sz="1350" b="1">
                <a:solidFill>
                  <a:srgbClr val="2563EB"/>
                </a:solidFill>
                <a:latin typeface="Segoe UI"/>
              </a:defRPr>
            </a:pPr>
            <a:r>
              <a:t>Công nghệ cốt lõi: SQLite WAL Mode / MySQL 8.0 InnoDB • SQLAlchemy 2.0 ORM • 8 B-Tree Indexes Chiến Lược</a:t>
            </a:r>
          </a:p>
          <a:p>
            <a:pPr algn="l">
              <a:spcBef>
                <a:spcPts val="300"/>
              </a:spcBef>
              <a:defRPr sz="1250">
                <a:solidFill>
                  <a:srgbClr val="0F172A"/>
                </a:solidFill>
                <a:latin typeface="Segoe UI"/>
              </a:defRPr>
            </a:pPr>
            <a:r>
              <a:t>Nhiệm vụ nghiệp vụ: Kiểm soát toàn vẹn giao dịch chống tồn âm kép (Atomic SQL Decrement + CheckConstraints/Triggers), ghi sổ Thẻ kho tự động và tối ưu hóa truy vấn báo cáo dưới 5ms.</a:t>
            </a:r>
          </a:p>
        </p:txBody>
      </p:sp>
      <p:sp>
        <p:nvSpPr>
          <p:cNvPr id="11" name="Rectangle 10"/>
          <p:cNvSpPr/>
          <p:nvPr/>
        </p:nvSpPr>
        <p:spPr>
          <a:xfrm>
            <a:off x="731520" y="5230368"/>
            <a:ext cx="164592" cy="1133856"/>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DATABASE DESIGN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Mô Hình CSDL Chuẩn Hóa 3NF &amp; Tối Ưu Hóa B-Tree Indexes</a:t>
            </a:r>
          </a:p>
        </p:txBody>
      </p:sp>
      <p:sp>
        <p:nvSpPr>
          <p:cNvPr id="4" name="Rounded Rectangle 3"/>
          <p:cNvSpPr/>
          <p:nvPr/>
        </p:nvSpPr>
        <p:spPr>
          <a:xfrm>
            <a:off x="731520" y="1463040"/>
            <a:ext cx="5212080"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1E3A8A"/>
                </a:solidFill>
                <a:latin typeface="Segoe UI"/>
              </a:defRPr>
            </a:pPr>
            <a:r>
              <a:t>📊 10 THỰC THỂ QUAN HỆ CHUẨN HÓA 3NF</a:t>
            </a:r>
          </a:p>
          <a:p>
            <a:pPr algn="l">
              <a:spcBef>
                <a:spcPts val="700"/>
              </a:spcBef>
              <a:defRPr sz="1300">
                <a:solidFill>
                  <a:srgbClr val="0F172A"/>
                </a:solidFill>
                <a:latin typeface="Segoe UI"/>
              </a:defRPr>
            </a:pPr>
            <a:r>
              <a:t>• nguoi_dung: Quản trị người dùng, phân quyền RBAC 3 vai trò (Admin, Thủ kho kiêm KT, Nhân viên kho).</a:t>
            </a:r>
          </a:p>
          <a:p>
            <a:pPr algn="l">
              <a:spcBef>
                <a:spcPts val="700"/>
              </a:spcBef>
              <a:defRPr sz="1300">
                <a:solidFill>
                  <a:srgbClr val="0F172A"/>
                </a:solidFill>
                <a:latin typeface="Segoe UI"/>
              </a:defRPr>
            </a:pPr>
            <a:r>
              <a:t>• hang_hoa &amp; ton_kho: Quan hệ 1-1 chặt chẽ, kiểm soát số dư khả dụng và ngưỡng tồn tối thiểu.</a:t>
            </a:r>
          </a:p>
          <a:p>
            <a:pPr algn="l">
              <a:spcBef>
                <a:spcPts val="700"/>
              </a:spcBef>
              <a:defRPr sz="1300">
                <a:solidFill>
                  <a:srgbClr val="0F172A"/>
                </a:solidFill>
                <a:latin typeface="Segoe UI"/>
              </a:defRPr>
            </a:pPr>
            <a:r>
              <a:t>• phieu_nhap &amp; chi_tiet: Chứng từ nhập kho Master-Detail, lưu trữ nhà cung cấp và ngày nhập hàng.</a:t>
            </a:r>
          </a:p>
          <a:p>
            <a:pPr algn="l">
              <a:spcBef>
                <a:spcPts val="700"/>
              </a:spcBef>
              <a:defRPr sz="1300">
                <a:solidFill>
                  <a:srgbClr val="0F172A"/>
                </a:solidFill>
                <a:latin typeface="Segoe UI"/>
              </a:defRPr>
            </a:pPr>
            <a:r>
              <a:t>• phieu_xuat &amp; chi_tiet: Chứng từ xuất kho Master-Detail, áp dụng Atomic SQL Decrement chống tồn âm.</a:t>
            </a:r>
          </a:p>
          <a:p>
            <a:pPr algn="l">
              <a:spcBef>
                <a:spcPts val="700"/>
              </a:spcBef>
              <a:defRPr sz="1300">
                <a:solidFill>
                  <a:srgbClr val="0F172A"/>
                </a:solidFill>
                <a:latin typeface="Segoe UI"/>
              </a:defRPr>
            </a:pPr>
            <a:r>
              <a:t>• the_kho: Sổ cái tự động ghi vết biến động xuất/nhập và tính toán số dư lũy kế tức thời.</a:t>
            </a:r>
          </a:p>
          <a:p>
            <a:pPr algn="l">
              <a:spcBef>
                <a:spcPts val="700"/>
              </a:spcBef>
              <a:defRPr sz="1300">
                <a:solidFill>
                  <a:srgbClr val="0F172A"/>
                </a:solidFill>
                <a:latin typeface="Segoe UI"/>
              </a:defRPr>
            </a:pPr>
            <a:r>
              <a:t>• Danh mục định chuẩn: nhom_hang, don_vi_tinh, nha_cung_cap loại bỏ 100% dữ liệu trùng lặp.</a:t>
            </a:r>
          </a:p>
        </p:txBody>
      </p:sp>
      <p:sp>
        <p:nvSpPr>
          <p:cNvPr id="5" name="Rounded Rectangle 4"/>
          <p:cNvSpPr/>
          <p:nvPr/>
        </p:nvSpPr>
        <p:spPr>
          <a:xfrm>
            <a:off x="6245352" y="1463040"/>
            <a:ext cx="5212080"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2563EB"/>
                </a:solidFill>
                <a:latin typeface="Segoe UI"/>
              </a:defRPr>
            </a:pPr>
            <a:r>
              <a:t>⚡ TỐI ƯU HÓA HIỆU NĂNG &amp; RÀNG BUỘC TOÀN VẸN</a:t>
            </a:r>
          </a:p>
          <a:p>
            <a:pPr algn="l">
              <a:spcBef>
                <a:spcPts val="700"/>
              </a:spcBef>
              <a:defRPr sz="1300">
                <a:solidFill>
                  <a:srgbClr val="0F172A"/>
                </a:solidFill>
                <a:latin typeface="Segoe UI"/>
              </a:defRPr>
            </a:pPr>
            <a:r>
              <a:t>• Tương thích đa cơ sở dữ liệu: Vận hành hoàn hảo trên cả SQLite WAL và MySQL 8.0 InnoDB.</a:t>
            </a:r>
          </a:p>
          <a:p>
            <a:pPr algn="l">
              <a:spcBef>
                <a:spcPts val="700"/>
              </a:spcBef>
              <a:defRPr sz="1300">
                <a:solidFill>
                  <a:srgbClr val="0F172A"/>
                </a:solidFill>
                <a:latin typeface="Segoe UI"/>
              </a:defRPr>
            </a:pPr>
            <a:r>
              <a:t>• Kiểm soát khóa ngoại chặt chẽ: Ràng buộc Foreign Key cấp engine ngăn chặn triệt để bản ghi mồ côi.</a:t>
            </a:r>
          </a:p>
          <a:p>
            <a:pPr algn="l">
              <a:spcBef>
                <a:spcPts val="700"/>
              </a:spcBef>
              <a:defRPr sz="1300">
                <a:solidFill>
                  <a:srgbClr val="0F172A"/>
                </a:solidFill>
                <a:latin typeface="Segoe UI"/>
              </a:defRPr>
            </a:pPr>
            <a:r>
              <a:t>• Hàng đợi Connection Pooling: Chờ giải phóng khóa, triệt tiêu lỗi tranh chấp Database Lock.</a:t>
            </a:r>
          </a:p>
          <a:p>
            <a:pPr algn="l">
              <a:spcBef>
                <a:spcPts val="700"/>
              </a:spcBef>
              <a:defRPr sz="1300">
                <a:solidFill>
                  <a:srgbClr val="0F172A"/>
                </a:solidFill>
                <a:latin typeface="Segoe UI"/>
              </a:defRPr>
            </a:pPr>
            <a:r>
              <a:t>• 8 B-Tree Indexes chiến lược: Đánh trên NgayNhap, MaNCC, NgayXuat, MaPN, MaPX, MaHH, MaChungTu.</a:t>
            </a:r>
          </a:p>
          <a:p>
            <a:pPr algn="l">
              <a:spcBef>
                <a:spcPts val="700"/>
              </a:spcBef>
              <a:defRPr sz="1300">
                <a:solidFill>
                  <a:srgbClr val="0F172A"/>
                </a:solidFill>
                <a:latin typeface="Segoe UI"/>
              </a:defRPr>
            </a:pPr>
            <a:r>
              <a:t>• Tốc độ truy vấn siêu tốc: Báo cáo vận hành 30 ngày &amp; tra cứu Thẻ kho phản hồi tức thời &lt; 5ms.</a:t>
            </a:r>
          </a:p>
          <a:p>
            <a:pPr algn="l">
              <a:spcBef>
                <a:spcPts val="700"/>
              </a:spcBef>
              <a:defRPr sz="1300">
                <a:solidFill>
                  <a:srgbClr val="0F172A"/>
                </a:solidFill>
                <a:latin typeface="Segoe UI"/>
              </a:defRPr>
            </a:pPr>
            <a:r>
              <a:t>• Ràng buộc CheckConstraint: CHECK (SoLuongTon &gt;= 0) trên SQLite &amp; MySQL ngăn chặn 100% can thiệp số âm.</a:t>
            </a:r>
          </a:p>
        </p:txBody>
      </p:sp>
      <p:sp>
        <p:nvSpPr>
          <p:cNvPr id="6" name="Rounded Rectangle 5"/>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BẢO TOÀN CSDL: Tương thích cả SQLite &amp; MySQL 8.0 InnoDB với Check Constraints &amp; Triggers ngăn chặn 100% mọi giao dịch số âm!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CORE FEATURE: CONCURRENCY</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Giải Pháp Kỹ Thuật 1: Atomic SQL Decrement Triệt Tiêu Race Condition</a:t>
            </a:r>
          </a:p>
        </p:txBody>
      </p:sp>
      <p:sp>
        <p:nvSpPr>
          <p:cNvPr id="4" name="Rounded Rectangle 3"/>
          <p:cNvSpPr/>
          <p:nvPr/>
        </p:nvSpPr>
        <p:spPr>
          <a:xfrm>
            <a:off x="731520" y="1463040"/>
            <a:ext cx="5212080" cy="3977639"/>
          </a:xfrm>
          <a:prstGeom prst="roundRect">
            <a:avLst/>
          </a:prstGeom>
          <a:solidFill>
            <a:srgbClr val="F0F7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E11D48"/>
                </a:solidFill>
                <a:latin typeface="Segoe UI"/>
              </a:defRPr>
            </a:pPr>
            <a:r>
              <a:t>❌ CÁCH LÀM CŨ: TRỪ TRONG BỘ NHỚ PYTHON</a:t>
            </a:r>
          </a:p>
          <a:p>
            <a:pPr algn="l">
              <a:spcBef>
                <a:spcPts val="700"/>
              </a:spcBef>
              <a:defRPr sz="1300">
                <a:solidFill>
                  <a:srgbClr val="0F172A"/>
                </a:solidFill>
                <a:latin typeface="Segoe UI"/>
              </a:defRPr>
            </a:pPr>
            <a:r>
              <a:t>1. Đọc số tồn kho vào biến Python: `ton = select()` (Ví dụ số dư là: 10)</a:t>
            </a:r>
          </a:p>
          <a:p>
            <a:pPr algn="l">
              <a:spcBef>
                <a:spcPts val="700"/>
              </a:spcBef>
              <a:defRPr sz="1300">
                <a:solidFill>
                  <a:srgbClr val="0F172A"/>
                </a:solidFill>
                <a:latin typeface="Segoe UI"/>
              </a:defRPr>
            </a:pPr>
            <a:r>
              <a:t>2. Hai luồng đồng thời (Luồng A và Luồng B) cùng đọc số dư ban đầu là 10</a:t>
            </a:r>
          </a:p>
          <a:p>
            <a:pPr algn="l">
              <a:spcBef>
                <a:spcPts val="700"/>
              </a:spcBef>
              <a:defRPr sz="1300">
                <a:solidFill>
                  <a:srgbClr val="0F172A"/>
                </a:solidFill>
                <a:latin typeface="Segoe UI"/>
              </a:defRPr>
            </a:pPr>
            <a:r>
              <a:t>3. Luồng A trừ 8 còn 2; Luồng B đồng thời trừ 8 cũng tính ra còn 2</a:t>
            </a:r>
          </a:p>
          <a:p>
            <a:pPr algn="l">
              <a:spcBef>
                <a:spcPts val="700"/>
              </a:spcBef>
              <a:defRPr sz="1300">
                <a:solidFill>
                  <a:srgbClr val="0F172A"/>
                </a:solidFill>
                <a:latin typeface="Segoe UI"/>
              </a:defRPr>
            </a:pPr>
            <a:r>
              <a:t>4. Cả 2 luồng ghi đè số 2 vào CSDL (Hiện tượng Lost Update kinh điển)</a:t>
            </a:r>
          </a:p>
          <a:p>
            <a:pPr algn="l">
              <a:spcBef>
                <a:spcPts val="700"/>
              </a:spcBef>
              <a:defRPr sz="1300">
                <a:solidFill>
                  <a:srgbClr val="0F172A"/>
                </a:solidFill>
                <a:latin typeface="Segoe UI"/>
              </a:defRPr>
            </a:pPr>
            <a:r>
              <a:t>HẬU QUẢ: Kho xuất mất 16 món dù thực tế chỉ có 10! Tồn kho bị âm ngoài đời thực, gây thất thoát tài sản nghiêm trọng.</a:t>
            </a:r>
          </a:p>
        </p:txBody>
      </p:sp>
      <p:sp>
        <p:nvSpPr>
          <p:cNvPr id="5" name="Rounded Rectangle 4"/>
          <p:cNvSpPr/>
          <p:nvPr/>
        </p:nvSpPr>
        <p:spPr>
          <a:xfrm>
            <a:off x="6245352" y="1463040"/>
            <a:ext cx="5212080" cy="3977639"/>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GIẢI PHÁP SMARTLOGIS AI: ATOMIC SQL DECREMENT</a:t>
            </a:r>
          </a:p>
          <a:p>
            <a:pPr algn="l">
              <a:spcBef>
                <a:spcPts val="700"/>
              </a:spcBef>
              <a:defRPr sz="1300">
                <a:solidFill>
                  <a:srgbClr val="0F172A"/>
                </a:solidFill>
                <a:latin typeface="Segoe UI"/>
              </a:defRPr>
            </a:pPr>
            <a:r>
              <a:t>1. Đẩy câu lệnh trừ nguyên tử có điều kiện trực tiếp xuống SQL Engine</a:t>
            </a:r>
          </a:p>
          <a:p>
            <a:pPr algn="l">
              <a:spcBef>
                <a:spcPts val="700"/>
              </a:spcBef>
              <a:defRPr sz="1300">
                <a:solidFill>
                  <a:srgbClr val="0F172A"/>
                </a:solidFill>
                <a:latin typeface="Segoe UI"/>
              </a:defRPr>
            </a:pPr>
            <a:r>
              <a:t>2. Thêm mệnh đề kiểm soát khóa: `WHERE SoLuongTon &gt;= :qty`</a:t>
            </a:r>
          </a:p>
          <a:p>
            <a:pPr algn="l">
              <a:spcBef>
                <a:spcPts val="700"/>
              </a:spcBef>
              <a:defRPr sz="1300">
                <a:solidFill>
                  <a:srgbClr val="0F172A"/>
                </a:solidFill>
                <a:latin typeface="Segoe UI"/>
              </a:defRPr>
            </a:pPr>
            <a:r>
              <a:t>3. SQL Engine kiểm tra và trừ tồn trong đúng một thao tác nguyên tử duy nhất</a:t>
            </a:r>
          </a:p>
          <a:p>
            <a:pPr algn="l">
              <a:spcBef>
                <a:spcPts val="700"/>
              </a:spcBef>
              <a:defRPr sz="1300">
                <a:solidFill>
                  <a:srgbClr val="0F172A"/>
                </a:solidFill>
                <a:latin typeface="Segoe UI"/>
              </a:defRPr>
            </a:pPr>
            <a:r>
              <a:t>4. Nếu số dư không đủ: `rowcount == 0` -&gt; Kích hoạt Rollback toàn bộ CSDL</a:t>
            </a:r>
          </a:p>
          <a:p>
            <a:pPr algn="l">
              <a:spcBef>
                <a:spcPts val="700"/>
              </a:spcBef>
              <a:defRPr sz="1300">
                <a:solidFill>
                  <a:srgbClr val="0F172A"/>
                </a:solidFill>
                <a:latin typeface="Segoe UI"/>
              </a:defRPr>
            </a:pPr>
            <a:r>
              <a:t>KẾT QUẢ: Loại bỏ 100% Race Condition, không bao giờ xuất khống, kiểm soát đồng thời tuyệt đối ngay cả khi stress test đa luồng!</a:t>
            </a:r>
          </a:p>
        </p:txBody>
      </p:sp>
      <p:sp>
        <p:nvSpPr>
          <p:cNvPr id="6" name="Rounded Rectangle 5"/>
          <p:cNvSpPr/>
          <p:nvPr/>
        </p:nvSpPr>
        <p:spPr>
          <a:xfrm>
            <a:off x="731520" y="5623560"/>
            <a:ext cx="10725912" cy="731520"/>
          </a:xfrm>
          <a:prstGeom prst="roundRect">
            <a:avLst/>
          </a:prstGeom>
          <a:solidFill>
            <a:srgbClr val="0A192F"/>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B6D4"/>
                </a:solidFill>
                <a:latin typeface="Consolas"/>
              </a:defRPr>
            </a:pPr>
            <a:r>
              <a:t>SQL NGUYÊN TỬ: UPDATE ton_kho SET SoLuongTon = SoLuongTon - :qty WHERE MaHH = :ma_hh AND SoLuongTon &gt;= :qty;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CORE FEATURE: WORKFLOW &amp; RBAC</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Quy Trình Giao Dịch Kho ACID &amp; Ma Trận Phân Quyền RBAC</a:t>
            </a:r>
          </a:p>
        </p:txBody>
      </p:sp>
      <p:sp>
        <p:nvSpPr>
          <p:cNvPr id="4" name="Rounded Rectangle 3"/>
          <p:cNvSpPr/>
          <p:nvPr/>
        </p:nvSpPr>
        <p:spPr>
          <a:xfrm>
            <a:off x="731520" y="1417320"/>
            <a:ext cx="10725912" cy="123444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28016"/>
          <a:lstStyle/>
          <a:p>
            <a:pPr algn="l">
              <a:defRPr sz="1400" b="1">
                <a:solidFill>
                  <a:srgbClr val="1E3A8A"/>
                </a:solidFill>
                <a:latin typeface="Segoe UI"/>
              </a:defRPr>
            </a:pPr>
            <a:r>
              <a:t>🔄 CHU TRÌNH GIAO DỊCH MASTER-DETAIL (100% ACID TRANSACTION)</a:t>
            </a:r>
          </a:p>
          <a:p>
            <a:pPr algn="l">
              <a:spcBef>
                <a:spcPts val="400"/>
              </a:spcBef>
              <a:defRPr sz="1350" b="1">
                <a:solidFill>
                  <a:srgbClr val="2563EB"/>
                </a:solidFill>
                <a:latin typeface="Segoe UI"/>
              </a:defRPr>
            </a:pPr>
            <a:r>
              <a:t>[1. Tạo Master Chứng Từ] ➔ [2. Lưu Detail Hàng Hóa] ➔ [3. Atomic SQL Update Tồn Kho] ➔ [4. Ghi Sổ Thẻ Kho]</a:t>
            </a:r>
          </a:p>
          <a:p>
            <a:pPr algn="l">
              <a:spcBef>
                <a:spcPts val="300"/>
              </a:spcBef>
              <a:defRPr sz="1250">
                <a:solidFill>
                  <a:srgbClr val="0F172A"/>
                </a:solidFill>
                <a:latin typeface="Segoe UI"/>
              </a:defRPr>
            </a:pPr>
            <a:r>
              <a:t>Nguyên tắc Toàn Vẹn: Bất kỳ bước nào phát sinh lỗi, toàn bộ giao dịch tự động Rollback về trạng thái ban đầu!</a:t>
            </a:r>
          </a:p>
        </p:txBody>
      </p:sp>
      <p:graphicFrame>
        <p:nvGraphicFramePr>
          <p:cNvPr id="5" name="Table 4"/>
          <p:cNvGraphicFramePr>
            <a:graphicFrameLocks noGrp="1"/>
          </p:cNvGraphicFramePr>
          <p:nvPr/>
        </p:nvGraphicFramePr>
        <p:xfrm>
          <a:off x="731520" y="2788920"/>
          <a:ext cx="10725912" cy="3566160"/>
        </p:xfrm>
        <a:graphic>
          <a:graphicData uri="http://schemas.openxmlformats.org/drawingml/2006/table">
            <a:tbl>
              <a:tblPr firstRow="1" bandRow="1">
                <a:tableStyleId>{5C22544A-7EE6-4342-B048-85BDC9FD1C3A}</a:tableStyleId>
              </a:tblPr>
              <a:tblGrid>
                <a:gridCol w="3593592"/>
                <a:gridCol w="2377440"/>
                <a:gridCol w="2377440"/>
                <a:gridCol w="2377440"/>
              </a:tblGrid>
              <a:tr h="594360">
                <a:tc>
                  <a:txBody>
                    <a:bodyPr/>
                    <a:lstStyle/>
                    <a:p>
                      <a:pPr algn="l">
                        <a:defRPr sz="1200" b="1">
                          <a:solidFill>
                            <a:srgbClr val="FFFFFF"/>
                          </a:solidFill>
                          <a:latin typeface="Segoe UI"/>
                        </a:defRPr>
                      </a:pPr>
                      <a:r>
                        <a:t>NGHIỆP VỤ &amp; TÀI NGUYÊN</a:t>
                      </a:r>
                    </a:p>
                  </a:txBody>
                  <a:tcPr anchor="ctr">
                    <a:solidFill>
                      <a:srgbClr val="1E3A8A"/>
                    </a:solidFill>
                  </a:tcPr>
                </a:tc>
                <a:tc>
                  <a:txBody>
                    <a:bodyPr/>
                    <a:lstStyle/>
                    <a:p>
                      <a:pPr algn="ctr">
                        <a:defRPr sz="1200" b="1">
                          <a:solidFill>
                            <a:srgbClr val="FFFFFF"/>
                          </a:solidFill>
                          <a:latin typeface="Segoe UI"/>
                        </a:defRPr>
                      </a:pPr>
                      <a:r>
                        <a:t>ADMIN HỆ THỐNG</a:t>
                      </a:r>
                    </a:p>
                  </a:txBody>
                  <a:tcPr anchor="ctr">
                    <a:solidFill>
                      <a:srgbClr val="1E3A8A"/>
                    </a:solidFill>
                  </a:tcPr>
                </a:tc>
                <a:tc>
                  <a:txBody>
                    <a:bodyPr/>
                    <a:lstStyle/>
                    <a:p>
                      <a:pPr algn="ctr">
                        <a:defRPr sz="1200" b="1">
                          <a:solidFill>
                            <a:srgbClr val="FFFFFF"/>
                          </a:solidFill>
                          <a:latin typeface="Segoe UI"/>
                        </a:defRPr>
                      </a:pPr>
                      <a:r>
                        <a:t>THỦ KHO KIÊM KẾ TOÁN</a:t>
                      </a:r>
                    </a:p>
                  </a:txBody>
                  <a:tcPr anchor="ctr">
                    <a:solidFill>
                      <a:srgbClr val="1E3A8A"/>
                    </a:solidFill>
                  </a:tcPr>
                </a:tc>
                <a:tc>
                  <a:txBody>
                    <a:bodyPr/>
                    <a:lstStyle/>
                    <a:p>
                      <a:pPr algn="ctr">
                        <a:defRPr sz="1200" b="1">
                          <a:solidFill>
                            <a:srgbClr val="FFFFFF"/>
                          </a:solidFill>
                          <a:latin typeface="Segoe UI"/>
                        </a:defRPr>
                      </a:pPr>
                      <a:r>
                        <a:t>NHÂN VIÊN KHO (STAFF)</a:t>
                      </a:r>
                    </a:p>
                  </a:txBody>
                  <a:tcPr anchor="ctr">
                    <a:solidFill>
                      <a:srgbClr val="1E3A8A"/>
                    </a:solidFill>
                  </a:tcPr>
                </a:tc>
              </a:tr>
              <a:tr h="594360">
                <a:tc>
                  <a:txBody>
                    <a:bodyPr/>
                    <a:lstStyle/>
                    <a:p>
                      <a:pPr>
                        <a:defRPr sz="1200">
                          <a:solidFill>
                            <a:srgbClr val="0F172A"/>
                          </a:solidFill>
                          <a:latin typeface="Segoe UI"/>
                        </a:defRPr>
                      </a:pPr>
                      <a:r>
                        <a:t>Quản trị người dùng &amp; Phân quyền</a:t>
                      </a:r>
                    </a:p>
                  </a:txBody>
                  <a:tcPr anchor="ctr">
                    <a:solidFill>
                      <a:srgbClr val="F0F7FF"/>
                    </a:solidFill>
                  </a:tcPr>
                </a:tc>
                <a:tc>
                  <a:txBody>
                    <a:bodyPr/>
                    <a:lstStyle/>
                    <a:p>
                      <a:pPr algn="ctr">
                        <a:defRPr sz="1200" b="1">
                          <a:solidFill>
                            <a:srgbClr val="10B981"/>
                          </a:solidFill>
                          <a:latin typeface="Segoe UI"/>
                        </a:defRPr>
                      </a:pPr>
                      <a:r>
                        <a:t>✅ Toàn Quyền Quản Trị</a:t>
                      </a:r>
                    </a:p>
                  </a:txBody>
                  <a:tcPr anchor="ctr">
                    <a:solidFill>
                      <a:srgbClr val="F0F7FF"/>
                    </a:solidFill>
                  </a:tcPr>
                </a:tc>
                <a:tc>
                  <a:txBody>
                    <a:bodyPr/>
                    <a:lstStyle/>
                    <a:p>
                      <a:pPr algn="ctr">
                        <a:defRPr sz="1200">
                          <a:solidFill>
                            <a:srgbClr val="E11D48"/>
                          </a:solidFill>
                          <a:latin typeface="Segoe UI"/>
                        </a:defRPr>
                      </a:pPr>
                      <a:r>
                        <a:t>❌ Không có quyền</a:t>
                      </a:r>
                    </a:p>
                  </a:txBody>
                  <a:tcPr anchor="ctr">
                    <a:solidFill>
                      <a:srgbClr val="F0F7FF"/>
                    </a:solidFill>
                  </a:tcPr>
                </a:tc>
                <a:tc>
                  <a:txBody>
                    <a:bodyPr/>
                    <a:lstStyle/>
                    <a:p>
                      <a:pPr algn="ctr">
                        <a:defRPr sz="1200">
                          <a:solidFill>
                            <a:srgbClr val="E11D48"/>
                          </a:solidFill>
                          <a:latin typeface="Segoe UI"/>
                        </a:defRPr>
                      </a:pPr>
                      <a:r>
                        <a:t>❌ Không có quyền</a:t>
                      </a:r>
                    </a:p>
                  </a:txBody>
                  <a:tcPr anchor="ctr">
                    <a:solidFill>
                      <a:srgbClr val="F0F7FF"/>
                    </a:solidFill>
                  </a:tcPr>
                </a:tc>
              </a:tr>
              <a:tr h="594360">
                <a:tc>
                  <a:txBody>
                    <a:bodyPr/>
                    <a:lstStyle/>
                    <a:p>
                      <a:pPr>
                        <a:defRPr sz="1200">
                          <a:solidFill>
                            <a:srgbClr val="0F172A"/>
                          </a:solidFill>
                          <a:latin typeface="Segoe UI"/>
                        </a:defRPr>
                      </a:pPr>
                      <a:r>
                        <a:t>Quản trị SKU &amp; Nhà cung cấp</a:t>
                      </a:r>
                    </a:p>
                  </a:txBody>
                  <a:tcPr anchor="ctr">
                    <a:solidFill>
                      <a:srgbClr val="FFFFFF"/>
                    </a:solidFill>
                  </a:tcPr>
                </a:tc>
                <a:tc>
                  <a:txBody>
                    <a:bodyPr/>
                    <a:lstStyle/>
                    <a:p>
                      <a:pPr algn="ctr">
                        <a:defRPr sz="1200" b="1">
                          <a:solidFill>
                            <a:srgbClr val="10B981"/>
                          </a:solidFill>
                          <a:latin typeface="Segoe UI"/>
                        </a:defRPr>
                      </a:pPr>
                      <a:r>
                        <a:t>✅ Cho phép thực hiện</a:t>
                      </a:r>
                    </a:p>
                  </a:txBody>
                  <a:tcPr anchor="ctr">
                    <a:solidFill>
                      <a:srgbClr val="FFFFFF"/>
                    </a:solidFill>
                  </a:tcPr>
                </a:tc>
                <a:tc>
                  <a:txBody>
                    <a:bodyPr/>
                    <a:lstStyle/>
                    <a:p>
                      <a:pPr algn="ctr">
                        <a:defRPr sz="1200" b="1">
                          <a:solidFill>
                            <a:srgbClr val="10B981"/>
                          </a:solidFill>
                          <a:latin typeface="Segoe UI"/>
                        </a:defRPr>
                      </a:pPr>
                      <a:r>
                        <a:t>✅ Toàn quyền quản lý</a:t>
                      </a:r>
                    </a:p>
                  </a:txBody>
                  <a:tcPr anchor="ctr">
                    <a:solidFill>
                      <a:srgbClr val="FFFFFF"/>
                    </a:solidFill>
                  </a:tcPr>
                </a:tc>
                <a:tc>
                  <a:txBody>
                    <a:bodyPr/>
                    <a:lstStyle/>
                    <a:p>
                      <a:pPr algn="ctr">
                        <a:defRPr sz="1200">
                          <a:solidFill>
                            <a:srgbClr val="E11D48"/>
                          </a:solidFill>
                          <a:latin typeface="Segoe UI"/>
                        </a:defRPr>
                      </a:pPr>
                      <a:r>
                        <a:t>❌ Chế độ Chỉ Đọc (Staff)</a:t>
                      </a:r>
                    </a:p>
                  </a:txBody>
                  <a:tcPr anchor="ctr">
                    <a:solidFill>
                      <a:srgbClr val="FFFFFF"/>
                    </a:solidFill>
                  </a:tcPr>
                </a:tc>
              </a:tr>
              <a:tr h="594360">
                <a:tc>
                  <a:txBody>
                    <a:bodyPr/>
                    <a:lstStyle/>
                    <a:p>
                      <a:pPr>
                        <a:defRPr sz="1200">
                          <a:solidFill>
                            <a:srgbClr val="0F172A"/>
                          </a:solidFill>
                          <a:latin typeface="Segoe UI"/>
                        </a:defRPr>
                      </a:pPr>
                      <a:r>
                        <a:t>Lập Phiếu Nhập / Xuất Kho ACID</a:t>
                      </a:r>
                    </a:p>
                  </a:txBody>
                  <a:tcPr anchor="ctr">
                    <a:solidFill>
                      <a:srgbClr val="F0F7FF"/>
                    </a:solidFill>
                  </a:tcPr>
                </a:tc>
                <a:tc>
                  <a:txBody>
                    <a:bodyPr/>
                    <a:lstStyle/>
                    <a:p>
                      <a:pPr algn="ctr">
                        <a:defRPr sz="1200" b="1">
                          <a:solidFill>
                            <a:srgbClr val="10B981"/>
                          </a:solidFill>
                          <a:latin typeface="Segoe UI"/>
                        </a:defRPr>
                      </a:pPr>
                      <a:r>
                        <a:t>✅ Cho phép thực hiện</a:t>
                      </a:r>
                    </a:p>
                  </a:txBody>
                  <a:tcPr anchor="ctr">
                    <a:solidFill>
                      <a:srgbClr val="F0F7FF"/>
                    </a:solidFill>
                  </a:tcPr>
                </a:tc>
                <a:tc>
                  <a:txBody>
                    <a:bodyPr/>
                    <a:lstStyle/>
                    <a:p>
                      <a:pPr algn="ctr">
                        <a:defRPr sz="1200" b="1">
                          <a:solidFill>
                            <a:srgbClr val="10B981"/>
                          </a:solidFill>
                          <a:latin typeface="Segoe UI"/>
                        </a:defRPr>
                      </a:pPr>
                      <a:r>
                        <a:t>✅ Lập phiếu &amp; ghi sổ</a:t>
                      </a:r>
                    </a:p>
                  </a:txBody>
                  <a:tcPr anchor="ctr">
                    <a:solidFill>
                      <a:srgbClr val="F0F7FF"/>
                    </a:solidFill>
                  </a:tcPr>
                </a:tc>
                <a:tc>
                  <a:txBody>
                    <a:bodyPr/>
                    <a:lstStyle/>
                    <a:p>
                      <a:pPr algn="ctr">
                        <a:defRPr sz="1200">
                          <a:solidFill>
                            <a:srgbClr val="E11D48"/>
                          </a:solidFill>
                          <a:latin typeface="Segoe UI"/>
                        </a:defRPr>
                      </a:pPr>
                      <a:r>
                        <a:t>❌ Bị chặn (HTTP 403)</a:t>
                      </a:r>
                    </a:p>
                  </a:txBody>
                  <a:tcPr anchor="ctr">
                    <a:solidFill>
                      <a:srgbClr val="F0F7FF"/>
                    </a:solidFill>
                  </a:tcPr>
                </a:tc>
              </a:tr>
              <a:tr h="594360">
                <a:tc>
                  <a:txBody>
                    <a:bodyPr/>
                    <a:lstStyle/>
                    <a:p>
                      <a:pPr>
                        <a:defRPr sz="1200">
                          <a:solidFill>
                            <a:srgbClr val="0F172A"/>
                          </a:solidFill>
                          <a:latin typeface="Segoe UI"/>
                        </a:defRPr>
                      </a:pPr>
                      <a:r>
                        <a:t>Xuất Báo Cáo Kế Toán Excel</a:t>
                      </a:r>
                    </a:p>
                  </a:txBody>
                  <a:tcPr anchor="ctr">
                    <a:solidFill>
                      <a:srgbClr val="FFFFFF"/>
                    </a:solidFill>
                  </a:tcPr>
                </a:tc>
                <a:tc>
                  <a:txBody>
                    <a:bodyPr/>
                    <a:lstStyle/>
                    <a:p>
                      <a:pPr algn="ctr">
                        <a:defRPr sz="1200" b="1">
                          <a:solidFill>
                            <a:srgbClr val="10B981"/>
                          </a:solidFill>
                          <a:latin typeface="Segoe UI"/>
                        </a:defRPr>
                      </a:pPr>
                      <a:r>
                        <a:t>✅ Cho phép thực hiện</a:t>
                      </a:r>
                    </a:p>
                  </a:txBody>
                  <a:tcPr anchor="ctr">
                    <a:solidFill>
                      <a:srgbClr val="FFFFFF"/>
                    </a:solidFill>
                  </a:tcPr>
                </a:tc>
                <a:tc>
                  <a:txBody>
                    <a:bodyPr/>
                    <a:lstStyle/>
                    <a:p>
                      <a:pPr algn="ctr">
                        <a:defRPr sz="1200" b="1">
                          <a:solidFill>
                            <a:srgbClr val="10B981"/>
                          </a:solidFill>
                          <a:latin typeface="Segoe UI"/>
                        </a:defRPr>
                      </a:pPr>
                      <a:r>
                        <a:t>✅ Xuất báo cáo kế toán</a:t>
                      </a:r>
                    </a:p>
                  </a:txBody>
                  <a:tcPr anchor="ctr">
                    <a:solidFill>
                      <a:srgbClr val="FFFFFF"/>
                    </a:solidFill>
                  </a:tcPr>
                </a:tc>
                <a:tc>
                  <a:txBody>
                    <a:bodyPr/>
                    <a:lstStyle/>
                    <a:p>
                      <a:pPr algn="ctr">
                        <a:defRPr sz="1200">
                          <a:solidFill>
                            <a:srgbClr val="E11D48"/>
                          </a:solidFill>
                          <a:latin typeface="Segoe UI"/>
                        </a:defRPr>
                      </a:pPr>
                      <a:r>
                        <a:t>❌ Bị chặn (HTTP 403)</a:t>
                      </a:r>
                    </a:p>
                  </a:txBody>
                  <a:tcPr anchor="ctr">
                    <a:solidFill>
                      <a:srgbClr val="FFFFFF"/>
                    </a:solidFill>
                  </a:tcPr>
                </a:tc>
              </a:tr>
              <a:tr h="594360">
                <a:tc>
                  <a:txBody>
                    <a:bodyPr/>
                    <a:lstStyle/>
                    <a:p>
                      <a:pPr>
                        <a:defRPr sz="1200">
                          <a:solidFill>
                            <a:srgbClr val="0F172A"/>
                          </a:solidFill>
                          <a:latin typeface="Segoe UI"/>
                        </a:defRPr>
                      </a:pPr>
                      <a:r>
                        <a:t>Tra cứu Thẻ kho &amp; Cảnh báo tồn</a:t>
                      </a:r>
                    </a:p>
                  </a:txBody>
                  <a:tcPr anchor="ctr">
                    <a:solidFill>
                      <a:srgbClr val="F0F7FF"/>
                    </a:solidFill>
                  </a:tcPr>
                </a:tc>
                <a:tc>
                  <a:txBody>
                    <a:bodyPr/>
                    <a:lstStyle/>
                    <a:p>
                      <a:pPr algn="ctr">
                        <a:defRPr sz="1200" b="1">
                          <a:solidFill>
                            <a:srgbClr val="10B981"/>
                          </a:solidFill>
                          <a:latin typeface="Segoe UI"/>
                        </a:defRPr>
                      </a:pPr>
                      <a:r>
                        <a:t>✅ Xem toàn bộ dữ liệu</a:t>
                      </a:r>
                    </a:p>
                  </a:txBody>
                  <a:tcPr anchor="ctr">
                    <a:solidFill>
                      <a:srgbClr val="F0F7FF"/>
                    </a:solidFill>
                  </a:tcPr>
                </a:tc>
                <a:tc>
                  <a:txBody>
                    <a:bodyPr/>
                    <a:lstStyle/>
                    <a:p>
                      <a:pPr algn="ctr">
                        <a:defRPr sz="1200" b="1">
                          <a:solidFill>
                            <a:srgbClr val="10B981"/>
                          </a:solidFill>
                          <a:latin typeface="Segoe UI"/>
                        </a:defRPr>
                      </a:pPr>
                      <a:r>
                        <a:t>✅ Tra cứu &amp; cảnh báo</a:t>
                      </a:r>
                    </a:p>
                  </a:txBody>
                  <a:tcPr anchor="ctr">
                    <a:solidFill>
                      <a:srgbClr val="F0F7FF"/>
                    </a:solidFill>
                  </a:tcPr>
                </a:tc>
                <a:tc>
                  <a:txBody>
                    <a:bodyPr/>
                    <a:lstStyle/>
                    <a:p>
                      <a:pPr algn="ctr">
                        <a:defRPr sz="1200" b="1">
                          <a:solidFill>
                            <a:srgbClr val="10B981"/>
                          </a:solidFill>
                          <a:latin typeface="Segoe UI"/>
                        </a:defRPr>
                      </a:pPr>
                      <a:r>
                        <a:t>✅ Tra cứu kiểm đếm kho</a:t>
                      </a:r>
                    </a:p>
                  </a:txBody>
                  <a:tcPr anchor="ctr">
                    <a:solidFill>
                      <a:srgbClr val="F0F7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PRIVACY</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1: Data Sanitizer Khử Nhạy Cảm 100% Giá Vốn</a:t>
            </a:r>
          </a:p>
        </p:txBody>
      </p:sp>
      <p:sp>
        <p:nvSpPr>
          <p:cNvPr id="4" name="Rounded Rectangle 3"/>
          <p:cNvSpPr/>
          <p:nvPr/>
        </p:nvSpPr>
        <p:spPr>
          <a:xfrm>
            <a:off x="731520" y="1417320"/>
            <a:ext cx="3364992" cy="114300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0F2341"/>
                </a:solidFill>
                <a:latin typeface="Segoe UI"/>
              </a:defRPr>
            </a:pPr>
            <a:r>
              <a:t>1. CSDL KHO NỘI BỘ</a:t>
            </a:r>
          </a:p>
          <a:p>
            <a:pPr algn="ctr">
              <a:spcBef>
                <a:spcPts val="300"/>
              </a:spcBef>
              <a:defRPr sz="1200">
                <a:solidFill>
                  <a:srgbClr val="0F172A"/>
                </a:solidFill>
                <a:latin typeface="Segoe UI"/>
              </a:defRPr>
            </a:pPr>
            <a:r>
              <a:t>Chứa đầy đủ đơn giá nhập, giá vốn,</a:t>
            </a:r>
            <a:br/>
            <a:r>
              <a:t>thành tiền &amp; chiết khấu nhà cung cấp</a:t>
            </a:r>
          </a:p>
        </p:txBody>
      </p:sp>
      <p:sp>
        <p:nvSpPr>
          <p:cNvPr id="5" name="Rounded Rectangle 4"/>
          <p:cNvSpPr/>
          <p:nvPr/>
        </p:nvSpPr>
        <p:spPr>
          <a:xfrm>
            <a:off x="4416552" y="1417320"/>
            <a:ext cx="3364992" cy="114300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2563EB"/>
                </a:solidFill>
                <a:latin typeface="Segoe UI"/>
              </a:defRPr>
            </a:pPr>
            <a:r>
              <a:t>2. DATA SANITIZER FILTER</a:t>
            </a:r>
          </a:p>
          <a:p>
            <a:pPr algn="ctr">
              <a:spcBef>
                <a:spcPts val="300"/>
              </a:spcBef>
              <a:defRPr sz="1200">
                <a:solidFill>
                  <a:srgbClr val="0F172A"/>
                </a:solidFill>
                <a:latin typeface="Segoe UI"/>
              </a:defRPr>
            </a:pPr>
            <a:r>
              <a:t>Thuật toán khử nhạy cảm đệ quy</a:t>
            </a:r>
            <a:br/>
            <a:r>
              <a:t>loại bỏ 100% các trường tài chính bí mật</a:t>
            </a:r>
          </a:p>
        </p:txBody>
      </p:sp>
      <p:sp>
        <p:nvSpPr>
          <p:cNvPr id="6" name="Rounded Rectangle 5"/>
          <p:cNvSpPr/>
          <p:nvPr/>
        </p:nvSpPr>
        <p:spPr>
          <a:xfrm>
            <a:off x="8101584" y="1417320"/>
            <a:ext cx="3364992" cy="114300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06B6D4"/>
                </a:solidFill>
                <a:latin typeface="Segoe UI"/>
              </a:defRPr>
            </a:pPr>
            <a:r>
              <a:t>3. CONTEXT GỬI TỚI AI</a:t>
            </a:r>
          </a:p>
          <a:p>
            <a:pPr algn="ctr">
              <a:spcBef>
                <a:spcPts val="300"/>
              </a:spcBef>
              <a:defRPr sz="1200">
                <a:solidFill>
                  <a:srgbClr val="0F172A"/>
                </a:solidFill>
                <a:latin typeface="Segoe UI"/>
              </a:defRPr>
            </a:pPr>
            <a:r>
              <a:t>Chỉ gồm mã hàng, tên hàng, số tồn,</a:t>
            </a:r>
            <a:br/>
            <a:r>
              <a:t>tốc độ Burn-rate &amp; số ngày không xuất</a:t>
            </a:r>
          </a:p>
        </p:txBody>
      </p:sp>
      <p:sp>
        <p:nvSpPr>
          <p:cNvPr id="7" name="Rounded Rectangle 6"/>
          <p:cNvSpPr/>
          <p:nvPr/>
        </p:nvSpPr>
        <p:spPr>
          <a:xfrm>
            <a:off x="731520" y="2788920"/>
            <a:ext cx="5212080" cy="3657600"/>
          </a:xfrm>
          <a:prstGeom prst="roundRect">
            <a:avLst/>
          </a:prstGeom>
          <a:solidFill>
            <a:srgbClr val="F0F7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E11D48"/>
                </a:solidFill>
                <a:latin typeface="Segoe UI"/>
              </a:defRPr>
            </a:pPr>
            <a:r>
              <a:t>❌ DỮ LIỆU TÀI CHÍNH BỊ LOẠI BỎ TRIỆT ĐỂ (100%)</a:t>
            </a:r>
          </a:p>
          <a:p>
            <a:pPr algn="l">
              <a:spcBef>
                <a:spcPts val="700"/>
              </a:spcBef>
              <a:defRPr sz="1300">
                <a:solidFill>
                  <a:srgbClr val="0F172A"/>
                </a:solidFill>
                <a:latin typeface="Segoe UI"/>
              </a:defRPr>
            </a:pPr>
            <a:r>
              <a:t>• Đơn giá nhập (`dongianhap`, `import_price`): Khử sạch 100%</a:t>
            </a:r>
          </a:p>
          <a:p>
            <a:pPr algn="l">
              <a:spcBef>
                <a:spcPts val="700"/>
              </a:spcBef>
              <a:defRPr sz="1300">
                <a:solidFill>
                  <a:srgbClr val="0F172A"/>
                </a:solidFill>
                <a:latin typeface="Segoe UI"/>
              </a:defRPr>
            </a:pPr>
            <a:r>
              <a:t>• Thành tiền chi tiết (`thanhtien`): Khử sạch 100%</a:t>
            </a:r>
          </a:p>
          <a:p>
            <a:pPr algn="l">
              <a:spcBef>
                <a:spcPts val="700"/>
              </a:spcBef>
              <a:defRPr sz="1300">
                <a:solidFill>
                  <a:srgbClr val="0F172A"/>
                </a:solidFill>
                <a:latin typeface="Segoe UI"/>
              </a:defRPr>
            </a:pPr>
            <a:r>
              <a:t>• Giá vốn bình quân (`gia_von`): Khử sạch 100%</a:t>
            </a:r>
          </a:p>
          <a:p>
            <a:pPr algn="l">
              <a:spcBef>
                <a:spcPts val="700"/>
              </a:spcBef>
              <a:defRPr sz="1300">
                <a:solidFill>
                  <a:srgbClr val="0F172A"/>
                </a:solidFill>
                <a:latin typeface="Segoe UI"/>
              </a:defRPr>
            </a:pPr>
            <a:r>
              <a:t>• Tỷ lệ chiết khấu &amp; chính sách giá nhà cung cấp: Xóa bỏ</a:t>
            </a:r>
          </a:p>
          <a:p>
            <a:pPr algn="l">
              <a:spcBef>
                <a:spcPts val="700"/>
              </a:spcBef>
              <a:defRPr sz="1300">
                <a:solidFill>
                  <a:srgbClr val="0F172A"/>
                </a:solidFill>
                <a:latin typeface="Segoe UI"/>
              </a:defRPr>
            </a:pPr>
            <a:r>
              <a:t>• CAM KẾT: Không một byte dữ liệu tài chính nào rời khỏi máy chủ nội bộ sang bên thứ ba!</a:t>
            </a:r>
          </a:p>
        </p:txBody>
      </p:sp>
      <p:sp>
        <p:nvSpPr>
          <p:cNvPr id="8" name="Rounded Rectangle 7"/>
          <p:cNvSpPr/>
          <p:nvPr/>
        </p:nvSpPr>
        <p:spPr>
          <a:xfrm>
            <a:off x="6245352" y="2788920"/>
            <a:ext cx="5212080" cy="3657600"/>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DỮ LIỆU ĐƯỢC GIỮ LẠI PHỤC VỤ AI PHÂN TÍCH</a:t>
            </a:r>
          </a:p>
          <a:p>
            <a:pPr algn="l">
              <a:spcBef>
                <a:spcPts val="700"/>
              </a:spcBef>
              <a:defRPr sz="1300">
                <a:solidFill>
                  <a:srgbClr val="0F172A"/>
                </a:solidFill>
                <a:latin typeface="Segoe UI"/>
              </a:defRPr>
            </a:pPr>
            <a:r>
              <a:t>• Mã hàng (`MaHH`), Tên hàng (`TenHH`), Đơn vị tính (`DVT`)</a:t>
            </a:r>
          </a:p>
          <a:p>
            <a:pPr algn="l">
              <a:spcBef>
                <a:spcPts val="700"/>
              </a:spcBef>
              <a:defRPr sz="1300">
                <a:solidFill>
                  <a:srgbClr val="0F172A"/>
                </a:solidFill>
                <a:latin typeface="Segoe UI"/>
              </a:defRPr>
            </a:pPr>
            <a:r>
              <a:t>• Số lượng tồn kho thực tế &amp; Ngưỡng tồn an toàn tối thiểu</a:t>
            </a:r>
          </a:p>
          <a:p>
            <a:pPr algn="l">
              <a:spcBef>
                <a:spcPts val="700"/>
              </a:spcBef>
              <a:defRPr sz="1300">
                <a:solidFill>
                  <a:srgbClr val="0F172A"/>
                </a:solidFill>
                <a:latin typeface="Segoe UI"/>
              </a:defRPr>
            </a:pPr>
            <a:r>
              <a:t>• Tốc độ xuất bình quân 30 ngày (Burn-rate số lượng / ngày)</a:t>
            </a:r>
          </a:p>
          <a:p>
            <a:pPr algn="l">
              <a:spcBef>
                <a:spcPts val="700"/>
              </a:spcBef>
              <a:defRPr sz="1300">
                <a:solidFill>
                  <a:srgbClr val="0F172A"/>
                </a:solidFill>
                <a:latin typeface="Segoe UI"/>
              </a:defRPr>
            </a:pPr>
            <a:r>
              <a:t>• Số ngày không phát sinh phiếu xuất (Dead stock metric)</a:t>
            </a:r>
          </a:p>
          <a:p>
            <a:pPr algn="l">
              <a:spcBef>
                <a:spcPts val="700"/>
              </a:spcBef>
              <a:defRPr sz="1300">
                <a:solidFill>
                  <a:srgbClr val="0F172A"/>
                </a:solidFill>
                <a:latin typeface="Segoe UI"/>
              </a:defRPr>
            </a:pPr>
            <a:r>
              <a:t>• MINH BẠCH: Thanh tra trực tiếp payload qua API `/api/v1/ai/raw-context` bất kỳ lúc nào.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PROMPTS</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2: Prompt Chống Ảo Giác &amp; Báo Cáo Điều Hành 3 Phần</a:t>
            </a:r>
          </a:p>
        </p:txBody>
      </p:sp>
      <p:sp>
        <p:nvSpPr>
          <p:cNvPr id="4" name="Rounded Rectangle 3"/>
          <p:cNvSpPr/>
          <p:nvPr/>
        </p:nvSpPr>
        <p:spPr>
          <a:xfrm>
            <a:off x="731520" y="1417320"/>
            <a:ext cx="5212080" cy="484632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E3A8A"/>
                </a:solidFill>
                <a:latin typeface="Segoe UI"/>
              </a:defRPr>
            </a:pPr>
            <a:r>
              <a:t>🤖 KỸ THUẬT ANTI-HALLUCINATION PROMPT</a:t>
            </a:r>
          </a:p>
          <a:p>
            <a:pPr algn="l">
              <a:spcBef>
                <a:spcPts val="500"/>
              </a:spcBef>
              <a:defRPr sz="1300">
                <a:solidFill>
                  <a:srgbClr val="0F172A"/>
                </a:solidFill>
                <a:latin typeface="Segoe UI"/>
              </a:defRPr>
            </a:pPr>
            <a:r>
              <a:t>1. System Instruction Ràng Buộc Bất Biến:</a:t>
            </a:r>
          </a:p>
          <a:p>
            <a:pPr algn="l">
              <a:spcBef>
                <a:spcPts val="500"/>
              </a:spcBef>
              <a:defRPr sz="1300">
                <a:solidFill>
                  <a:srgbClr val="0F172A"/>
                </a:solidFill>
                <a:latin typeface="Segoe UI"/>
              </a:defRPr>
            </a:pPr>
            <a:r>
              <a:t>   Chỉ phân tích dựa trên dữ liệu JSON thực tế được cung cấp</a:t>
            </a:r>
          </a:p>
          <a:p>
            <a:pPr algn="l">
              <a:spcBef>
                <a:spcPts val="500"/>
              </a:spcBef>
              <a:defRPr sz="1300">
                <a:solidFill>
                  <a:srgbClr val="0F172A"/>
                </a:solidFill>
                <a:latin typeface="Segoe UI"/>
              </a:defRPr>
            </a:pPr>
            <a:r>
              <a:t>   Tuyệt đối KHÔNG tự bịa mã SKU, tên hàng hay số liệu kho</a:t>
            </a:r>
          </a:p>
          <a:p>
            <a:pPr algn="l">
              <a:spcBef>
                <a:spcPts val="500"/>
              </a:spcBef>
              <a:defRPr sz="1300">
                <a:solidFill>
                  <a:srgbClr val="0F172A"/>
                </a:solidFill>
                <a:latin typeface="Segoe UI"/>
              </a:defRPr>
            </a:pPr>
            <a:r>
              <a:t>2. Cơ Chế Xử Lý Kho Rỗng (Empty Inventory):</a:t>
            </a:r>
          </a:p>
          <a:p>
            <a:pPr algn="l">
              <a:spcBef>
                <a:spcPts val="500"/>
              </a:spcBef>
              <a:defRPr sz="1300">
                <a:solidFill>
                  <a:srgbClr val="0F172A"/>
                </a:solidFill>
                <a:latin typeface="Segoe UI"/>
              </a:defRPr>
            </a:pPr>
            <a:r>
              <a:t>   Thông báo rõ: 'Chưa ghi nhận giao dịch hợp lệ trong kỳ'</a:t>
            </a:r>
          </a:p>
          <a:p>
            <a:pPr algn="l">
              <a:spcBef>
                <a:spcPts val="500"/>
              </a:spcBef>
              <a:defRPr sz="1300">
                <a:solidFill>
                  <a:srgbClr val="0F172A"/>
                </a:solidFill>
                <a:latin typeface="Segoe UI"/>
              </a:defRPr>
            </a:pPr>
            <a:r>
              <a:t>   Tuyệt đối không phỏng đoán hay tự sinh dữ liệu giả</a:t>
            </a:r>
          </a:p>
          <a:p>
            <a:pPr algn="l">
              <a:spcBef>
                <a:spcPts val="500"/>
              </a:spcBef>
              <a:defRPr sz="1300">
                <a:solidFill>
                  <a:srgbClr val="0F172A"/>
                </a:solidFill>
                <a:latin typeface="Segoe UI"/>
              </a:defRPr>
            </a:pPr>
            <a:r>
              <a:t>3. Output Parser Định Chuẩn Cấu Trúc:</a:t>
            </a:r>
          </a:p>
          <a:p>
            <a:pPr algn="l">
              <a:spcBef>
                <a:spcPts val="500"/>
              </a:spcBef>
              <a:defRPr sz="1300">
                <a:solidFill>
                  <a:srgbClr val="0F172A"/>
                </a:solidFill>
                <a:latin typeface="Segoe UI"/>
              </a:defRPr>
            </a:pPr>
            <a:r>
              <a:t>   Ép định dạng JSON/Markdown phân tầng tường minh</a:t>
            </a:r>
          </a:p>
          <a:p>
            <a:pPr algn="l">
              <a:spcBef>
                <a:spcPts val="500"/>
              </a:spcBef>
              <a:defRPr sz="1300">
                <a:solidFill>
                  <a:srgbClr val="0F172A"/>
                </a:solidFill>
                <a:latin typeface="Segoe UI"/>
              </a:defRPr>
            </a:pPr>
            <a:r>
              <a:t>   Dễ dàng phân rã hiển thị lên Dashboard Widget trực tiếp</a:t>
            </a:r>
          </a:p>
        </p:txBody>
      </p:sp>
      <p:sp>
        <p:nvSpPr>
          <p:cNvPr id="5" name="Rounded Rectangle 4"/>
          <p:cNvSpPr/>
          <p:nvPr/>
        </p:nvSpPr>
        <p:spPr>
          <a:xfrm>
            <a:off x="6245352" y="1417320"/>
            <a:ext cx="5212080" cy="48463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2563EB"/>
                </a:solidFill>
                <a:latin typeface="Segoe UI"/>
              </a:defRPr>
            </a:pPr>
            <a:r>
              <a:t>📑 QUY CHUẨN BÁO CÁO ĐIỀU HÀNH 3 PHẦN</a:t>
            </a:r>
          </a:p>
          <a:p>
            <a:pPr algn="l">
              <a:spcBef>
                <a:spcPts val="600"/>
              </a:spcBef>
              <a:defRPr sz="1300" b="1">
                <a:solidFill>
                  <a:srgbClr val="1E3A8A"/>
                </a:solidFill>
                <a:latin typeface="Segoe UI"/>
              </a:defRPr>
            </a:pPr>
            <a:r>
              <a:t>PHẦN 1: TÌNH TRẠNG TỒN KHO TỔNG QUAN</a:t>
            </a:r>
          </a:p>
          <a:p>
            <a:pPr algn="l">
              <a:spcBef>
                <a:spcPts val="300"/>
              </a:spcBef>
              <a:defRPr sz="1300" b="0">
                <a:solidFill>
                  <a:srgbClr val="0F172A"/>
                </a:solidFill>
                <a:latin typeface="Segoe UI"/>
              </a:defRPr>
            </a:pPr>
            <a:r>
              <a:t>• Tổng số SKU quản lý, tổng lượng xuất 30 ngày</a:t>
            </a:r>
          </a:p>
          <a:p>
            <a:pPr algn="l">
              <a:spcBef>
                <a:spcPts val="300"/>
              </a:spcBef>
              <a:defRPr sz="1300" b="0">
                <a:solidFill>
                  <a:srgbClr val="0F172A"/>
                </a:solidFill>
                <a:latin typeface="Segoe UI"/>
              </a:defRPr>
            </a:pPr>
            <a:r>
              <a:t>• Tỷ lệ SKU an toàn vs SKU chạm ngưỡng tối thiểu</a:t>
            </a:r>
          </a:p>
          <a:p>
            <a:pPr algn="l">
              <a:spcBef>
                <a:spcPts val="600"/>
              </a:spcBef>
              <a:defRPr sz="1300" b="1">
                <a:solidFill>
                  <a:srgbClr val="1E3A8A"/>
                </a:solidFill>
                <a:latin typeface="Segoe UI"/>
              </a:defRPr>
            </a:pPr>
            <a:r>
              <a:t>PHẦN 2: CẢNH BÁO &amp; ĐỀ XUẤT NHẬP HÀNG KHẨN CẤP</a:t>
            </a:r>
          </a:p>
          <a:p>
            <a:pPr algn="l">
              <a:spcBef>
                <a:spcPts val="300"/>
              </a:spcBef>
              <a:defRPr sz="1300" b="0">
                <a:solidFill>
                  <a:srgbClr val="0F172A"/>
                </a:solidFill>
                <a:latin typeface="Segoe UI"/>
              </a:defRPr>
            </a:pPr>
            <a:r>
              <a:t>• Tính toán thiếu hụt dựa trên Burn-rate tiêu thụ ngày</a:t>
            </a:r>
          </a:p>
          <a:p>
            <a:pPr algn="l">
              <a:spcBef>
                <a:spcPts val="300"/>
              </a:spcBef>
              <a:defRPr sz="1300" b="0">
                <a:solidFill>
                  <a:srgbClr val="0F172A"/>
                </a:solidFill>
                <a:latin typeface="Segoe UI"/>
              </a:defRPr>
            </a:pPr>
            <a:r>
              <a:t>• Gợi ý cụ thể số lượng nhập cho từng mã SKU vật tư</a:t>
            </a:r>
          </a:p>
          <a:p>
            <a:pPr algn="l">
              <a:spcBef>
                <a:spcPts val="600"/>
              </a:spcBef>
              <a:defRPr sz="1300" b="1">
                <a:solidFill>
                  <a:srgbClr val="1E3A8A"/>
                </a:solidFill>
                <a:latin typeface="Segoe UI"/>
              </a:defRPr>
            </a:pPr>
            <a:r>
              <a:t>PHẦN 3: TÓM TẮT BIẾN ĐỘNG BẤT THƯỜNG</a:t>
            </a:r>
          </a:p>
          <a:p>
            <a:pPr algn="l">
              <a:spcBef>
                <a:spcPts val="300"/>
              </a:spcBef>
              <a:defRPr sz="1300" b="0">
                <a:solidFill>
                  <a:srgbClr val="0F172A"/>
                </a:solidFill>
                <a:latin typeface="Segoe UI"/>
              </a:defRPr>
            </a:pPr>
            <a:r>
              <a:t>• Chỉ điểm các mặt hàng có lượng xuất đột biến trong kỳ</a:t>
            </a:r>
          </a:p>
          <a:p>
            <a:pPr algn="l">
              <a:spcBef>
                <a:spcPts val="300"/>
              </a:spcBef>
              <a:defRPr sz="1300" b="0">
                <a:solidFill>
                  <a:srgbClr val="0F172A"/>
                </a:solidFill>
                <a:latin typeface="Segoe UI"/>
              </a:defRPr>
            </a:pPr>
            <a:r>
              <a:t>• Cảnh báo hàng Dead stock &gt; 60 ngày cần giải phóng mặt bằng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RESILIENCE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3: Local Grounded Fallback Engine Sẵn Sàng 24/7</a:t>
            </a:r>
          </a:p>
        </p:txBody>
      </p:sp>
      <p:sp>
        <p:nvSpPr>
          <p:cNvPr id="4" name="Rounded Rectangle 3"/>
          <p:cNvSpPr/>
          <p:nvPr/>
        </p:nvSpPr>
        <p:spPr>
          <a:xfrm>
            <a:off x="731520" y="1417320"/>
            <a:ext cx="3364992" cy="118872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341"/>
                </a:solidFill>
                <a:latin typeface="Segoe UI"/>
              </a:defRPr>
            </a:pPr>
            <a:r>
              <a:t>YÊU CẦU PHÂN TÍCH KHO</a:t>
            </a:r>
          </a:p>
          <a:p>
            <a:pPr algn="ctr">
              <a:spcBef>
                <a:spcPts val="300"/>
              </a:spcBef>
              <a:defRPr sz="1150">
                <a:solidFill>
                  <a:srgbClr val="0F172A"/>
                </a:solidFill>
                <a:latin typeface="Segoe UI"/>
              </a:defRPr>
            </a:pPr>
            <a:r>
              <a:t>Người dùng bấm nút trên Web Dashboard hoặc gọi API /generate-report</a:t>
            </a:r>
          </a:p>
        </p:txBody>
      </p:sp>
      <p:sp>
        <p:nvSpPr>
          <p:cNvPr id="5" name="Rounded Rectangle 4"/>
          <p:cNvSpPr/>
          <p:nvPr/>
        </p:nvSpPr>
        <p:spPr>
          <a:xfrm>
            <a:off x="4416552" y="1417320"/>
            <a:ext cx="3364992" cy="11887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563EB"/>
                </a:solidFill>
                <a:latin typeface="Segoe UI"/>
              </a:defRPr>
            </a:pPr>
            <a:r>
              <a:t>GỌI GOOGLE GEMINI API</a:t>
            </a:r>
          </a:p>
          <a:p>
            <a:pPr algn="ctr">
              <a:spcBef>
                <a:spcPts val="300"/>
              </a:spcBef>
              <a:defRPr sz="1150">
                <a:solidFill>
                  <a:srgbClr val="0F172A"/>
                </a:solidFill>
                <a:latin typeface="Segoe UI"/>
              </a:defRPr>
            </a:pPr>
            <a:r>
              <a:t>Gửi Sanitized JSON context qua REST API kèm Exponential Backoff 3 lần</a:t>
            </a:r>
          </a:p>
        </p:txBody>
      </p:sp>
      <p:sp>
        <p:nvSpPr>
          <p:cNvPr id="6" name="Rounded Rectangle 5"/>
          <p:cNvSpPr/>
          <p:nvPr/>
        </p:nvSpPr>
        <p:spPr>
          <a:xfrm>
            <a:off x="8101584" y="1417320"/>
            <a:ext cx="3364992" cy="118872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6B6D4"/>
                </a:solidFill>
                <a:latin typeface="Segoe UI"/>
              </a:defRPr>
            </a:pPr>
            <a:r>
              <a:t>ĐIỀU PHỐI TỰ ĐỘNG THÔNG MINH</a:t>
            </a:r>
          </a:p>
          <a:p>
            <a:pPr algn="ctr">
              <a:spcBef>
                <a:spcPts val="300"/>
              </a:spcBef>
              <a:defRPr sz="1150">
                <a:solidFill>
                  <a:srgbClr val="0F172A"/>
                </a:solidFill>
                <a:latin typeface="Segoe UI"/>
              </a:defRPr>
            </a:pPr>
            <a:r>
              <a:t>Thành công (200 OK) -&gt; Hiển thị kết quả LLM</a:t>
            </a:r>
            <a:br/>
            <a:r>
              <a:t>Thất bại (429/Mất mạng) -&gt; Fallback Engine</a:t>
            </a:r>
          </a:p>
        </p:txBody>
      </p:sp>
      <p:sp>
        <p:nvSpPr>
          <p:cNvPr id="7" name="Rounded Rectangle 6"/>
          <p:cNvSpPr/>
          <p:nvPr/>
        </p:nvSpPr>
        <p:spPr>
          <a:xfrm>
            <a:off x="731520" y="2788920"/>
            <a:ext cx="5212080" cy="365760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E3A8A"/>
                </a:solidFill>
                <a:latin typeface="Segoe UI"/>
              </a:defRPr>
            </a:pPr>
            <a:r>
              <a:t>☁️ CHẾ ĐỘ 1: GOOGLE GEMINI CLOUD LLM</a:t>
            </a:r>
          </a:p>
          <a:p>
            <a:pPr algn="l">
              <a:spcBef>
                <a:spcPts val="600"/>
              </a:spcBef>
              <a:defRPr sz="1300">
                <a:solidFill>
                  <a:srgbClr val="0F172A"/>
                </a:solidFill>
                <a:latin typeface="Segoe UI"/>
              </a:defRPr>
            </a:pPr>
            <a:r>
              <a:t>• Sử dụng mô hình Google Gemini 1.5 / 2.0 (`gemini-3.5-flash-lite`)</a:t>
            </a:r>
          </a:p>
          <a:p>
            <a:pPr algn="l">
              <a:spcBef>
                <a:spcPts val="600"/>
              </a:spcBef>
              <a:defRPr sz="1300">
                <a:solidFill>
                  <a:srgbClr val="0F172A"/>
                </a:solidFill>
                <a:latin typeface="Segoe UI"/>
              </a:defRPr>
            </a:pPr>
            <a:r>
              <a:t>• Khả năng lập luận phân tích văn phong quản trị điều hành chuyên nghiệp</a:t>
            </a:r>
          </a:p>
          <a:p>
            <a:pPr algn="l">
              <a:spcBef>
                <a:spcPts val="600"/>
              </a:spcBef>
              <a:defRPr sz="1300">
                <a:solidFill>
                  <a:srgbClr val="0F172A"/>
                </a:solidFill>
                <a:latin typeface="Segoe UI"/>
              </a:defRPr>
            </a:pPr>
            <a:r>
              <a:t>• Cơ chế Exponential Backoff: Tự động retry tối đa 3 lần khi lỗi mạng</a:t>
            </a:r>
          </a:p>
          <a:p>
            <a:pPr algn="l">
              <a:spcBef>
                <a:spcPts val="600"/>
              </a:spcBef>
              <a:defRPr sz="1300">
                <a:solidFill>
                  <a:srgbClr val="0F172A"/>
                </a:solidFill>
                <a:latin typeface="Segoe UI"/>
              </a:defRPr>
            </a:pPr>
            <a:r>
              <a:t>• Phản hồi mượt mà khi kết nối Internet ổn định và quota API khả dụng</a:t>
            </a:r>
          </a:p>
          <a:p>
            <a:pPr algn="l">
              <a:spcBef>
                <a:spcPts val="600"/>
              </a:spcBef>
              <a:defRPr sz="1300">
                <a:solidFill>
                  <a:srgbClr val="0F172A"/>
                </a:solidFill>
                <a:latin typeface="Segoe UI"/>
              </a:defRPr>
            </a:pPr>
            <a:r>
              <a:t>• Đem lại trải nghiệm trợ lý số cao cấp cho ban giám đốc doanh nghiệp</a:t>
            </a:r>
          </a:p>
        </p:txBody>
      </p:sp>
      <p:sp>
        <p:nvSpPr>
          <p:cNvPr id="8" name="Rounded Rectangle 7"/>
          <p:cNvSpPr/>
          <p:nvPr/>
        </p:nvSpPr>
        <p:spPr>
          <a:xfrm>
            <a:off x="6245352" y="2788920"/>
            <a:ext cx="5212080" cy="3657600"/>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CHẾ ĐỘ 2: LOCAL GROUNDED FALLBACK ENGINE</a:t>
            </a:r>
          </a:p>
          <a:p>
            <a:pPr algn="l">
              <a:spcBef>
                <a:spcPts val="600"/>
              </a:spcBef>
              <a:defRPr sz="1300">
                <a:solidFill>
                  <a:srgbClr val="0F172A"/>
                </a:solidFill>
                <a:latin typeface="Segoe UI"/>
              </a:defRPr>
            </a:pPr>
            <a:r>
              <a:t>• Kích hoạt tự động khi lỗi mạng, sai API Key hoặc gặp lỗi 429 Quota</a:t>
            </a:r>
          </a:p>
          <a:p>
            <a:pPr algn="l">
              <a:spcBef>
                <a:spcPts val="600"/>
              </a:spcBef>
              <a:defRPr sz="1300">
                <a:solidFill>
                  <a:srgbClr val="0F172A"/>
                </a:solidFill>
                <a:latin typeface="Segoe UI"/>
              </a:defRPr>
            </a:pPr>
            <a:r>
              <a:t>• Thuật toán toán học CSDL nội bộ tự động phân tích tức thời</a:t>
            </a:r>
          </a:p>
          <a:p>
            <a:pPr algn="l">
              <a:spcBef>
                <a:spcPts val="600"/>
              </a:spcBef>
              <a:defRPr sz="1300">
                <a:solidFill>
                  <a:srgbClr val="0F172A"/>
                </a:solidFill>
                <a:latin typeface="Segoe UI"/>
              </a:defRPr>
            </a:pPr>
            <a:r>
              <a:t>• Đảm bảo sinh báo cáo đủ chuẩn 3 phần với số liệu thật 100%</a:t>
            </a:r>
          </a:p>
          <a:p>
            <a:pPr algn="l">
              <a:spcBef>
                <a:spcPts val="600"/>
              </a:spcBef>
              <a:defRPr sz="1300">
                <a:solidFill>
                  <a:srgbClr val="0F172A"/>
                </a:solidFill>
                <a:latin typeface="Segoe UI"/>
              </a:defRPr>
            </a:pPr>
            <a:r>
              <a:t>• Hoàn toàn độc lập với Internet và dịch vụ của bên thứ ba</a:t>
            </a:r>
          </a:p>
          <a:p>
            <a:pPr algn="l">
              <a:spcBef>
                <a:spcPts val="600"/>
              </a:spcBef>
              <a:defRPr sz="1300">
                <a:solidFill>
                  <a:srgbClr val="0F172A"/>
                </a:solidFill>
                <a:latin typeface="Segoe UI"/>
              </a:defRPr>
            </a:pPr>
            <a:r>
              <a:t>• CAM KẾT DOANH NGHIỆP: Ứng dụng không bao giờ sập, vận hành 24/7!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SDLC EXECUTION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Tiến Trình Phát Triển Phần Mềm: 4 Giai Đoạn Hoàn Thiện</a:t>
            </a:r>
          </a:p>
        </p:txBody>
      </p:sp>
      <p:sp>
        <p:nvSpPr>
          <p:cNvPr id="4" name="Rounded Rectangle 3"/>
          <p:cNvSpPr/>
          <p:nvPr/>
        </p:nvSpPr>
        <p:spPr>
          <a:xfrm>
            <a:off x="731520" y="1417320"/>
            <a:ext cx="2468880" cy="3977639"/>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Khảo sát nghiệp vụ kho vật tư thực tế</a:t>
            </a:r>
          </a:p>
          <a:p>
            <a:pPr algn="l">
              <a:spcBef>
                <a:spcPts val="600"/>
              </a:spcBef>
              <a:defRPr sz="1250">
                <a:solidFill>
                  <a:srgbClr val="0F172A"/>
                </a:solidFill>
                <a:latin typeface="Segoe UI"/>
              </a:defRPr>
            </a:pPr>
            <a:r>
              <a:t>• Thiết kế ERD chuẩn hóa 3NF 10 bảng</a:t>
            </a:r>
          </a:p>
          <a:p>
            <a:pPr algn="l">
              <a:spcBef>
                <a:spcPts val="600"/>
              </a:spcBef>
              <a:defRPr sz="1250">
                <a:solidFill>
                  <a:srgbClr val="0F172A"/>
                </a:solidFill>
                <a:latin typeface="Segoe UI"/>
              </a:defRPr>
            </a:pPr>
            <a:r>
              <a:t>• Xây dựng REST APIs CRUD chuẩn</a:t>
            </a:r>
          </a:p>
          <a:p>
            <a:pPr algn="l">
              <a:spcBef>
                <a:spcPts val="600"/>
              </a:spcBef>
              <a:defRPr sz="1250">
                <a:solidFill>
                  <a:srgbClr val="0F172A"/>
                </a:solidFill>
                <a:latin typeface="Segoe UI"/>
              </a:defRPr>
            </a:pPr>
            <a:r>
              <a:t>• Dựng giao diện Jinja2 ban đầu</a:t>
            </a:r>
          </a:p>
        </p:txBody>
      </p:sp>
      <p:sp>
        <p:nvSpPr>
          <p:cNvPr id="5" name="Rounded Rectangle 4"/>
          <p:cNvSpPr/>
          <p:nvPr/>
        </p:nvSpPr>
        <p:spPr>
          <a:xfrm>
            <a:off x="731520" y="1417320"/>
            <a:ext cx="2468880" cy="841248"/>
          </a:xfrm>
          <a:prstGeom prst="round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6B6D4"/>
                </a:solidFill>
                <a:latin typeface="Segoe UI"/>
              </a:defRPr>
            </a:pPr>
            <a:r>
              <a:t>GIAI ĐOẠN 1</a:t>
            </a:r>
          </a:p>
          <a:p>
            <a:pPr algn="ctr">
              <a:defRPr sz="1350" b="1">
                <a:solidFill>
                  <a:srgbClr val="FFFFFF"/>
                </a:solidFill>
                <a:latin typeface="Segoe UI"/>
              </a:defRPr>
            </a:pPr>
            <a:r>
              <a:t>Thiết Kế Nền Tảng</a:t>
            </a:r>
          </a:p>
        </p:txBody>
      </p:sp>
      <p:sp>
        <p:nvSpPr>
          <p:cNvPr id="6" name="Rounded Rectangle 5"/>
          <p:cNvSpPr/>
          <p:nvPr/>
        </p:nvSpPr>
        <p:spPr>
          <a:xfrm>
            <a:off x="3483864" y="1417320"/>
            <a:ext cx="2468880"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Phát hiện &amp; sửa lỗi Race Condition</a:t>
            </a:r>
          </a:p>
          <a:p>
            <a:pPr algn="l">
              <a:spcBef>
                <a:spcPts val="600"/>
              </a:spcBef>
              <a:defRPr sz="1250">
                <a:solidFill>
                  <a:srgbClr val="0F172A"/>
                </a:solidFill>
                <a:latin typeface="Segoe UI"/>
              </a:defRPr>
            </a:pPr>
            <a:r>
              <a:t>• Ứng dụng Atomic SQL Decrement</a:t>
            </a:r>
          </a:p>
          <a:p>
            <a:pPr algn="l">
              <a:spcBef>
                <a:spcPts val="600"/>
              </a:spcBef>
              <a:defRPr sz="1250">
                <a:solidFill>
                  <a:srgbClr val="0F172A"/>
                </a:solidFill>
                <a:latin typeface="Segoe UI"/>
              </a:defRPr>
            </a:pPr>
            <a:r>
              <a:t>• Cấu hình SQLite WAL &amp; Triggers</a:t>
            </a:r>
          </a:p>
          <a:p>
            <a:pPr algn="l">
              <a:spcBef>
                <a:spcPts val="600"/>
              </a:spcBef>
              <a:defRPr sz="1250">
                <a:solidFill>
                  <a:srgbClr val="0F172A"/>
                </a:solidFill>
                <a:latin typeface="Segoe UI"/>
              </a:defRPr>
            </a:pPr>
            <a:r>
              <a:t>• Tạo 8 B-Tree Indexes tối ưu</a:t>
            </a:r>
          </a:p>
        </p:txBody>
      </p:sp>
      <p:sp>
        <p:nvSpPr>
          <p:cNvPr id="7" name="Rounded Rectangle 6"/>
          <p:cNvSpPr/>
          <p:nvPr/>
        </p:nvSpPr>
        <p:spPr>
          <a:xfrm>
            <a:off x="3483864" y="1417320"/>
            <a:ext cx="2468880" cy="841248"/>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2</a:t>
            </a:r>
          </a:p>
          <a:p>
            <a:pPr algn="ctr">
              <a:defRPr sz="1350" b="1">
                <a:solidFill>
                  <a:srgbClr val="FFFFFF"/>
                </a:solidFill>
                <a:latin typeface="Segoe UI"/>
              </a:defRPr>
            </a:pPr>
            <a:r>
              <a:t>Audit &amp; Ràng Buộc</a:t>
            </a:r>
          </a:p>
        </p:txBody>
      </p:sp>
      <p:sp>
        <p:nvSpPr>
          <p:cNvPr id="8" name="Rounded Rectangle 7"/>
          <p:cNvSpPr/>
          <p:nvPr/>
        </p:nvSpPr>
        <p:spPr>
          <a:xfrm>
            <a:off x="6236208" y="1417320"/>
            <a:ext cx="2468880"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Kết nối Google Gemini Live API</a:t>
            </a:r>
          </a:p>
          <a:p>
            <a:pPr algn="l">
              <a:spcBef>
                <a:spcPts val="600"/>
              </a:spcBef>
              <a:defRPr sz="1250">
                <a:solidFill>
                  <a:srgbClr val="0F172A"/>
                </a:solidFill>
                <a:latin typeface="Segoe UI"/>
              </a:defRPr>
            </a:pPr>
            <a:r>
              <a:t>• Module Data Sanitizer bảo mật</a:t>
            </a:r>
          </a:p>
          <a:p>
            <a:pPr algn="l">
              <a:spcBef>
                <a:spcPts val="600"/>
              </a:spcBef>
              <a:defRPr sz="1250">
                <a:solidFill>
                  <a:srgbClr val="0F172A"/>
                </a:solidFill>
                <a:latin typeface="Segoe UI"/>
              </a:defRPr>
            </a:pPr>
            <a:r>
              <a:t>• Prompt Engineering chuẩn 3 phần</a:t>
            </a:r>
          </a:p>
          <a:p>
            <a:pPr algn="l">
              <a:spcBef>
                <a:spcPts val="600"/>
              </a:spcBef>
              <a:defRPr sz="1250">
                <a:solidFill>
                  <a:srgbClr val="0F172A"/>
                </a:solidFill>
                <a:latin typeface="Segoe UI"/>
              </a:defRPr>
            </a:pPr>
            <a:r>
              <a:t>• Local Grounded Fallback Engine</a:t>
            </a:r>
          </a:p>
        </p:txBody>
      </p:sp>
      <p:sp>
        <p:nvSpPr>
          <p:cNvPr id="9" name="Rounded Rectangle 8"/>
          <p:cNvSpPr/>
          <p:nvPr/>
        </p:nvSpPr>
        <p:spPr>
          <a:xfrm>
            <a:off x="6236208" y="1417320"/>
            <a:ext cx="2468880" cy="8412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3</a:t>
            </a:r>
          </a:p>
          <a:p>
            <a:pPr algn="ctr">
              <a:defRPr sz="1350" b="1">
                <a:solidFill>
                  <a:srgbClr val="FFFFFF"/>
                </a:solidFill>
                <a:latin typeface="Segoe UI"/>
              </a:defRPr>
            </a:pPr>
            <a:r>
              <a:t>Tích Hợp AI &amp; LLM</a:t>
            </a:r>
          </a:p>
        </p:txBody>
      </p:sp>
      <p:sp>
        <p:nvSpPr>
          <p:cNvPr id="10" name="Rounded Rectangle 9"/>
          <p:cNvSpPr/>
          <p:nvPr/>
        </p:nvSpPr>
        <p:spPr>
          <a:xfrm>
            <a:off x="8988552" y="1417320"/>
            <a:ext cx="2468880" cy="3977639"/>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Đóng gói Docker Compose 4 containers</a:t>
            </a:r>
          </a:p>
          <a:p>
            <a:pPr algn="l">
              <a:spcBef>
                <a:spcPts val="600"/>
              </a:spcBef>
              <a:defRPr sz="1250">
                <a:solidFill>
                  <a:srgbClr val="0F172A"/>
                </a:solidFill>
                <a:latin typeface="Segoe UI"/>
              </a:defRPr>
            </a:pPr>
            <a:r>
              <a:t>• Cấu hình Nginx Reverse Proxy SSL</a:t>
            </a:r>
          </a:p>
          <a:p>
            <a:pPr algn="l">
              <a:spcBef>
                <a:spcPts val="600"/>
              </a:spcBef>
              <a:defRPr sz="1250">
                <a:solidFill>
                  <a:srgbClr val="0F172A"/>
                </a:solidFill>
                <a:latin typeface="Segoe UI"/>
              </a:defRPr>
            </a:pPr>
            <a:r>
              <a:t>• Bộ kiểm thử tự động 12 test cases</a:t>
            </a:r>
          </a:p>
          <a:p>
            <a:pPr algn="l">
              <a:spcBef>
                <a:spcPts val="600"/>
              </a:spcBef>
              <a:defRPr sz="1250">
                <a:solidFill>
                  <a:srgbClr val="0F172A"/>
                </a:solidFill>
                <a:latin typeface="Segoe UI"/>
              </a:defRPr>
            </a:pPr>
            <a:r>
              <a:t>• Triển khai Production Web Server</a:t>
            </a:r>
          </a:p>
        </p:txBody>
      </p:sp>
      <p:sp>
        <p:nvSpPr>
          <p:cNvPr id="11" name="Rounded Rectangle 10"/>
          <p:cNvSpPr/>
          <p:nvPr/>
        </p:nvSpPr>
        <p:spPr>
          <a:xfrm>
            <a:off x="8988552" y="1417320"/>
            <a:ext cx="2468880" cy="841248"/>
          </a:xfrm>
          <a:prstGeom prst="round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4</a:t>
            </a:r>
          </a:p>
          <a:p>
            <a:pPr algn="ctr">
              <a:defRPr sz="1350" b="1">
                <a:solidFill>
                  <a:srgbClr val="FFFFFF"/>
                </a:solidFill>
                <a:latin typeface="Segoe UI"/>
              </a:defRPr>
            </a:pPr>
            <a:r>
              <a:t>DevOps &amp; Đóng Gói</a:t>
            </a:r>
          </a:p>
        </p:txBody>
      </p:sp>
      <p:sp>
        <p:nvSpPr>
          <p:cNvPr id="12" name="Rounded Rectangle 11"/>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TRẠNG THÁI TIẾN ĐỘ: Hoàn thành 100% tất cả các mục tiêu kỹ thuật qua cả 4 giai đoạn phát triển!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QUALITY ASSURANCE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Chiến Lược Kiểm Thử Tự Động: 16/16 Test Cases Đạt 100%</a:t>
            </a:r>
          </a:p>
        </p:txBody>
      </p:sp>
      <p:graphicFrame>
        <p:nvGraphicFramePr>
          <p:cNvPr id="4" name="Table 3"/>
          <p:cNvGraphicFramePr>
            <a:graphicFrameLocks noGrp="1"/>
          </p:cNvGraphicFramePr>
          <p:nvPr/>
        </p:nvGraphicFramePr>
        <p:xfrm>
          <a:off x="731520" y="1417320"/>
          <a:ext cx="10725912" cy="3977639"/>
        </p:xfrm>
        <a:graphic>
          <a:graphicData uri="http://schemas.openxmlformats.org/drawingml/2006/table">
            <a:tbl>
              <a:tblPr firstRow="1" bandRow="1">
                <a:tableStyleId>{5C22544A-7EE6-4342-B048-85BDC9FD1C3A}</a:tableStyleId>
              </a:tblPr>
              <a:tblGrid>
                <a:gridCol w="2926080"/>
                <a:gridCol w="1645920"/>
                <a:gridCol w="4325112"/>
                <a:gridCol w="1828800"/>
              </a:tblGrid>
              <a:tr h="662939">
                <a:tc>
                  <a:txBody>
                    <a:bodyPr/>
                    <a:lstStyle/>
                    <a:p>
                      <a:pPr algn="l">
                        <a:defRPr sz="1250" b="1">
                          <a:solidFill>
                            <a:srgbClr val="FFFFFF"/>
                          </a:solidFill>
                          <a:latin typeface="Segoe UI"/>
                        </a:defRPr>
                      </a:pPr>
                      <a:r>
                        <a:t>MODULE KIỂM THỬ</a:t>
                      </a:r>
                    </a:p>
                  </a:txBody>
                  <a:tcPr anchor="ctr">
                    <a:solidFill>
                      <a:srgbClr val="1E3A8A"/>
                    </a:solidFill>
                  </a:tcPr>
                </a:tc>
                <a:tc>
                  <a:txBody>
                    <a:bodyPr/>
                    <a:lstStyle/>
                    <a:p>
                      <a:pPr algn="ctr">
                        <a:defRPr sz="1250" b="1">
                          <a:solidFill>
                            <a:srgbClr val="FFFFFF"/>
                          </a:solidFill>
                          <a:latin typeface="Segoe UI"/>
                        </a:defRPr>
                      </a:pPr>
                      <a:r>
                        <a:t>SỐ TEST CASES</a:t>
                      </a:r>
                    </a:p>
                  </a:txBody>
                  <a:tcPr anchor="ctr">
                    <a:solidFill>
                      <a:srgbClr val="1E3A8A"/>
                    </a:solidFill>
                  </a:tcPr>
                </a:tc>
                <a:tc>
                  <a:txBody>
                    <a:bodyPr/>
                    <a:lstStyle/>
                    <a:p>
                      <a:pPr algn="ctr">
                        <a:defRPr sz="1250" b="1">
                          <a:solidFill>
                            <a:srgbClr val="FFFFFF"/>
                          </a:solidFill>
                          <a:latin typeface="Segoe UI"/>
                        </a:defRPr>
                      </a:pPr>
                      <a:r>
                        <a:t>KỊCH BẢN KIỂM THỬ TRỌNG YẾU</a:t>
                      </a:r>
                    </a:p>
                  </a:txBody>
                  <a:tcPr anchor="ctr">
                    <a:solidFill>
                      <a:srgbClr val="1E3A8A"/>
                    </a:solidFill>
                  </a:tcPr>
                </a:tc>
                <a:tc>
                  <a:txBody>
                    <a:bodyPr/>
                    <a:lstStyle/>
                    <a:p>
                      <a:pPr algn="ctr">
                        <a:defRPr sz="1250" b="1">
                          <a:solidFill>
                            <a:srgbClr val="FFFFFF"/>
                          </a:solidFill>
                          <a:latin typeface="Segoe UI"/>
                        </a:defRPr>
                      </a:pPr>
                      <a:r>
                        <a:t>KẾT QUẢ</a:t>
                      </a:r>
                    </a:p>
                  </a:txBody>
                  <a:tcPr anchor="ctr">
                    <a:solidFill>
                      <a:srgbClr val="1E3A8A"/>
                    </a:solidFill>
                  </a:tcPr>
                </a:tc>
              </a:tr>
              <a:tr h="662939">
                <a:tc>
                  <a:txBody>
                    <a:bodyPr/>
                    <a:lstStyle/>
                    <a:p>
                      <a:pPr>
                        <a:defRPr sz="1250">
                          <a:solidFill>
                            <a:srgbClr val="0F172A"/>
                          </a:solidFill>
                          <a:latin typeface="Segoe UI"/>
                        </a:defRPr>
                      </a:pPr>
                      <a:r>
                        <a:t>test_ai_engine.py</a:t>
                      </a:r>
                    </a:p>
                  </a:txBody>
                  <a:tcPr anchor="ctr">
                    <a:solidFill>
                      <a:srgbClr val="F0F7FF"/>
                    </a:solidFill>
                  </a:tcPr>
                </a:tc>
                <a:tc>
                  <a:txBody>
                    <a:bodyPr/>
                    <a:lstStyle/>
                    <a:p>
                      <a:pPr algn="ctr">
                        <a:defRPr sz="1250">
                          <a:solidFill>
                            <a:srgbClr val="0F172A"/>
                          </a:solidFill>
                          <a:latin typeface="Segoe UI"/>
                        </a:defRPr>
                      </a:pPr>
                      <a:r>
                        <a:t>4 Test Cases</a:t>
                      </a:r>
                    </a:p>
                  </a:txBody>
                  <a:tcPr anchor="ctr">
                    <a:solidFill>
                      <a:srgbClr val="F0F7FF"/>
                    </a:solidFill>
                  </a:tcPr>
                </a:tc>
                <a:tc>
                  <a:txBody>
                    <a:bodyPr/>
                    <a:lstStyle/>
                    <a:p>
                      <a:pPr>
                        <a:defRPr sz="1250">
                          <a:solidFill>
                            <a:srgbClr val="0F172A"/>
                          </a:solidFill>
                          <a:latin typeface="Segoe UI"/>
                        </a:defRPr>
                      </a:pPr>
                      <a:r>
                        <a:t>Kho rỗng không ảo giác, đề xuất tồn min, khử 100% giá vốn, Mocking Fallback 429</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r h="662939">
                <a:tc>
                  <a:txBody>
                    <a:bodyPr/>
                    <a:lstStyle/>
                    <a:p>
                      <a:pPr>
                        <a:defRPr sz="1250">
                          <a:solidFill>
                            <a:srgbClr val="0F172A"/>
                          </a:solidFill>
                          <a:latin typeface="Segoe UI"/>
                        </a:defRPr>
                      </a:pPr>
                      <a:r>
                        <a:t>test_phase2_inventory.py</a:t>
                      </a:r>
                    </a:p>
                  </a:txBody>
                  <a:tcPr anchor="ctr">
                    <a:solidFill>
                      <a:srgbClr val="FFFFFF"/>
                    </a:solidFill>
                  </a:tcPr>
                </a:tc>
                <a:tc>
                  <a:txBody>
                    <a:bodyPr/>
                    <a:lstStyle/>
                    <a:p>
                      <a:pPr algn="ctr">
                        <a:defRPr sz="1250">
                          <a:solidFill>
                            <a:srgbClr val="0F172A"/>
                          </a:solidFill>
                          <a:latin typeface="Segoe UI"/>
                        </a:defRPr>
                      </a:pPr>
                      <a:r>
                        <a:t>6 Test Cases</a:t>
                      </a:r>
                    </a:p>
                  </a:txBody>
                  <a:tcPr anchor="ctr">
                    <a:solidFill>
                      <a:srgbClr val="FFFFFF"/>
                    </a:solidFill>
                  </a:tcPr>
                </a:tc>
                <a:tc>
                  <a:txBody>
                    <a:bodyPr/>
                    <a:lstStyle/>
                    <a:p>
                      <a:pPr>
                        <a:defRPr sz="1250">
                          <a:solidFill>
                            <a:srgbClr val="0F172A"/>
                          </a:solidFill>
                          <a:latin typeface="Segoe UI"/>
                        </a:defRPr>
                      </a:pPr>
                      <a:r>
                        <a:t>ACID Inbound, chống tồn âm, Concurrency Stress Test, RBAC 3 vai trò, CheckConstraint</a:t>
                      </a:r>
                    </a:p>
                  </a:txBody>
                  <a:tcPr anchor="ctr">
                    <a:solidFill>
                      <a:srgbClr val="FFFFFF"/>
                    </a:solidFill>
                  </a:tcPr>
                </a:tc>
                <a:tc>
                  <a:txBody>
                    <a:bodyPr/>
                    <a:lstStyle/>
                    <a:p>
                      <a:pPr algn="ctr">
                        <a:defRPr sz="1250" b="1">
                          <a:solidFill>
                            <a:srgbClr val="10B981"/>
                          </a:solidFill>
                          <a:latin typeface="Segoe UI"/>
                        </a:defRPr>
                      </a:pPr>
                      <a:r>
                        <a:t>✅ 100% PASSED</a:t>
                      </a:r>
                    </a:p>
                  </a:txBody>
                  <a:tcPr anchor="ctr">
                    <a:solidFill>
                      <a:srgbClr val="FFFFFF"/>
                    </a:solidFill>
                  </a:tcPr>
                </a:tc>
              </a:tr>
              <a:tr h="662939">
                <a:tc>
                  <a:txBody>
                    <a:bodyPr/>
                    <a:lstStyle/>
                    <a:p>
                      <a:pPr>
                        <a:defRPr sz="1250">
                          <a:solidFill>
                            <a:srgbClr val="0F172A"/>
                          </a:solidFill>
                          <a:latin typeface="Segoe UI"/>
                        </a:defRPr>
                      </a:pPr>
                      <a:r>
                        <a:t>test_websocket.py</a:t>
                      </a:r>
                    </a:p>
                  </a:txBody>
                  <a:tcPr anchor="ctr">
                    <a:solidFill>
                      <a:srgbClr val="F0F7FF"/>
                    </a:solidFill>
                  </a:tcPr>
                </a:tc>
                <a:tc>
                  <a:txBody>
                    <a:bodyPr/>
                    <a:lstStyle/>
                    <a:p>
                      <a:pPr algn="ctr">
                        <a:defRPr sz="1250">
                          <a:solidFill>
                            <a:srgbClr val="0F172A"/>
                          </a:solidFill>
                          <a:latin typeface="Segoe UI"/>
                        </a:defRPr>
                      </a:pPr>
                      <a:r>
                        <a:t>3 Test Cases</a:t>
                      </a:r>
                    </a:p>
                  </a:txBody>
                  <a:tcPr anchor="ctr">
                    <a:solidFill>
                      <a:srgbClr val="F0F7FF"/>
                    </a:solidFill>
                  </a:tcPr>
                </a:tc>
                <a:tc>
                  <a:txBody>
                    <a:bodyPr/>
                    <a:lstStyle/>
                    <a:p>
                      <a:pPr>
                        <a:defRPr sz="1250">
                          <a:solidFill>
                            <a:srgbClr val="0F172A"/>
                          </a:solidFill>
                          <a:latin typeface="Segoe UI"/>
                        </a:defRPr>
                      </a:pPr>
                      <a:r>
                        <a:t>Kết nối song công WebSocket, Broadcast sự kiện tức thời, đồng bộ đa thiết bị</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r h="662939">
                <a:tc>
                  <a:txBody>
                    <a:bodyPr/>
                    <a:lstStyle/>
                    <a:p>
                      <a:pPr>
                        <a:defRPr sz="1250">
                          <a:solidFill>
                            <a:srgbClr val="0F172A"/>
                          </a:solidFill>
                          <a:latin typeface="Segoe UI"/>
                        </a:defRPr>
                      </a:pPr>
                      <a:r>
                        <a:t>test_crud &amp; supplier_crud.py</a:t>
                      </a:r>
                    </a:p>
                  </a:txBody>
                  <a:tcPr anchor="ctr">
                    <a:solidFill>
                      <a:srgbClr val="FFFFFF"/>
                    </a:solidFill>
                  </a:tcPr>
                </a:tc>
                <a:tc>
                  <a:txBody>
                    <a:bodyPr/>
                    <a:lstStyle/>
                    <a:p>
                      <a:pPr algn="ctr">
                        <a:defRPr sz="1250">
                          <a:solidFill>
                            <a:srgbClr val="0F172A"/>
                          </a:solidFill>
                          <a:latin typeface="Segoe UI"/>
                        </a:defRPr>
                      </a:pPr>
                      <a:r>
                        <a:t>2 Test Cases</a:t>
                      </a:r>
                    </a:p>
                  </a:txBody>
                  <a:tcPr anchor="ctr">
                    <a:solidFill>
                      <a:srgbClr val="FFFFFF"/>
                    </a:solidFill>
                  </a:tcPr>
                </a:tc>
                <a:tc>
                  <a:txBody>
                    <a:bodyPr/>
                    <a:lstStyle/>
                    <a:p>
                      <a:pPr>
                        <a:defRPr sz="1250">
                          <a:solidFill>
                            <a:srgbClr val="0F172A"/>
                          </a:solidFill>
                          <a:latin typeface="Segoe UI"/>
                        </a:defRPr>
                      </a:pPr>
                      <a:r>
                        <a:t>Vòng đời CRUD SKU vật tư &amp; Nhà cung cấp, kiểm tra toàn vẹn quan hệ khóa ngoại</a:t>
                      </a:r>
                    </a:p>
                  </a:txBody>
                  <a:tcPr anchor="ctr">
                    <a:solidFill>
                      <a:srgbClr val="FFFFFF"/>
                    </a:solidFill>
                  </a:tcPr>
                </a:tc>
                <a:tc>
                  <a:txBody>
                    <a:bodyPr/>
                    <a:lstStyle/>
                    <a:p>
                      <a:pPr algn="ctr">
                        <a:defRPr sz="1250" b="1">
                          <a:solidFill>
                            <a:srgbClr val="10B981"/>
                          </a:solidFill>
                          <a:latin typeface="Segoe UI"/>
                        </a:defRPr>
                      </a:pPr>
                      <a:r>
                        <a:t>✅ 100% PASSED</a:t>
                      </a:r>
                    </a:p>
                  </a:txBody>
                  <a:tcPr anchor="ctr">
                    <a:solidFill>
                      <a:srgbClr val="FFFFFF"/>
                    </a:solidFill>
                  </a:tcPr>
                </a:tc>
              </a:tr>
              <a:tr h="662944">
                <a:tc>
                  <a:txBody>
                    <a:bodyPr/>
                    <a:lstStyle/>
                    <a:p>
                      <a:pPr>
                        <a:defRPr sz="1250">
                          <a:solidFill>
                            <a:srgbClr val="0F172A"/>
                          </a:solidFill>
                          <a:latin typeface="Segoe UI"/>
                        </a:defRPr>
                      </a:pPr>
                      <a:r>
                        <a:t>test_endpoints.py</a:t>
                      </a:r>
                    </a:p>
                  </a:txBody>
                  <a:tcPr anchor="ctr">
                    <a:solidFill>
                      <a:srgbClr val="F0F7FF"/>
                    </a:solidFill>
                  </a:tcPr>
                </a:tc>
                <a:tc>
                  <a:txBody>
                    <a:bodyPr/>
                    <a:lstStyle/>
                    <a:p>
                      <a:pPr algn="ctr">
                        <a:defRPr sz="1250">
                          <a:solidFill>
                            <a:srgbClr val="0F172A"/>
                          </a:solidFill>
                          <a:latin typeface="Segoe UI"/>
                        </a:defRPr>
                      </a:pPr>
                      <a:r>
                        <a:t>1 Test Suite</a:t>
                      </a:r>
                    </a:p>
                  </a:txBody>
                  <a:tcPr anchor="ctr">
                    <a:solidFill>
                      <a:srgbClr val="F0F7FF"/>
                    </a:solidFill>
                  </a:tcPr>
                </a:tc>
                <a:tc>
                  <a:txBody>
                    <a:bodyPr/>
                    <a:lstStyle/>
                    <a:p>
                      <a:pPr>
                        <a:defRPr sz="1250">
                          <a:solidFill>
                            <a:srgbClr val="0F172A"/>
                          </a:solidFill>
                          <a:latin typeface="Segoe UI"/>
                        </a:defRPr>
                      </a:pPr>
                      <a:r>
                        <a:t>Kiểm thử Endpoints Dashboard, Master Data, Sổ Thẻ kho &amp; Xuất báo cáo Excel</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bl>
          </a:graphicData>
        </a:graphic>
      </p:graphicFrame>
      <p:sp>
        <p:nvSpPr>
          <p:cNvPr id="5" name="Rounded Rectangle 4"/>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TỔNG NGHIỆM THU: 16/16 TEST CASES PASSED HOÀN TOÀN (100%) TRONG ~40 GIÂY THỰC THI PYTEST!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PRODUCTION DEPLOYMENT</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Đóng Gói Triển Khai Docker &amp; Hỗ Trợ Truy Cập Đa Thiết Bị</a:t>
            </a:r>
          </a:p>
        </p:txBody>
      </p:sp>
      <p:sp>
        <p:nvSpPr>
          <p:cNvPr id="4" name="Rounded Rectangle 3"/>
          <p:cNvSpPr/>
          <p:nvPr/>
        </p:nvSpPr>
        <p:spPr>
          <a:xfrm>
            <a:off x="731520" y="1417320"/>
            <a:ext cx="2468880" cy="210312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1E3A8A"/>
                </a:solidFill>
                <a:latin typeface="Segoe UI"/>
              </a:defRPr>
            </a:pPr>
            <a:r>
              <a:t>GATEWAY (NGINX)</a:t>
            </a:r>
          </a:p>
          <a:p>
            <a:pPr algn="l">
              <a:spcBef>
                <a:spcPts val="300"/>
              </a:spcBef>
              <a:defRPr sz="1200" b="1">
                <a:solidFill>
                  <a:srgbClr val="0F172A"/>
                </a:solidFill>
                <a:latin typeface="Segoe UI"/>
              </a:defRPr>
            </a:pPr>
            <a:r>
              <a:t>Reverse Proxy Cổng Vào</a:t>
            </a:r>
          </a:p>
          <a:p>
            <a:pPr algn="l">
              <a:spcBef>
                <a:spcPts val="400"/>
              </a:spcBef>
              <a:defRPr sz="1150">
                <a:solidFill>
                  <a:srgbClr val="334155"/>
                </a:solidFill>
                <a:latin typeface="Segoe UI"/>
              </a:defRPr>
            </a:pPr>
            <a:r>
              <a:t>Lắng nghe Port 80 &amp; 443, cân bằng tải, định tuyến Web &amp; WebSocket</a:t>
            </a:r>
          </a:p>
        </p:txBody>
      </p:sp>
      <p:sp>
        <p:nvSpPr>
          <p:cNvPr id="5" name="Rounded Rectangle 4"/>
          <p:cNvSpPr/>
          <p:nvPr/>
        </p:nvSpPr>
        <p:spPr>
          <a:xfrm>
            <a:off x="3483864" y="1417320"/>
            <a:ext cx="2468880" cy="21031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2563EB"/>
                </a:solidFill>
                <a:latin typeface="Segoe UI"/>
              </a:defRPr>
            </a:pPr>
            <a:r>
              <a:t>BACKEND (FASTAPI)</a:t>
            </a:r>
          </a:p>
          <a:p>
            <a:pPr algn="l">
              <a:spcBef>
                <a:spcPts val="300"/>
              </a:spcBef>
              <a:defRPr sz="1200" b="1">
                <a:solidFill>
                  <a:srgbClr val="0F172A"/>
                </a:solidFill>
                <a:latin typeface="Segoe UI"/>
              </a:defRPr>
            </a:pPr>
            <a:r>
              <a:t>Máy Chủ Ứng Dụng</a:t>
            </a:r>
          </a:p>
          <a:p>
            <a:pPr algn="l">
              <a:spcBef>
                <a:spcPts val="400"/>
              </a:spcBef>
              <a:defRPr sz="1150">
                <a:solidFill>
                  <a:srgbClr val="334155"/>
                </a:solidFill>
                <a:latin typeface="Segoe UI"/>
              </a:defRPr>
            </a:pPr>
            <a:r>
              <a:t>Python 3.12, Uvicorn ASGI, xử lý nghiệp vụ ACID và điều phối AI</a:t>
            </a:r>
          </a:p>
        </p:txBody>
      </p:sp>
      <p:sp>
        <p:nvSpPr>
          <p:cNvPr id="6" name="Rounded Rectangle 5"/>
          <p:cNvSpPr/>
          <p:nvPr/>
        </p:nvSpPr>
        <p:spPr>
          <a:xfrm>
            <a:off x="6236208" y="1417320"/>
            <a:ext cx="2468880" cy="210312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0F2341"/>
                </a:solidFill>
                <a:latin typeface="Segoe UI"/>
              </a:defRPr>
            </a:pPr>
            <a:r>
              <a:t>DATABASE (POSTGRESQL)</a:t>
            </a:r>
          </a:p>
          <a:p>
            <a:pPr algn="l">
              <a:spcBef>
                <a:spcPts val="300"/>
              </a:spcBef>
              <a:defRPr sz="1200" b="1">
                <a:solidFill>
                  <a:srgbClr val="0F172A"/>
                </a:solidFill>
                <a:latin typeface="Segoe UI"/>
              </a:defRPr>
            </a:pPr>
            <a:r>
              <a:t>Cơ Sở Dữ Liệu Tập Trung</a:t>
            </a:r>
          </a:p>
          <a:p>
            <a:pPr algn="l">
              <a:spcBef>
                <a:spcPts val="400"/>
              </a:spcBef>
              <a:defRPr sz="1150">
                <a:solidFill>
                  <a:srgbClr val="334155"/>
                </a:solidFill>
                <a:latin typeface="Segoe UI"/>
              </a:defRPr>
            </a:pPr>
            <a:r>
              <a:t>PostgreSQL 15, lưu trữ volume bền bỉ postgres_data, ACID chuẩn</a:t>
            </a:r>
          </a:p>
        </p:txBody>
      </p:sp>
      <p:sp>
        <p:nvSpPr>
          <p:cNvPr id="7" name="Rounded Rectangle 6"/>
          <p:cNvSpPr/>
          <p:nvPr/>
        </p:nvSpPr>
        <p:spPr>
          <a:xfrm>
            <a:off x="8988552" y="1417320"/>
            <a:ext cx="2468880" cy="210312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06B6D4"/>
                </a:solidFill>
                <a:latin typeface="Segoe UI"/>
              </a:defRPr>
            </a:pPr>
            <a:r>
              <a:t>ADMIN TOOLS (PGADMIN)</a:t>
            </a:r>
          </a:p>
          <a:p>
            <a:pPr algn="l">
              <a:spcBef>
                <a:spcPts val="300"/>
              </a:spcBef>
              <a:defRPr sz="1200" b="1">
                <a:solidFill>
                  <a:srgbClr val="0F172A"/>
                </a:solidFill>
                <a:latin typeface="Segoe UI"/>
              </a:defRPr>
            </a:pPr>
            <a:r>
              <a:t>Quản Trị Trực Quan</a:t>
            </a:r>
          </a:p>
          <a:p>
            <a:pPr algn="l">
              <a:spcBef>
                <a:spcPts val="400"/>
              </a:spcBef>
              <a:defRPr sz="1150">
                <a:solidFill>
                  <a:srgbClr val="334155"/>
                </a:solidFill>
                <a:latin typeface="Segoe UI"/>
              </a:defRPr>
            </a:pPr>
            <a:r>
              <a:t>pgAdmin 4 tại cổng 5050 giúp quản trị viên tra cứu DB trực tiếp</a:t>
            </a:r>
          </a:p>
        </p:txBody>
      </p:sp>
      <p:sp>
        <p:nvSpPr>
          <p:cNvPr id="8" name="Rounded Rectangle 7"/>
          <p:cNvSpPr/>
          <p:nvPr/>
        </p:nvSpPr>
        <p:spPr>
          <a:xfrm>
            <a:off x="731520" y="3749039"/>
            <a:ext cx="10725912" cy="2606040"/>
          </a:xfrm>
          <a:prstGeom prst="roundRect">
            <a:avLst/>
          </a:prstGeom>
          <a:solidFill>
            <a:srgbClr val="0A192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01168"/>
          <a:lstStyle/>
          <a:p>
            <a:pPr algn="l">
              <a:defRPr sz="1500" b="1">
                <a:solidFill>
                  <a:srgbClr val="06B6D4"/>
                </a:solidFill>
                <a:latin typeface="Segoe UI"/>
              </a:defRPr>
            </a:pPr>
            <a:r>
              <a:t>🌐 HƯỚNG DẪN TRUY CẬP ĐA THIẾT BỊ TRONG MÔI TRƯỜNG DOANH NGHIỆP</a:t>
            </a:r>
          </a:p>
          <a:p>
            <a:pPr algn="l">
              <a:spcBef>
                <a:spcPts val="500"/>
              </a:spcBef>
              <a:defRPr sz="1300">
                <a:solidFill>
                  <a:srgbClr val="FFFFFF"/>
                </a:solidFill>
                <a:latin typeface="Segoe UI"/>
              </a:defRPr>
            </a:pPr>
            <a:r>
              <a:t>1. Truy cập từ Máy chủ (Localhost): http://localhost  |  HTTPS SSL: https://localhost</a:t>
            </a:r>
          </a:p>
          <a:p>
            <a:pPr algn="l">
              <a:spcBef>
                <a:spcPts val="500"/>
              </a:spcBef>
              <a:defRPr sz="1300">
                <a:solidFill>
                  <a:srgbClr val="FFFFFF"/>
                </a:solidFill>
                <a:latin typeface="Segoe UI"/>
              </a:defRPr>
            </a:pPr>
            <a:r>
              <a:t>2. Truy cập qua Tên miền Sản xuất: http://smartlogis-ai.com  |  HTTPS: https://smartlogis-ai.com</a:t>
            </a:r>
          </a:p>
          <a:p>
            <a:pPr algn="l">
              <a:spcBef>
                <a:spcPts val="500"/>
              </a:spcBef>
              <a:defRPr sz="1300">
                <a:solidFill>
                  <a:srgbClr val="FFFFFF"/>
                </a:solidFill>
                <a:latin typeface="Segoe UI"/>
              </a:defRPr>
            </a:pPr>
            <a:r>
              <a:t>3. Truy cập từ Thiết bị Di động (Mobile / Tablet cùng Wi-Fi): http://192.168.x.x (Thủ kho thao tác tại bãi)</a:t>
            </a:r>
          </a:p>
          <a:p>
            <a:pPr algn="l">
              <a:spcBef>
                <a:spcPts val="500"/>
              </a:spcBef>
              <a:defRPr sz="1300">
                <a:solidFill>
                  <a:srgbClr val="FFFFFF"/>
                </a:solidFill>
                <a:latin typeface="Segoe UI"/>
              </a:defRPr>
            </a:pPr>
            <a:r>
              <a:t>4. Công cụ Quản trị CSDL &amp; API Docs: http://localhost:5050 (pgAdmin 4)  |  http://localhost/docs (Swagger UI)</a:t>
            </a:r>
          </a:p>
          <a:p>
            <a:pPr algn="l">
              <a:spcBef>
                <a:spcPts val="500"/>
              </a:spcBef>
              <a:defRPr sz="1300">
                <a:solidFill>
                  <a:srgbClr val="FFFFFF"/>
                </a:solidFill>
                <a:latin typeface="Segoe UI"/>
              </a:defRPr>
            </a:pPr>
            <a:r>
              <a:t>🚀 Khởi chạy tự động 1-Click: Chạy file `run_server.bat` (Windows) hoặc `start.sh` (Linux) tự cấu hình từ A-Z!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LIVE DEMONSTRATION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Kịch Bản Live Demo Thực Chiến 5 Phút Thuyết Phục Hội Đồng</a:t>
            </a:r>
          </a:p>
        </p:txBody>
      </p:sp>
      <p:graphicFrame>
        <p:nvGraphicFramePr>
          <p:cNvPr id="4" name="Table 3"/>
          <p:cNvGraphicFramePr>
            <a:graphicFrameLocks noGrp="1"/>
          </p:cNvGraphicFramePr>
          <p:nvPr/>
        </p:nvGraphicFramePr>
        <p:xfrm>
          <a:off x="731520" y="1417320"/>
          <a:ext cx="10725912" cy="4937760"/>
        </p:xfrm>
        <a:graphic>
          <a:graphicData uri="http://schemas.openxmlformats.org/drawingml/2006/table">
            <a:tbl>
              <a:tblPr firstRow="1" bandRow="1">
                <a:tableStyleId>{5C22544A-7EE6-4342-B048-85BDC9FD1C3A}</a:tableStyleId>
              </a:tblPr>
              <a:tblGrid>
                <a:gridCol w="1828800"/>
                <a:gridCol w="4114800"/>
                <a:gridCol w="4782312"/>
              </a:tblGrid>
              <a:tr h="822960">
                <a:tc>
                  <a:txBody>
                    <a:bodyPr/>
                    <a:lstStyle/>
                    <a:p>
                      <a:pPr algn="ctr">
                        <a:defRPr sz="1300" b="1">
                          <a:solidFill>
                            <a:srgbClr val="FFFFFF"/>
                          </a:solidFill>
                          <a:latin typeface="Segoe UI"/>
                        </a:defRPr>
                      </a:pPr>
                      <a:r>
                        <a:t>THỜI GIAN</a:t>
                      </a:r>
                    </a:p>
                  </a:txBody>
                  <a:tcPr anchor="ctr">
                    <a:solidFill>
                      <a:srgbClr val="1E3A8A"/>
                    </a:solidFill>
                  </a:tcPr>
                </a:tc>
                <a:tc>
                  <a:txBody>
                    <a:bodyPr/>
                    <a:lstStyle/>
                    <a:p>
                      <a:pPr algn="l">
                        <a:defRPr sz="1300" b="1">
                          <a:solidFill>
                            <a:srgbClr val="FFFFFF"/>
                          </a:solidFill>
                          <a:latin typeface="Segoe UI"/>
                        </a:defRPr>
                      </a:pPr>
                      <a:r>
                        <a:t>THAO TÁC THỰC HIỆN TRÊN HỆ THỐNG</a:t>
                      </a:r>
                    </a:p>
                  </a:txBody>
                  <a:tcPr anchor="ctr">
                    <a:solidFill>
                      <a:srgbClr val="1E3A8A"/>
                    </a:solidFill>
                  </a:tcPr>
                </a:tc>
                <a:tc>
                  <a:txBody>
                    <a:bodyPr/>
                    <a:lstStyle/>
                    <a:p>
                      <a:pPr algn="l">
                        <a:defRPr sz="1300" b="1">
                          <a:solidFill>
                            <a:srgbClr val="FFFFFF"/>
                          </a:solidFill>
                          <a:latin typeface="Segoe UI"/>
                        </a:defRPr>
                      </a:pPr>
                      <a:r>
                        <a:t>MỤC TIÊU &amp; KẾT QUẢ KỲ VỌNG</a:t>
                      </a:r>
                    </a:p>
                  </a:txBody>
                  <a:tcPr anchor="ctr">
                    <a:solidFill>
                      <a:srgbClr val="1E3A8A"/>
                    </a:solidFill>
                  </a:tcPr>
                </a:tc>
              </a:tr>
              <a:tr h="822960">
                <a:tc>
                  <a:txBody>
                    <a:bodyPr/>
                    <a:lstStyle/>
                    <a:p>
                      <a:pPr algn="ctr">
                        <a:defRPr sz="1300" b="1">
                          <a:solidFill>
                            <a:srgbClr val="2563EB"/>
                          </a:solidFill>
                          <a:latin typeface="Segoe UI"/>
                        </a:defRPr>
                      </a:pPr>
                      <a:r>
                        <a:t>Phút 1</a:t>
                      </a:r>
                    </a:p>
                  </a:txBody>
                  <a:tcPr anchor="ctr">
                    <a:solidFill>
                      <a:srgbClr val="F0F7FF"/>
                    </a:solidFill>
                  </a:tcPr>
                </a:tc>
                <a:tc>
                  <a:txBody>
                    <a:bodyPr/>
                    <a:lstStyle/>
                    <a:p>
                      <a:pPr>
                        <a:defRPr sz="1300">
                          <a:solidFill>
                            <a:srgbClr val="0F172A"/>
                          </a:solidFill>
                          <a:latin typeface="Segoe UI"/>
                        </a:defRPr>
                      </a:pPr>
                      <a:r>
                        <a:t>Đăng nhập Thủ kho (`thukho`) &amp; Nhân viên (`nhanvien`)</a:t>
                      </a:r>
                    </a:p>
                  </a:txBody>
                  <a:tcPr anchor="ctr">
                    <a:solidFill>
                      <a:srgbClr val="F0F7FF"/>
                    </a:solidFill>
                  </a:tcPr>
                </a:tc>
                <a:tc>
                  <a:txBody>
                    <a:bodyPr/>
                    <a:lstStyle/>
                    <a:p>
                      <a:pPr>
                        <a:defRPr sz="1300">
                          <a:solidFill>
                            <a:srgbClr val="0F172A"/>
                          </a:solidFill>
                          <a:latin typeface="Segoe UI"/>
                        </a:defRPr>
                      </a:pPr>
                      <a:r>
                        <a:t>So sánh giao diện RBAC: Thủ kho có nút Lập phiếu/Báo cáo; Nhân viên chỉ xem tra cứu</a:t>
                      </a:r>
                    </a:p>
                  </a:txBody>
                  <a:tcPr anchor="ctr">
                    <a:solidFill>
                      <a:srgbClr val="F0F7FF"/>
                    </a:solidFill>
                  </a:tcPr>
                </a:tc>
              </a:tr>
              <a:tr h="822960">
                <a:tc>
                  <a:txBody>
                    <a:bodyPr/>
                    <a:lstStyle/>
                    <a:p>
                      <a:pPr algn="ctr">
                        <a:defRPr sz="1300" b="1">
                          <a:solidFill>
                            <a:srgbClr val="2563EB"/>
                          </a:solidFill>
                          <a:latin typeface="Segoe UI"/>
                        </a:defRPr>
                      </a:pPr>
                      <a:r>
                        <a:t>Phút 2</a:t>
                      </a:r>
                    </a:p>
                  </a:txBody>
                  <a:tcPr anchor="ctr">
                    <a:solidFill>
                      <a:srgbClr val="FFFFFF"/>
                    </a:solidFill>
                  </a:tcPr>
                </a:tc>
                <a:tc>
                  <a:txBody>
                    <a:bodyPr/>
                    <a:lstStyle/>
                    <a:p>
                      <a:pPr>
                        <a:defRPr sz="1300">
                          <a:solidFill>
                            <a:srgbClr val="0F172A"/>
                          </a:solidFill>
                          <a:latin typeface="Segoe UI"/>
                        </a:defRPr>
                      </a:pPr>
                      <a:r>
                        <a:t>Bấm nút 'Báo Cáo 3 Phần' trên AI Widget</a:t>
                      </a:r>
                    </a:p>
                  </a:txBody>
                  <a:tcPr anchor="ctr">
                    <a:solidFill>
                      <a:srgbClr val="FFFFFF"/>
                    </a:solidFill>
                  </a:tcPr>
                </a:tc>
                <a:tc>
                  <a:txBody>
                    <a:bodyPr/>
                    <a:lstStyle/>
                    <a:p>
                      <a:pPr>
                        <a:defRPr sz="1300">
                          <a:solidFill>
                            <a:srgbClr val="0F172A"/>
                          </a:solidFill>
                          <a:latin typeface="Segoe UI"/>
                        </a:defRPr>
                      </a:pPr>
                      <a:r>
                        <a:t>Google Gemini Live API phân tích Burn-rate, đề xuất nhập hàng và cảnh báo Dead stock</a:t>
                      </a:r>
                    </a:p>
                  </a:txBody>
                  <a:tcPr anchor="ctr">
                    <a:solidFill>
                      <a:srgbClr val="FFFFFF"/>
                    </a:solidFill>
                  </a:tcPr>
                </a:tc>
              </a:tr>
              <a:tr h="822960">
                <a:tc>
                  <a:txBody>
                    <a:bodyPr/>
                    <a:lstStyle/>
                    <a:p>
                      <a:pPr algn="ctr">
                        <a:defRPr sz="1300" b="1">
                          <a:solidFill>
                            <a:srgbClr val="2563EB"/>
                          </a:solidFill>
                          <a:latin typeface="Segoe UI"/>
                        </a:defRPr>
                      </a:pPr>
                      <a:r>
                        <a:t>Phút 3</a:t>
                      </a:r>
                    </a:p>
                  </a:txBody>
                  <a:tcPr anchor="ctr">
                    <a:solidFill>
                      <a:srgbClr val="F0F7FF"/>
                    </a:solidFill>
                  </a:tcPr>
                </a:tc>
                <a:tc>
                  <a:txBody>
                    <a:bodyPr/>
                    <a:lstStyle/>
                    <a:p>
                      <a:pPr>
                        <a:defRPr sz="1300">
                          <a:solidFill>
                            <a:srgbClr val="0F172A"/>
                          </a:solidFill>
                          <a:latin typeface="Segoe UI"/>
                        </a:defRPr>
                      </a:pPr>
                      <a:r>
                        <a:t>Thử nghiệm xuất vượt tồn kho Thép D10</a:t>
                      </a:r>
                    </a:p>
                  </a:txBody>
                  <a:tcPr anchor="ctr">
                    <a:solidFill>
                      <a:srgbClr val="F0F7FF"/>
                    </a:solidFill>
                  </a:tcPr>
                </a:tc>
                <a:tc>
                  <a:txBody>
                    <a:bodyPr/>
                    <a:lstStyle/>
                    <a:p>
                      <a:pPr>
                        <a:defRPr sz="1300">
                          <a:solidFill>
                            <a:srgbClr val="0F172A"/>
                          </a:solidFill>
                          <a:latin typeface="Segoe UI"/>
                        </a:defRPr>
                      </a:pPr>
                      <a:r>
                        <a:t>Giao diện cảnh báo đỏ; Backend từ chối với mã lỗi 400 Bad Request chống tồn âm</a:t>
                      </a:r>
                    </a:p>
                  </a:txBody>
                  <a:tcPr anchor="ctr">
                    <a:solidFill>
                      <a:srgbClr val="F0F7FF"/>
                    </a:solidFill>
                  </a:tcPr>
                </a:tc>
              </a:tr>
              <a:tr h="822960">
                <a:tc>
                  <a:txBody>
                    <a:bodyPr/>
                    <a:lstStyle/>
                    <a:p>
                      <a:pPr algn="ctr">
                        <a:defRPr sz="1300" b="1">
                          <a:solidFill>
                            <a:srgbClr val="2563EB"/>
                          </a:solidFill>
                          <a:latin typeface="Segoe UI"/>
                        </a:defRPr>
                      </a:pPr>
                      <a:r>
                        <a:t>Phút 4</a:t>
                      </a:r>
                    </a:p>
                  </a:txBody>
                  <a:tcPr anchor="ctr">
                    <a:solidFill>
                      <a:srgbClr val="FFFFFF"/>
                    </a:solidFill>
                  </a:tcPr>
                </a:tc>
                <a:tc>
                  <a:txBody>
                    <a:bodyPr/>
                    <a:lstStyle/>
                    <a:p>
                      <a:pPr>
                        <a:defRPr sz="1300">
                          <a:solidFill>
                            <a:srgbClr val="0F172A"/>
                          </a:solidFill>
                          <a:latin typeface="Segoe UI"/>
                        </a:defRPr>
                      </a:pPr>
                      <a:r>
                        <a:t>Lập phiếu nhập kho &amp; Tra cứu Thẻ kho</a:t>
                      </a:r>
                    </a:p>
                  </a:txBody>
                  <a:tcPr anchor="ctr">
                    <a:solidFill>
                      <a:srgbClr val="FFFFFF"/>
                    </a:solidFill>
                  </a:tcPr>
                </a:tc>
                <a:tc>
                  <a:txBody>
                    <a:bodyPr/>
                    <a:lstStyle/>
                    <a:p>
                      <a:pPr>
                        <a:defRPr sz="1300">
                          <a:solidFill>
                            <a:srgbClr val="0F172A"/>
                          </a:solidFill>
                          <a:latin typeface="Segoe UI"/>
                        </a:defRPr>
                      </a:pPr>
                      <a:r>
                        <a:t>Giao dịch Master-Detail thành công; Sổ Thẻ kho tự động cập nhật số dư lũy kế</a:t>
                      </a:r>
                    </a:p>
                  </a:txBody>
                  <a:tcPr anchor="ctr">
                    <a:solidFill>
                      <a:srgbClr val="FFFFFF"/>
                    </a:solidFill>
                  </a:tcPr>
                </a:tc>
              </a:tr>
              <a:tr h="822960">
                <a:tc>
                  <a:txBody>
                    <a:bodyPr/>
                    <a:lstStyle/>
                    <a:p>
                      <a:pPr algn="ctr">
                        <a:defRPr sz="1300" b="1">
                          <a:solidFill>
                            <a:srgbClr val="2563EB"/>
                          </a:solidFill>
                          <a:latin typeface="Segoe UI"/>
                        </a:defRPr>
                      </a:pPr>
                      <a:r>
                        <a:t>Phút 5</a:t>
                      </a:r>
                    </a:p>
                  </a:txBody>
                  <a:tcPr anchor="ctr">
                    <a:solidFill>
                      <a:srgbClr val="F0F7FF"/>
                    </a:solidFill>
                  </a:tcPr>
                </a:tc>
                <a:tc>
                  <a:txBody>
                    <a:bodyPr/>
                    <a:lstStyle/>
                    <a:p>
                      <a:pPr>
                        <a:defRPr sz="1300">
                          <a:solidFill>
                            <a:srgbClr val="0F172A"/>
                          </a:solidFill>
                          <a:latin typeface="Segoe UI"/>
                        </a:defRPr>
                      </a:pPr>
                      <a:r>
                        <a:t>Mở Swagger UI gọi API `/raw-context`</a:t>
                      </a:r>
                    </a:p>
                  </a:txBody>
                  <a:tcPr anchor="ctr">
                    <a:solidFill>
                      <a:srgbClr val="F0F7FF"/>
                    </a:solidFill>
                  </a:tcPr>
                </a:tc>
                <a:tc>
                  <a:txBody>
                    <a:bodyPr/>
                    <a:lstStyle/>
                    <a:p>
                      <a:pPr>
                        <a:defRPr sz="1300">
                          <a:solidFill>
                            <a:srgbClr val="0F172A"/>
                          </a:solidFill>
                          <a:latin typeface="Segoe UI"/>
                        </a:defRPr>
                      </a:pPr>
                      <a:r>
                        <a:t>Thanh tra minh bạch: Chứng minh 100% dữ liệu nạp cho AI không chứa giá vốn</a:t>
                      </a:r>
                    </a:p>
                  </a:txBody>
                  <a:tcPr anchor="ctr">
                    <a:solidFill>
                      <a:srgbClr val="F0F7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2286000" cy="347472"/>
          </a:xfrm>
          <a:prstGeom prst="roundRect">
            <a:avLst/>
          </a:prstGeom>
          <a:solidFill>
            <a:srgbClr val="2563EB"/>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CONCLUSION &amp; ROADMAP</a:t>
            </a:r>
          </a:p>
        </p:txBody>
      </p:sp>
      <p:sp>
        <p:nvSpPr>
          <p:cNvPr id="4" name="TextBox 3"/>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FFFFFF"/>
                </a:solidFill>
                <a:latin typeface="Segoe UI"/>
              </a:defRPr>
            </a:pPr>
            <a:r>
              <a:t>Kết Luận, Giá Trị Doanh Nghiệp &amp; Hướng Phát Triển</a:t>
            </a:r>
          </a:p>
        </p:txBody>
      </p:sp>
      <p:sp>
        <p:nvSpPr>
          <p:cNvPr id="5" name="Rounded Rectangle 4"/>
          <p:cNvSpPr/>
          <p:nvPr/>
        </p:nvSpPr>
        <p:spPr>
          <a:xfrm>
            <a:off x="731520" y="1417320"/>
            <a:ext cx="5212080" cy="3886200"/>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06B6D4"/>
                </a:solidFill>
                <a:latin typeface="Segoe UI"/>
              </a:defRPr>
            </a:pPr>
            <a:r>
              <a:t>🏆 THÀNH TỰU NỔI BẬT ĐÃ ĐẠT ĐƯỢC</a:t>
            </a:r>
          </a:p>
          <a:p>
            <a:pPr algn="l">
              <a:spcBef>
                <a:spcPts val="700"/>
              </a:spcBef>
              <a:defRPr sz="1300">
                <a:solidFill>
                  <a:srgbClr val="FFFFFF"/>
                </a:solidFill>
                <a:latin typeface="Segoe UI"/>
              </a:defRPr>
            </a:pPr>
            <a:r>
              <a:t>• 100% Zero Negative Stock: Triệt tiêu hoàn toàn rủi ro tồn âm và Lost Update.</a:t>
            </a:r>
          </a:p>
          <a:p>
            <a:pPr algn="l">
              <a:spcBef>
                <a:spcPts val="700"/>
              </a:spcBef>
              <a:defRPr sz="1300">
                <a:solidFill>
                  <a:srgbClr val="FFFFFF"/>
                </a:solidFill>
                <a:latin typeface="Segoe UI"/>
              </a:defRPr>
            </a:pPr>
            <a:r>
              <a:t>• Trợ lý AI Gemini Thực Chiến: Cảnh báo Burn-rate &amp; đề xuất nhập kho thông minh.</a:t>
            </a:r>
          </a:p>
          <a:p>
            <a:pPr algn="l">
              <a:spcBef>
                <a:spcPts val="700"/>
              </a:spcBef>
              <a:defRPr sz="1300">
                <a:solidFill>
                  <a:srgbClr val="FFFFFF"/>
                </a:solidFill>
                <a:latin typeface="Segoe UI"/>
              </a:defRPr>
            </a:pPr>
            <a:r>
              <a:t>• Bảo Mật Cấp Doanh Nghiệp: Khử 100% giá vốn nhạy cảm, phân quyền RBAC 3 vai trò.</a:t>
            </a:r>
          </a:p>
          <a:p>
            <a:pPr algn="l">
              <a:spcBef>
                <a:spcPts val="700"/>
              </a:spcBef>
              <a:defRPr sz="1300">
                <a:solidFill>
                  <a:srgbClr val="FFFFFF"/>
                </a:solidFill>
                <a:latin typeface="Segoe UI"/>
              </a:defRPr>
            </a:pPr>
            <a:r>
              <a:t>• Chất Lượng Xuất Xưởng: 16/16 Test Cases passed, CSDL MySQL 8.0 &amp; SQLite WAL sẵn sàng.</a:t>
            </a:r>
          </a:p>
        </p:txBody>
      </p:sp>
      <p:sp>
        <p:nvSpPr>
          <p:cNvPr id="6" name="Rounded Rectangle 5"/>
          <p:cNvSpPr/>
          <p:nvPr/>
        </p:nvSpPr>
        <p:spPr>
          <a:xfrm>
            <a:off x="6245352" y="1417320"/>
            <a:ext cx="5212080" cy="3886200"/>
          </a:xfrm>
          <a:prstGeom prst="roundRect">
            <a:avLst/>
          </a:prstGeom>
          <a:solidFill>
            <a:srgbClr val="142A4D"/>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06B6D4"/>
                </a:solidFill>
                <a:latin typeface="Segoe UI"/>
              </a:defRPr>
            </a:pPr>
            <a:r>
              <a:t>🚀 ĐỊNH HƯỚNG MỞ RỘNG TƯƠNG LAI</a:t>
            </a:r>
          </a:p>
          <a:p>
            <a:pPr algn="l">
              <a:spcBef>
                <a:spcPts val="700"/>
              </a:spcBef>
              <a:defRPr sz="1300">
                <a:solidFill>
                  <a:srgbClr val="FFFFFF"/>
                </a:solidFill>
                <a:latin typeface="Segoe UI"/>
              </a:defRPr>
            </a:pPr>
            <a:r>
              <a:t>• Dự Báo Nhu Cầu Nâng Cao: Tích hợp mô hình chuỗi thời gian ARIMA / Prophet.</a:t>
            </a:r>
          </a:p>
          <a:p>
            <a:pPr algn="l">
              <a:spcBef>
                <a:spcPts val="700"/>
              </a:spcBef>
              <a:defRPr sz="1300">
                <a:solidFill>
                  <a:srgbClr val="FFFFFF"/>
                </a:solidFill>
                <a:latin typeface="Segoe UI"/>
              </a:defRPr>
            </a:pPr>
            <a:r>
              <a:t>• Smart Bin Location: Bản đồ kho 2D/3D tối ưu hóa đường đi lấy hàng cho xe nâng.</a:t>
            </a:r>
          </a:p>
          <a:p>
            <a:pPr algn="l">
              <a:spcBef>
                <a:spcPts val="700"/>
              </a:spcBef>
              <a:defRPr sz="1300">
                <a:solidFill>
                  <a:srgbClr val="FFFFFF"/>
                </a:solidFill>
                <a:latin typeface="Segoe UI"/>
              </a:defRPr>
            </a:pPr>
            <a:r>
              <a:t>• Mobile Barcode App: Ứng dụng di động quét mã QR kiểm hàng nhanh ngoài hiện trường.</a:t>
            </a:r>
          </a:p>
          <a:p>
            <a:pPr algn="l">
              <a:spcBef>
                <a:spcPts val="700"/>
              </a:spcBef>
              <a:defRPr sz="1300">
                <a:solidFill>
                  <a:srgbClr val="FFFFFF"/>
                </a:solidFill>
                <a:latin typeface="Segoe UI"/>
              </a:defRPr>
            </a:pPr>
            <a:r>
              <a:t>• Tích Hợp ERP Doanh Nghiệp: Kết nối API đồng bộ với SAP, Odoo, Fast Accounting.</a:t>
            </a:r>
          </a:p>
        </p:txBody>
      </p:sp>
      <p:sp>
        <p:nvSpPr>
          <p:cNvPr id="7" name="Rounded Rectangle 6"/>
          <p:cNvSpPr/>
          <p:nvPr/>
        </p:nvSpPr>
        <p:spPr>
          <a:xfrm>
            <a:off x="731520" y="5532120"/>
            <a:ext cx="10725912" cy="868680"/>
          </a:xfrm>
          <a:prstGeom prst="roundRect">
            <a:avLst/>
          </a:prstGeom>
          <a:solidFill>
            <a:srgbClr val="1E3A8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Segoe UI"/>
              </a:defRPr>
            </a:pPr>
            <a:r>
              <a:t>🌟 TRÂN TRỌNG CẢM ƠN QUÝ THẦY/CÔ TRONG HỘI ĐỒNG ĐÃ CHÚ Ý LẮNG NGHE!</a:t>
            </a:r>
          </a:p>
          <a:p>
            <a:pPr algn="ctr">
              <a:spcBef>
                <a:spcPts val="400"/>
              </a:spcBef>
              <a:defRPr sz="1300">
                <a:solidFill>
                  <a:srgbClr val="06B6D4"/>
                </a:solidFill>
                <a:latin typeface="Segoe UI"/>
              </a:defRPr>
            </a:pPr>
            <a:r>
              <a:t>Nhóm nghiên cứu xin sẵn sàng tiếp thu ý kiến và trả lời các câu hỏi phản biện từ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