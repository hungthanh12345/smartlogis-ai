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60 giây</a:t>
            </a:r>
          </a:p>
          <a:p>
            <a:r>
              <a:t>Kính thưa Quý Thầy/Cô trong Hội đồng Đánh giá Đồ án Tốt nghiệp Kỹ thuật Phần mềm Khóa K23A!</a:t>
            </a:r>
          </a:p>
          <a:p>
            <a:r>
              <a:t>Hôm nay, nhóm chúng em gồm 02 thành viên: Nguyễn Thành Hưng đảm nhiệm vai trò Product Owner kiêm Lead Fullstack Developer và Hoàng Tiến Đạt đảm nhiệm vai trò Scrum Master kiêm Database Architect &amp; AI/QA Engineer, xin trân trọng báo cáo đề tài: 'Hệ Thống Quản Lý Kho Thông Minh Tích Hợp Trí Tuệ Nhân Tạo &amp; Bảo Toàn Giao Dịch ACID (SmartLogis AI)'.</a:t>
            </a:r>
          </a:p>
          <a:p>
            <a:r>
              <a:t>Đề tài tập trung giải quyết hai bài toán kỹ thuật cốt lõi: Bảo toàn tính nhất quán tuyệt đối của dữ liệu kho với giải thuật Atomic SQL Decrement, và ứng dụng Trí tuệ nhân tạo Google Gemini nhằm tự động hóa công tác cảnh báo, điều phối chuỗi cung ứng nhưng vẫn bảo vệ tuyệt đối bí mật kinh doanh.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75 giây</a:t>
            </a:r>
          </a:p>
          <a:p>
            <a:r>
              <a:t>Kính thưa Thầy/Cô, qua khảo sát thực tế tại các kho vật tư xây dựng, nhóm nghiên cứu đã tổng hợp được 4 thách thức kỹ thuật lớn nhất:</a:t>
            </a:r>
          </a:p>
          <a:p>
            <a:r>
              <a:t>1. Lỗi tồn kho âm: Xảy ra khi nhiều thủ kho thao tác đồng thời. Do ứng dụng đọc tồn kho lên bộ nhớ Python rồi mới trừ, dẫn đến hiện tượng Lost Update kinh điển trong hệ quản trị CSDL.</a:t>
            </a:r>
          </a:p>
          <a:p>
            <a:r>
              <a:t>2. Đứt gãy nguồn cung: Doanh nghiệp không có công cụ tính toán tốc độ tiêu thụ hàng ngày (Burn-rate), chỉ khi hàng hết kiệt mới đặt mua, gây chậm tiến độ thi công.</a:t>
            </a:r>
          </a:p>
          <a:p>
            <a:r>
              <a:t>3. Hàng ứ đọng (Dead Stock): Thiếu cơ chế theo dõi tự động các SKU nằm kho trên 60 ngày không luân chuyển, gây đọng vốn.</a:t>
            </a:r>
          </a:p>
          <a:p>
            <a:r>
              <a:t>4. Nguy cơ lộ giá vốn: Khi ứng dụng Trí tuệ Nhân tạo đám mây, nếu nạp toàn bộ dữ liệu kế toán thô gồm đơn giá mua và chiết khấu sang LLM của bên thứ ba, bí mật thương mại sẽ bị đe dọa.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70 giây</a:t>
            </a:r>
          </a:p>
          <a:p>
            <a:r>
              <a:t>Từ 4 bài toán thực tế, nhóm nghiên cứu xác lập 3 trụ cột kỹ thuật trọng tâm:</a:t>
            </a:r>
          </a:p>
          <a:p>
            <a:r>
              <a:t>Thứ nhất: Triệt tiêu hoàn toàn rủi ro tồn âm bằng cơ chế kiểm soát 2 tầng: Tầng ứng dụng thực thi Atomic SQL Decrement kết hợp Tầng CSDL ràng buộc CheckConstraint phần cứng.</a:t>
            </a:r>
          </a:p>
          <a:p>
            <a:r>
              <a:t>Thứ hai: Xây dựng Trợ lý AI trên nền tảng Google Gemini để tự động tính toán Burn-rate tiêu thụ và xuất báo cáo 3 phần, hỗ trợ ban lãnh đạo ra quyết định nhập hàng kịp thời.</a:t>
            </a:r>
          </a:p>
          <a:p>
            <a:r>
              <a:t>Thứ ba: Thiết lập cơ chế bảo mật kép với Data Sanitizer lọc sạch 100% giá vốn nhạy cảm trước khi nạp context, và dự phòng Local Grounded Fallback Engine giúp hệ thống vận hành liên tục ngay cả khi mất mạng.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75 giây</a:t>
            </a:r>
          </a:p>
          <a:p>
            <a:r>
              <a:t>Về mặt kiến trúc, SmartLogis AI được thiết kế theo mô hình phân tầng chặt chẽ (Separation of Concerns):</a:t>
            </a:r>
          </a:p>
          <a:p>
            <a:r>
              <a:t>- Tầng Presentation: Kết hợp Jinja2 Server-Side Rendering tối ưu thời gian tải trang ban đầu và WebSocket Client cập nhật thời gian thực không cần reload trang.</a:t>
            </a:r>
          </a:p>
          <a:p>
            <a:r>
              <a:t>- Tầng Security: Sử dụng JWT lưu trong Cookie HTTPOnly chống tấn công XSS. Điểm đặc biệt là cơ chế Tab Session Isolation qua header X-Session-User, ngăn chặn lỗi nhầm lẫn tài khoản khi mở nhiều tab.</a:t>
            </a:r>
          </a:p>
          <a:p>
            <a:r>
              <a:t>- Tầng Nghiệp vụ: Chứa đựng các Service điều phối giao dịch ACID và phân hệ AI độc lập.</a:t>
            </a:r>
          </a:p>
          <a:p>
            <a:r>
              <a:t>- Tầng CSDL: Sử dụng kiến trúc Dual-Database linh hoạt: SQLite WAL cho môi trường kiểm thử cục bộ và PostgreSQL 15 cho môi trường sản xuất, được tối ưu với 8 B-Tree Indexes.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75 giây</a:t>
            </a:r>
          </a:p>
          <a:p>
            <a:r>
              <a:t>Cơ sở dữ liệu của SmartLogis AI gồm 11 bảng thực thể đạt chuẩn 3NF:</a:t>
            </a:r>
          </a:p>
          <a:p>
            <a:r>
              <a:t>1. Tách biệt rõ ràng: Bảng 'ton_kho' quản lý số dư khả dụng tức thời có quan hệ 1-1 với 'hang_hoa', trong khi 'the_kho' đóng vai trò sổ cái kế toán bất biến ghi nhận mọi biến động xuất nhập.</a:t>
            </a:r>
          </a:p>
          <a:p>
            <a:r>
              <a:t>2. Ràng buộc phần cứng: Bên cạnh kiểm tra ở tầng code, chúng em áp dụng CheckConstraint phần cứng cấp CSDL (SoLuongTon &gt;= 0 và TonSauGiaoDich &gt;= 0). Dù có ai can thiệp trực tiếp vào database thì cũng không thể ghi nhận số dư âm.</a:t>
            </a:r>
          </a:p>
          <a:p>
            <a:r>
              <a:t>3. Tối ưu hóa truy vấn: Thiết lập 8 B-Tree Indexes chiến lược trên các trường khóa ngoại và mốc thời gian, giúp truy vấn báo cáo luân chuyển 30 ngày đạt tốc độ phản hồi dưới 5ms.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80 giây</a:t>
            </a:r>
          </a:p>
          <a:p>
            <a:r>
              <a:t>Đây là điểm sáng kỹ thuật quan trọng nhất về mặt toàn vẹn dữ liệu của đồ án:</a:t>
            </a:r>
          </a:p>
          <a:p>
            <a:r>
              <a:t>- Ở cách làm thông thường, lập trình viên hay select tồn kho ra một biến Python, kiểm tra 'if ton &gt;= xuat', rồi mới trừ và lưu lại. Khi có hai giao dịch đồng thời cùng đọc tồn kho là 10 và mỗi bên yêu cầu xuất 8, cả hai bên đều thấy đủ hàng và cùng thực thi, dẫn đến tổng xuất là 16 trong khi kho chỉ có 10!</a:t>
            </a:r>
          </a:p>
          <a:p>
            <a:r>
              <a:t>- SmartLogis AI giải quyết triệt để vấn đề này bằng Atomic SQL Decrement: Chúng em đưa điều kiện 'WHERE SoLuongTon &gt;= :so_luong_xuat' vào trực tiếp câu lệnh UPDATE. CSDL sẽ khóa dòng và thực thi kiểm tra - trừ tồn trong đúng một thao tác nguyên tử.</a:t>
            </a:r>
          </a:p>
          <a:p>
            <a:r>
              <a:t>- Nếu một bên tranh chấp trước làm số lượng còn lại không đủ, CSDL trả về 'rowcount == 0'. Backend bắt được tín hiệu này sẽ lập tức gọi db.rollback() và trả về HTTP 400 báo lỗi rõ ràng.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70 giây</a:t>
            </a:r>
          </a:p>
          <a:p>
            <a:r>
              <a:t>Về quy trình vận hành và kiểm soát truy cập:</a:t>
            </a:r>
          </a:p>
          <a:p>
            <a:r>
              <a:t>1. Chu trình giao dịch ACID 4 bước: Từ tạo Header chứng từ, lưu Detail các SKU, thực thi Atomic Decrement tồn kho, đến ghi nhận biến động Thẻ kho. Tất cả gói gọn trong một Database Transaction. Nếu một SKU bị thiếu hàng, toàn bộ phiếu xuất bị rollback về trạng thái ban đầu, không bao giờ có chuyện xuất dở dang một phần.</a:t>
            </a:r>
          </a:p>
          <a:p>
            <a:r>
              <a:t>2. Phân quyền RBAC 3 vai trò: Admin nắm toàn quyền; Thủ kho kiêm Kế toán có đầy đủ thẩm quyền vận hành chứng từ và trích xuất báo cáo kế toán; còn Nhân viên kho chỉ có quyền tra cứu (Read-only) để phục vụ kiểm đếm hiện trường và bị chặn hoàn toàn các thao tác ghi dữ liệu từ tầng Backend.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75 giây</a:t>
            </a:r>
          </a:p>
          <a:p>
            <a:r>
              <a:t>Khi đưa Trí tuệ Nhân tạo đám mây vào doanh nghiệp, thách thức bảo mật lớn nhất là bảo vệ bí mật kinh doanh:</a:t>
            </a:r>
          </a:p>
          <a:p>
            <a:r>
              <a:t>- Module Data Sanitizer đóng vai trò một màng lọc bảo mật trung gian. Trước khi bất kỳ tập context nào được gửi sang Google Gemini API, thuật toán quét đệ quy sẽ rà soát và loại bỏ toàn bộ các trường tài chính: đơn giá nhập, thành tiền, giá vốn và chiết khấu.</a:t>
            </a:r>
          </a:p>
          <a:p>
            <a:r>
              <a:t>- Tập dữ liệu cung cấp cho AI thuần túy là các chỉ số vận hành vật lý: số lượng tồn, ngưỡng tồn tối thiểu, tốc độ xuất bình quân ngày (Burn-rate) và số ngày nằm kho.</a:t>
            </a:r>
          </a:p>
          <a:p>
            <a:r>
              <a:t>- Tính minh bạch này có thể được kiểm chứng tức thời thông qua API GET /api/v1/ai/raw-context trong phần demo.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75 giây</a:t>
            </a:r>
          </a:p>
          <a:p>
            <a:r>
              <a:t>Hiện tượng ảo giác (hallucination) là rủi ro lớn nhất của các mô hình LLM. Nhóm chúng em kiểm soát việc này qua hai kỹ thuật chính:</a:t>
            </a:r>
          </a:p>
          <a:p>
            <a:r>
              <a:t>1. Anti-hallucination Prompt: Sử dụng System Instruction đóng khung vai trò chuyên môn của AI, kèm điều khoản cấm tự suy đoán ngoài dữ liệu JSON. Khi kho chưa có dữ liệu, AI phải thông báo trung thực là kho rỗng chứ không được tự sinh ra số liệu giả.</a:t>
            </a:r>
          </a:p>
          <a:p>
            <a:r>
              <a:t>2. Báo cáo chuẩn 3 phần: Kết quả trả về được định dạng cấu trúc 3 phần bắt buộc: Phần 1 tổng quan sức khỏe kho; Phần 2 đề xuất nhập hàng dựa trên Burn-rate; và Phần 3 chỉ điểm các SKU bất thường hoặc Dead Stock nằm kho trên 60 ngày. Cấu trúc này giúp người quản lý nắm bắt toàn diện bức tranh kho vận trong chưa đầy 1 phút.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70 giây</a:t>
            </a:r>
          </a:p>
          <a:p>
            <a:r>
              <a:t>Trong kỹ thuật phần mềm, tính sẵn sàng cao (High Availability) là tiêu chí sống còn:</a:t>
            </a:r>
          </a:p>
          <a:p>
            <a:r>
              <a:t>- Một hệ thống quản lý kho không thể ngừng hoạt động chỉ vì nhà cung cấp AI bên ngoài bị nghẽn mạng hoặc hết hạn ngạch truy vấn (HTTP 429 Rate Limit).</a:t>
            </a:r>
          </a:p>
          <a:p>
            <a:r>
              <a:t>- Để giải quyết, chúng em xây dựng Local Grounded Fallback Engine: Khi gọi Gemini API gặp lỗi sau 3 lần thử lại Exponential Backoff, hệ thống sẽ âm thầm chuyển sang thuật toán toán học nội bộ.</a:t>
            </a:r>
          </a:p>
          <a:p>
            <a:r>
              <a:t>- Thuật toán này truy vấn trực tiếp từ bảng 'ton_kho' và 'the_kho', tính toán Burn-rate và tự sinh báo cáo 3 phần chuẩn xác 100% dựa trên dữ liệu thật. Người dùng vẫn nhận được báo cáo điều hành đầy đủ mà hệ thống không bao giờ bị lỗi sập.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75 giây</a:t>
            </a:r>
          </a:p>
          <a:p>
            <a:r>
              <a:t>Đồ án được triển khai theo mô hình Agile Scrum gồm 02 thành viên qua 4 Sprint phát triển rõ ràng:</a:t>
            </a:r>
          </a:p>
          <a:p>
            <a:r>
              <a:t>- Sprint 1: Thiết kế ERD 11 bảng chuẩn 3NF, giải quyết bài toán chống tồn âm bằng Atomic SQL Decrement và cấu hình SQLite WAL.</a:t>
            </a:r>
          </a:p>
          <a:p>
            <a:r>
              <a:t>- Sprint 2: Hiện thực hóa phân hệ AI với Gemini API, module Data Sanitizer và Local Grounded Fallback Engine.</a:t>
            </a:r>
          </a:p>
          <a:p>
            <a:r>
              <a:t>- Sprint 3: Hoàn thiện đồng bộ thời gian thực qua WebSocket, bảo mật phân quyền RBAC 3 vai trò và Tab Session Isolation.</a:t>
            </a:r>
          </a:p>
          <a:p>
            <a:r>
              <a:t>- Sprint 4: Viết bộ kiểm thử tự động toàn diện với Pytest, đóng gói Docker Compose và hoàn thiện tài liệu thuyết minh đồ án.</a:t>
            </a:r>
          </a:p>
          <a:p>
            <a:r>
              <a:t>Sự phân công rõ ràng giữa PO và Scrum Master giúp dự án duy trì tiến độ ổn định và đạt chất lượng cao.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80 giây</a:t>
            </a:r>
          </a:p>
          <a:p>
            <a:r>
              <a:t>Để đảm bảo chất lượng phần mềm theo chuẩn kỹ thuật, nhóm nghiên cứu đã xây dựng bộ kiểm thử tự động toàn diện với 66 Test Cases sử dụng Pytest:</a:t>
            </a:r>
          </a:p>
          <a:p>
            <a:r>
              <a:t>- Bài kiểm thử Concurrency Stress Test: Sử dụng ThreadPoolExecutor giả lập nhiều luồng thủ kho cùng gửi yêu cầu xuất kho tại cùng một mili-giây. Kết quả khẳng định số tồn kho dừng lại chính xác tại 0, không bao giờ bị âm.</a:t>
            </a:r>
          </a:p>
          <a:p>
            <a:r>
              <a:t>- Bài kiểm thử Ledger Sync: Kiểm chứng tính bất biến giữa số dư lũy kế trên Thẻ kho và số tồn thực tế trong bảng ton_kho qua chuỗi nhiều giao dịch liên tiếp.</a:t>
            </a:r>
          </a:p>
          <a:p>
            <a:r>
              <a:t>- Bài kiểm thử AI Security: Kiểm tra tự động 100% payload nạp cho Gemini, xác nhận không có bất kỳ trường giá nhập hay thành tiền nào lọt qua.</a:t>
            </a:r>
          </a:p>
          <a:p>
            <a:r>
              <a:t>Toàn bộ 66 test cases đều vượt qua 100% trong khoảng 40 giây thực thi.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75 giây</a:t>
            </a:r>
          </a:p>
          <a:p>
            <a:r>
              <a:t>Về mô hình triển khai và khả năng kết nối đa thiết bị:</a:t>
            </a:r>
          </a:p>
          <a:p>
            <a:r>
              <a:t>- Hệ thống được đóng gói hoàn chỉnh bằng Docker Compose với 4 container độc lập: Nginx Reverse Proxy làm cổng vào bảo mật HTTPS; FastAPI Backend xử lý ứng dụng; PostgreSQL 15 quản trị dữ liệu; và pgAdmin 4 phục vụ quản trị.</a:t>
            </a:r>
          </a:p>
          <a:p>
            <a:r>
              <a:t>- Điểm mạnh thực tiễn là khả năng hỗ trợ truy cập đa thiết bị trong mạng LAN: Thủ kho có thể cầm điện thoại di động hoặc máy tính bảng kết nối qua Wi-Fi nội bộ để thao tác kiểm đếm trực tiếp tại kho bãi.</a:t>
            </a:r>
          </a:p>
          <a:p>
            <a:r>
              <a:t>- Khi một phiếu xuất hoặc nhập được lập thành công, WebSocket Manager sẽ broadcast ngay lập tức một gói tin sự kiện tới tất cả các thiết bị đang mở màn hình, giúp số dư tồn kho đồng bộ tức thì dưới 100 mili-giây mà không cần tải lại trang.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60 giây</a:t>
            </a:r>
          </a:p>
          <a:p>
            <a:r>
              <a:t>Kính thưa Hội đồng, để kiểm chứng các tính năng kỹ thuật đã trình bày, nhóm chúng em xin phép được thực hiện phần Live Demo trực tiếp trong 5 phút:</a:t>
            </a:r>
          </a:p>
          <a:p>
            <a:r>
              <a:t>- Phút 1: Trình diễn ma trận phân quyền RBAC qua 2 tài khoản 'thukho' và 'nhanvien' trên 2 tab trình duyệt riêng biệt.</a:t>
            </a:r>
          </a:p>
          <a:p>
            <a:r>
              <a:t>- Phút 2: Tương tác với Trợ lý AI để xuất Báo cáo 3 phần phân tích sức khỏe kho và đề xuất nhập hàng dựa trên Burn-rate.</a:t>
            </a:r>
          </a:p>
          <a:p>
            <a:r>
              <a:t>- Phút 3: Trực tiếp gửi yêu cầu xuất vượt tồn kho để quan sát cơ chế Atomic SQL Decrement chặn lỗi 400 và bảo toàn số dư.</a:t>
            </a:r>
          </a:p>
          <a:p>
            <a:r>
              <a:t>- Phút 4: Lập phiếu nhập và kiểm tra sự đồng bộ tức thì của sổ cái Thẻ kho lũy kế.</a:t>
            </a:r>
          </a:p>
          <a:p>
            <a:r>
              <a:t>- Phút 5: Mở API /raw-context để Hội đồng kiểm toán tính năng khử sạch 100% giá vốn của Data Sanitizer.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60 giây</a:t>
            </a:r>
          </a:p>
          <a:p>
            <a:r>
              <a:t>Kính thưa Quý Thầy/Cô trong Hội đồng!</a:t>
            </a:r>
          </a:p>
          <a:p>
            <a:r>
              <a:t>Đề tài SmartLogis AI đã hoàn thành 100% mục tiêu đề ra: xây dựng thành công một giải pháp quản lý kho bảo toàn giao dịch ACID chống tồn âm, tích hợp trợ lý Trí tuệ Nhân tạo hỗ trợ điều hành nhưng vẫn bảo mật tuyệt đối bí mật kinh doanh, và đạt độ phủ kiểm thử tự động 66/66 test cases.</a:t>
            </a:r>
          </a:p>
          <a:p>
            <a:r>
              <a:t>Trong giai đoạn tiếp theo, nhóm nghiên cứu dự kiến sẽ phát triển ứng dụng di động quét mã QR/RFID tại kho bãi và mở rộng thuật toán học máy chuỗi thời gian để nâng cao độ chính xác dự báo theo mùa vụ.</a:t>
            </a:r>
          </a:p>
          <a:p>
            <a:r>
              <a:t>Nhóm chúng em xin trân trọng cảm ơn sự hướng dẫn tận tình của Quý Thầy/Cô. Chúng em xin sẵn sàng lắng nghe các ý kiến nhận xét và trả lời câu hỏi phản biện từ Hội đồng!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640080"/>
            <a:ext cx="3931920" cy="384048"/>
          </a:xfrm>
          <a:prstGeom prst="roundRect">
            <a:avLst/>
          </a:prstGeom>
          <a:solidFill>
            <a:srgbClr val="1E3A8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6B6D4"/>
                </a:solidFill>
                <a:latin typeface="Segoe UI"/>
              </a:defRPr>
            </a:pPr>
            <a:r>
              <a:t>ĐỒ ÁN TỐT NGHIỆP • KỸ THUẬT PHẦN MỀM K23A</a:t>
            </a:r>
          </a:p>
        </p:txBody>
      </p:sp>
      <p:sp>
        <p:nvSpPr>
          <p:cNvPr id="4" name="TextBox 3"/>
          <p:cNvSpPr txBox="1"/>
          <p:nvPr/>
        </p:nvSpPr>
        <p:spPr>
          <a:xfrm>
            <a:off x="914400" y="1170432"/>
            <a:ext cx="10362895" cy="1691640"/>
          </a:xfrm>
          <a:prstGeom prst="rect">
            <a:avLst/>
          </a:prstGeom>
          <a:noFill/>
        </p:spPr>
        <p:txBody>
          <a:bodyPr wrap="square">
            <a:spAutoFit/>
          </a:bodyPr>
          <a:lstStyle/>
          <a:p>
            <a:pPr>
              <a:defRPr sz="3800" b="1">
                <a:solidFill>
                  <a:srgbClr val="FFFFFF"/>
                </a:solidFill>
                <a:latin typeface="Segoe UI"/>
              </a:defRPr>
            </a:pPr>
            <a:r>
              <a:t>HỆ THỐNG QUẢN LÝ KHO THÔNG MINH</a:t>
            </a:r>
          </a:p>
          <a:p>
            <a:pPr>
              <a:spcBef>
                <a:spcPts val="400"/>
              </a:spcBef>
              <a:defRPr sz="3200" b="1">
                <a:solidFill>
                  <a:srgbClr val="06B6D4"/>
                </a:solidFill>
                <a:latin typeface="Segoe UI"/>
              </a:defRPr>
            </a:pPr>
            <a:r>
              <a:t>TÍCH HỢP TRÍ TUỆ NHÂN TẠO &amp; BẢO TOÀN GIAO DỊCH ACID</a:t>
            </a:r>
          </a:p>
        </p:txBody>
      </p:sp>
      <p:sp>
        <p:nvSpPr>
          <p:cNvPr id="5" name="TextBox 4"/>
          <p:cNvSpPr txBox="1"/>
          <p:nvPr/>
        </p:nvSpPr>
        <p:spPr>
          <a:xfrm>
            <a:off x="914400" y="2971800"/>
            <a:ext cx="10362895" cy="457200"/>
          </a:xfrm>
          <a:prstGeom prst="rect">
            <a:avLst/>
          </a:prstGeom>
          <a:noFill/>
        </p:spPr>
        <p:txBody>
          <a:bodyPr wrap="none">
            <a:spAutoFit/>
          </a:bodyPr>
          <a:lstStyle/>
          <a:p>
            <a:pPr>
              <a:defRPr sz="1600">
                <a:solidFill>
                  <a:srgbClr val="94A3B8"/>
                </a:solidFill>
                <a:latin typeface="Segoe UI"/>
              </a:defRPr>
            </a:pPr>
            <a:r>
              <a:t>Kiến trúc Giao dịch Kho Nguyên tử ACID • Tối ưu Chuỗi Cung ứng với Google Gemini LLM</a:t>
            </a:r>
          </a:p>
        </p:txBody>
      </p:sp>
      <p:sp>
        <p:nvSpPr>
          <p:cNvPr id="6" name="Rounded Rectangle 5"/>
          <p:cNvSpPr/>
          <p:nvPr/>
        </p:nvSpPr>
        <p:spPr>
          <a:xfrm>
            <a:off x="914400" y="3520440"/>
            <a:ext cx="3328416" cy="1783080"/>
          </a:xfrm>
          <a:prstGeom prst="roundRect">
            <a:avLst/>
          </a:prstGeom>
          <a:solidFill>
            <a:srgbClr val="142A4D"/>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400" b="1">
                <a:solidFill>
                  <a:srgbClr val="06B6D4"/>
                </a:solidFill>
                <a:latin typeface="Segoe UI"/>
              </a:defRPr>
            </a:pPr>
            <a:r>
              <a:t>🛡️ GIAO DỊCH ACID NGUYÊN TỬ</a:t>
            </a:r>
          </a:p>
          <a:p>
            <a:pPr>
              <a:spcBef>
                <a:spcPts val="500"/>
              </a:spcBef>
              <a:defRPr sz="1300" b="1">
                <a:solidFill>
                  <a:srgbClr val="FFFFFF"/>
                </a:solidFill>
                <a:latin typeface="Segoe UI"/>
              </a:defRPr>
            </a:pPr>
            <a:r>
              <a:t>Chống Tồn Âm 2 Tầng Kỹ Thuật</a:t>
            </a:r>
          </a:p>
          <a:p>
            <a:pPr>
              <a:spcBef>
                <a:spcPts val="400"/>
              </a:spcBef>
              <a:defRPr sz="1200">
                <a:solidFill>
                  <a:srgbClr val="94A3B8"/>
                </a:solidFill>
                <a:latin typeface="Segoe UI"/>
              </a:defRPr>
            </a:pPr>
            <a:r>
              <a:t>• Atomic SQL Decrement kết hợp Database CheckConstraint</a:t>
            </a:r>
          </a:p>
        </p:txBody>
      </p:sp>
      <p:sp>
        <p:nvSpPr>
          <p:cNvPr id="7" name="Rounded Rectangle 6"/>
          <p:cNvSpPr/>
          <p:nvPr/>
        </p:nvSpPr>
        <p:spPr>
          <a:xfrm>
            <a:off x="4425696" y="3520440"/>
            <a:ext cx="3328416" cy="1783080"/>
          </a:xfrm>
          <a:prstGeom prst="roundRect">
            <a:avLst/>
          </a:prstGeom>
          <a:solidFill>
            <a:srgbClr val="142A4D"/>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400" b="1">
                <a:solidFill>
                  <a:srgbClr val="06B6D4"/>
                </a:solidFill>
                <a:latin typeface="Segoe UI"/>
              </a:defRPr>
            </a:pPr>
            <a:r>
              <a:t>🧠 TRÍ TUỆ NHÂN TẠO GEMINI</a:t>
            </a:r>
          </a:p>
          <a:p>
            <a:pPr>
              <a:spcBef>
                <a:spcPts val="500"/>
              </a:spcBef>
              <a:defRPr sz="1300" b="1">
                <a:solidFill>
                  <a:srgbClr val="FFFFFF"/>
                </a:solidFill>
                <a:latin typeface="Segoe UI"/>
              </a:defRPr>
            </a:pPr>
            <a:r>
              <a:t>Cố Vấn Điều Hành Kho Thông Minh</a:t>
            </a:r>
          </a:p>
          <a:p>
            <a:pPr>
              <a:spcBef>
                <a:spcPts val="400"/>
              </a:spcBef>
              <a:defRPr sz="1200">
                <a:solidFill>
                  <a:srgbClr val="94A3B8"/>
                </a:solidFill>
                <a:latin typeface="Segoe UI"/>
              </a:defRPr>
            </a:pPr>
            <a:r>
              <a:t>• Data Sanitizer khử 100% giá vốn &amp; Local Grounded Fallback</a:t>
            </a:r>
          </a:p>
        </p:txBody>
      </p:sp>
      <p:sp>
        <p:nvSpPr>
          <p:cNvPr id="8" name="Rounded Rectangle 7"/>
          <p:cNvSpPr/>
          <p:nvPr/>
        </p:nvSpPr>
        <p:spPr>
          <a:xfrm>
            <a:off x="7936992" y="3520440"/>
            <a:ext cx="3328416" cy="1783080"/>
          </a:xfrm>
          <a:prstGeom prst="roundRect">
            <a:avLst/>
          </a:prstGeom>
          <a:solidFill>
            <a:srgbClr val="142A4D"/>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400" b="1">
                <a:solidFill>
                  <a:srgbClr val="06B6D4"/>
                </a:solidFill>
                <a:latin typeface="Segoe UI"/>
              </a:defRPr>
            </a:pPr>
            <a:r>
              <a:t>🚀 HẠ TẦNG THỰC TẾ &amp; REALTIME</a:t>
            </a:r>
          </a:p>
          <a:p>
            <a:pPr>
              <a:spcBef>
                <a:spcPts val="500"/>
              </a:spcBef>
              <a:defRPr sz="1300" b="1">
                <a:solidFill>
                  <a:srgbClr val="FFFFFF"/>
                </a:solidFill>
                <a:latin typeface="Segoe UI"/>
              </a:defRPr>
            </a:pPr>
            <a:r>
              <a:t>FastAPI • PostgreSQL • WebSocket</a:t>
            </a:r>
          </a:p>
          <a:p>
            <a:pPr>
              <a:spcBef>
                <a:spcPts val="400"/>
              </a:spcBef>
              <a:defRPr sz="1200">
                <a:solidFill>
                  <a:srgbClr val="94A3B8"/>
                </a:solidFill>
                <a:latin typeface="Segoe UI"/>
              </a:defRPr>
            </a:pPr>
            <a:r>
              <a:t>• Nginx SSL Gateway &amp; Đồng bộ tức thời biến động đa thiết bị</a:t>
            </a:r>
          </a:p>
        </p:txBody>
      </p:sp>
      <p:sp>
        <p:nvSpPr>
          <p:cNvPr id="9" name="Rounded Rectangle 8"/>
          <p:cNvSpPr/>
          <p:nvPr/>
        </p:nvSpPr>
        <p:spPr>
          <a:xfrm>
            <a:off x="914400" y="5468112"/>
            <a:ext cx="10362895" cy="1051560"/>
          </a:xfrm>
          <a:prstGeom prst="roundRect">
            <a:avLst/>
          </a:prstGeom>
          <a:solidFill>
            <a:srgbClr val="0F2341"/>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09728"/>
          <a:lstStyle/>
          <a:p>
            <a:pPr algn="ctr">
              <a:defRPr sz="1200" b="1">
                <a:solidFill>
                  <a:srgbClr val="06B6D4"/>
                </a:solidFill>
                <a:latin typeface="Segoe UI"/>
              </a:defRPr>
            </a:pPr>
            <a:r>
              <a:t>NHÓM SINH VIÊN THỰC HIỆN (MÔ HÌNH AGILE SCRUM 02 THÀNH VIÊN):</a:t>
            </a:r>
          </a:p>
          <a:p>
            <a:pPr>
              <a:spcBef>
                <a:spcPts val="300"/>
              </a:spcBef>
              <a:defRPr sz="1200">
                <a:solidFill>
                  <a:srgbClr val="FFFFFF"/>
                </a:solidFill>
                <a:latin typeface="Segoe UI"/>
              </a:defRPr>
            </a:pPr>
            <a:r>
              <a:t>1. Nguyễn Thành Hưng: Product Owner (PO) kiêm Lead Fullstack Developer (Backend FastAPI, Giao diện Jinja2/Tailwind, Nghiệp vụ kho &amp; Báo cáo Excel)</a:t>
            </a:r>
          </a:p>
          <a:p>
            <a:pPr>
              <a:spcBef>
                <a:spcPts val="200"/>
              </a:spcBef>
              <a:defRPr sz="1200">
                <a:solidFill>
                  <a:srgbClr val="FFFFFF"/>
                </a:solidFill>
                <a:latin typeface="Segoe UI"/>
              </a:defRPr>
            </a:pPr>
            <a:r>
              <a:t>2. Hoàng Tiến Đạt: Scrum Master kiêm Database Architect &amp; AI/QA Engineer (CSDL 3NF, Gemini AI, Data Sanitizer, Pytest 110 Cases &amp; Docker)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47472"/>
            <a:ext cx="2468880" cy="329184"/>
          </a:xfrm>
          <a:prstGeom prst="roundRect">
            <a:avLst/>
          </a:prstGeom>
          <a:solidFill>
            <a:srgbClr val="1E3A8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FFFFFF"/>
                </a:solidFill>
                <a:latin typeface="Segoe UI"/>
              </a:defRPr>
            </a:pPr>
            <a:r>
              <a:t>PROBLEM STATEMENT</a:t>
            </a:r>
          </a:p>
        </p:txBody>
      </p:sp>
      <p:sp>
        <p:nvSpPr>
          <p:cNvPr id="3" name="TextBox 2"/>
          <p:cNvSpPr txBox="1"/>
          <p:nvPr/>
        </p:nvSpPr>
        <p:spPr>
          <a:xfrm>
            <a:off x="731520" y="713232"/>
            <a:ext cx="10725912" cy="621792"/>
          </a:xfrm>
          <a:prstGeom prst="rect">
            <a:avLst/>
          </a:prstGeom>
          <a:noFill/>
        </p:spPr>
        <p:txBody>
          <a:bodyPr wrap="square" lIns="0" tIns="0" rIns="0" bIns="0">
            <a:spAutoFit/>
          </a:bodyPr>
          <a:lstStyle/>
          <a:p>
            <a:pPr algn="l">
              <a:defRPr sz="2600" b="1">
                <a:solidFill>
                  <a:srgbClr val="1E3A8A"/>
                </a:solidFill>
                <a:latin typeface="Segoe UI"/>
              </a:defRPr>
            </a:pPr>
            <a:r>
              <a:t>Bối Cảnh Thực Tế &amp; 4 Thách Thức Kỹ Thuật Quản Trị Kho</a:t>
            </a:r>
          </a:p>
        </p:txBody>
      </p:sp>
      <p:sp>
        <p:nvSpPr>
          <p:cNvPr id="4" name="Rounded Rectangle 3"/>
          <p:cNvSpPr/>
          <p:nvPr/>
        </p:nvSpPr>
        <p:spPr>
          <a:xfrm>
            <a:off x="731520" y="1463040"/>
            <a:ext cx="5212080" cy="2395728"/>
          </a:xfrm>
          <a:prstGeom prst="roundRect">
            <a:avLst/>
          </a:prstGeom>
          <a:solidFill>
            <a:srgbClr val="F0F7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46304"/>
          <a:lstStyle/>
          <a:p>
            <a:pPr algn="l">
              <a:defRPr sz="1500" b="1">
                <a:solidFill>
                  <a:srgbClr val="E11D48"/>
                </a:solidFill>
                <a:latin typeface="Segoe UI"/>
              </a:defRPr>
            </a:pPr>
            <a:r>
              <a:t>⚠️ 1. LỖI TỒN ÂM (NEGATIVE STOCK)</a:t>
            </a:r>
          </a:p>
          <a:p>
            <a:pPr algn="l">
              <a:spcBef>
                <a:spcPts val="400"/>
              </a:spcBef>
              <a:defRPr sz="1350" b="1">
                <a:solidFill>
                  <a:srgbClr val="0F172A"/>
                </a:solidFill>
                <a:latin typeface="Segoe UI"/>
              </a:defRPr>
            </a:pPr>
            <a:r>
              <a:t>Xung Đột Đồng Thời (Concurrency Race Condition)</a:t>
            </a:r>
          </a:p>
          <a:p>
            <a:pPr algn="l">
              <a:spcBef>
                <a:spcPts val="400"/>
              </a:spcBef>
              <a:defRPr sz="1300">
                <a:solidFill>
                  <a:srgbClr val="334155"/>
                </a:solidFill>
                <a:latin typeface="Segoe UI"/>
              </a:defRPr>
            </a:pPr>
            <a:r>
              <a:t>• Nhiều thủ kho cùng xuất một mặt hàng tại cùng thời điểm</a:t>
            </a:r>
          </a:p>
          <a:p>
            <a:pPr algn="l">
              <a:spcBef>
                <a:spcPts val="400"/>
              </a:spcBef>
              <a:defRPr sz="1300">
                <a:solidFill>
                  <a:srgbClr val="334155"/>
                </a:solidFill>
                <a:latin typeface="Segoe UI"/>
              </a:defRPr>
            </a:pPr>
            <a:r>
              <a:t>• Hiện tượng Lost Update do trừ tồn kho trong bộ nhớ ứng dụng</a:t>
            </a:r>
          </a:p>
          <a:p>
            <a:pPr algn="l">
              <a:spcBef>
                <a:spcPts val="400"/>
              </a:spcBef>
              <a:defRPr sz="1300">
                <a:solidFill>
                  <a:srgbClr val="334155"/>
                </a:solidFill>
                <a:latin typeface="Segoe UI"/>
              </a:defRPr>
            </a:pPr>
            <a:r>
              <a:t>• Sai lệch nghiêm trọng giữa số liệu kế toán và kho thực tế</a:t>
            </a:r>
          </a:p>
        </p:txBody>
      </p:sp>
      <p:sp>
        <p:nvSpPr>
          <p:cNvPr id="5" name="Rectangle 4"/>
          <p:cNvSpPr/>
          <p:nvPr/>
        </p:nvSpPr>
        <p:spPr>
          <a:xfrm>
            <a:off x="731520" y="1463040"/>
            <a:ext cx="5212080" cy="7315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45352" y="1463040"/>
            <a:ext cx="5212080" cy="2395728"/>
          </a:xfrm>
          <a:prstGeom prst="roundRect">
            <a:avLst/>
          </a:prstGeom>
          <a:solidFill>
            <a:srgbClr val="F0F7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46304"/>
          <a:lstStyle/>
          <a:p>
            <a:pPr algn="l">
              <a:defRPr sz="1500" b="1">
                <a:solidFill>
                  <a:srgbClr val="1E3A8A"/>
                </a:solidFill>
                <a:latin typeface="Segoe UI"/>
              </a:defRPr>
            </a:pPr>
            <a:r>
              <a:t>⛓️ 2. ĐỨT GÃY NGUỒN CUNG VẬT TƯ</a:t>
            </a:r>
          </a:p>
          <a:p>
            <a:pPr algn="l">
              <a:spcBef>
                <a:spcPts val="400"/>
              </a:spcBef>
              <a:defRPr sz="1350" b="1">
                <a:solidFill>
                  <a:srgbClr val="0F172A"/>
                </a:solidFill>
                <a:latin typeface="Segoe UI"/>
              </a:defRPr>
            </a:pPr>
            <a:r>
              <a:t>Thiếu Cơ Chế Dự Báo Tốc Độ Tiêu Thụ (Burn-Rate)</a:t>
            </a:r>
          </a:p>
          <a:p>
            <a:pPr algn="l">
              <a:spcBef>
                <a:spcPts val="400"/>
              </a:spcBef>
              <a:defRPr sz="1300">
                <a:solidFill>
                  <a:srgbClr val="334155"/>
                </a:solidFill>
                <a:latin typeface="Segoe UI"/>
              </a:defRPr>
            </a:pPr>
            <a:r>
              <a:t>• Không theo dõi định lượng tốc độ tiêu thụ bình quân hàng ngày</a:t>
            </a:r>
          </a:p>
          <a:p>
            <a:pPr algn="l">
              <a:spcBef>
                <a:spcPts val="400"/>
              </a:spcBef>
              <a:defRPr sz="1300">
                <a:solidFill>
                  <a:srgbClr val="334155"/>
                </a:solidFill>
                <a:latin typeface="Segoe UI"/>
              </a:defRPr>
            </a:pPr>
            <a:r>
              <a:t>• Chậm trễ phát hiện khi vật tư chạm ngưỡng tồn tối thiểu</a:t>
            </a:r>
          </a:p>
          <a:p>
            <a:pPr algn="l">
              <a:spcBef>
                <a:spcPts val="400"/>
              </a:spcBef>
              <a:defRPr sz="1300">
                <a:solidFill>
                  <a:srgbClr val="334155"/>
                </a:solidFill>
                <a:latin typeface="Segoe UI"/>
              </a:defRPr>
            </a:pPr>
            <a:r>
              <a:t>• Gây đình trệ dây chuyền cung ứng và tiến độ thi công công trình</a:t>
            </a:r>
          </a:p>
        </p:txBody>
      </p:sp>
      <p:sp>
        <p:nvSpPr>
          <p:cNvPr id="7" name="Rectangle 6"/>
          <p:cNvSpPr/>
          <p:nvPr/>
        </p:nvSpPr>
        <p:spPr>
          <a:xfrm>
            <a:off x="6245352" y="1463040"/>
            <a:ext cx="521208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4069080"/>
            <a:ext cx="5212080" cy="2395728"/>
          </a:xfrm>
          <a:prstGeom prst="roundRect">
            <a:avLst/>
          </a:prstGeom>
          <a:solidFill>
            <a:srgbClr val="F0F7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46304"/>
          <a:lstStyle/>
          <a:p>
            <a:pPr algn="l">
              <a:defRPr sz="1500" b="1">
                <a:solidFill>
                  <a:srgbClr val="1E3A8A"/>
                </a:solidFill>
                <a:latin typeface="Segoe UI"/>
              </a:defRPr>
            </a:pPr>
            <a:r>
              <a:t>📦 3. HÀNG Ứ ĐỌNG (DEAD STOCK)</a:t>
            </a:r>
          </a:p>
          <a:p>
            <a:pPr algn="l">
              <a:spcBef>
                <a:spcPts val="400"/>
              </a:spcBef>
              <a:defRPr sz="1350" b="1">
                <a:solidFill>
                  <a:srgbClr val="0F172A"/>
                </a:solidFill>
                <a:latin typeface="Segoe UI"/>
              </a:defRPr>
            </a:pPr>
            <a:r>
              <a:t>Khó Khăn Kiểm Soát Thủ Công Vật Tư Lưu Kho Lâu Ngày</a:t>
            </a:r>
          </a:p>
          <a:p>
            <a:pPr algn="l">
              <a:spcBef>
                <a:spcPts val="400"/>
              </a:spcBef>
              <a:defRPr sz="1300">
                <a:solidFill>
                  <a:srgbClr val="334155"/>
                </a:solidFill>
                <a:latin typeface="Segoe UI"/>
              </a:defRPr>
            </a:pPr>
            <a:r>
              <a:t>• Nhiều SKU giá trị cao nằm kho vượt 60 ngày không phát sinh xuất</a:t>
            </a:r>
          </a:p>
          <a:p>
            <a:pPr algn="l">
              <a:spcBef>
                <a:spcPts val="400"/>
              </a:spcBef>
              <a:defRPr sz="1300">
                <a:solidFill>
                  <a:srgbClr val="334155"/>
                </a:solidFill>
                <a:latin typeface="Segoe UI"/>
              </a:defRPr>
            </a:pPr>
            <a:r>
              <a:t>• Chiếm dụng diện tích mặt bằng kho bãi và phát sinh chi phí lưu kho</a:t>
            </a:r>
          </a:p>
          <a:p>
            <a:pPr algn="l">
              <a:spcBef>
                <a:spcPts val="400"/>
              </a:spcBef>
              <a:defRPr sz="1300">
                <a:solidFill>
                  <a:srgbClr val="334155"/>
                </a:solidFill>
                <a:latin typeface="Segoe UI"/>
              </a:defRPr>
            </a:pPr>
            <a:r>
              <a:t>• Thiếu thuật toán tự động nhận diện và cảnh báo sớm cho quản lý</a:t>
            </a:r>
          </a:p>
        </p:txBody>
      </p:sp>
      <p:sp>
        <p:nvSpPr>
          <p:cNvPr id="9" name="Rectangle 8"/>
          <p:cNvSpPr/>
          <p:nvPr/>
        </p:nvSpPr>
        <p:spPr>
          <a:xfrm>
            <a:off x="731520" y="4069080"/>
            <a:ext cx="521208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45352" y="4069080"/>
            <a:ext cx="5212080" cy="2395728"/>
          </a:xfrm>
          <a:prstGeom prst="roundRect">
            <a:avLst/>
          </a:prstGeom>
          <a:solidFill>
            <a:srgbClr val="F0F7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46304"/>
          <a:lstStyle/>
          <a:p>
            <a:pPr algn="l">
              <a:defRPr sz="1500" b="1">
                <a:solidFill>
                  <a:srgbClr val="E11D48"/>
                </a:solidFill>
                <a:latin typeface="Segoe UI"/>
              </a:defRPr>
            </a:pPr>
            <a:r>
              <a:t>🔒 4. NGUY CƠ LỘ GIÁ VỐN KHI DÙNG AI</a:t>
            </a:r>
          </a:p>
          <a:p>
            <a:pPr algn="l">
              <a:spcBef>
                <a:spcPts val="400"/>
              </a:spcBef>
              <a:defRPr sz="1350" b="1">
                <a:solidFill>
                  <a:srgbClr val="0F172A"/>
                </a:solidFill>
                <a:latin typeface="Segoe UI"/>
              </a:defRPr>
            </a:pPr>
            <a:r>
              <a:t>Rủi Ro Bảo Mật Dữ Liệu Khi Gửi Lên Public Cloud LLM</a:t>
            </a:r>
          </a:p>
          <a:p>
            <a:pPr algn="l">
              <a:spcBef>
                <a:spcPts val="400"/>
              </a:spcBef>
              <a:defRPr sz="1300">
                <a:solidFill>
                  <a:srgbClr val="334155"/>
                </a:solidFill>
                <a:latin typeface="Segoe UI"/>
              </a:defRPr>
            </a:pPr>
            <a:r>
              <a:t>• Gửi trực tiếp bảng dữ liệu thô chứa đơn giá và thành tiền sang AI</a:t>
            </a:r>
          </a:p>
          <a:p>
            <a:pPr algn="l">
              <a:spcBef>
                <a:spcPts val="400"/>
              </a:spcBef>
              <a:defRPr sz="1300">
                <a:solidFill>
                  <a:srgbClr val="334155"/>
                </a:solidFill>
                <a:latin typeface="Segoe UI"/>
              </a:defRPr>
            </a:pPr>
            <a:r>
              <a:t>• Nguy cơ rò rỉ chính sách chiết khấu và giá mua từ nhà cung cấp</a:t>
            </a:r>
          </a:p>
          <a:p>
            <a:pPr algn="l">
              <a:spcBef>
                <a:spcPts val="400"/>
              </a:spcBef>
              <a:defRPr sz="1300">
                <a:solidFill>
                  <a:srgbClr val="334155"/>
                </a:solidFill>
                <a:latin typeface="Segoe UI"/>
              </a:defRPr>
            </a:pPr>
            <a:r>
              <a:t>• Yêu cầu bắt buộc phải có cơ chế khử nhạy cảm trước khi gửi context</a:t>
            </a:r>
          </a:p>
        </p:txBody>
      </p:sp>
      <p:sp>
        <p:nvSpPr>
          <p:cNvPr id="11" name="Rectangle 10"/>
          <p:cNvSpPr/>
          <p:nvPr/>
        </p:nvSpPr>
        <p:spPr>
          <a:xfrm>
            <a:off x="6245352" y="4069080"/>
            <a:ext cx="5212080" cy="73152"/>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47472"/>
            <a:ext cx="2468880" cy="329184"/>
          </a:xfrm>
          <a:prstGeom prst="roundRect">
            <a:avLst/>
          </a:prstGeom>
          <a:solidFill>
            <a:srgbClr val="1E3A8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FFFFFF"/>
                </a:solidFill>
                <a:latin typeface="Segoe UI"/>
              </a:defRPr>
            </a:pPr>
            <a:r>
              <a:t>OBJECTIVES &amp; VALUE</a:t>
            </a:r>
          </a:p>
        </p:txBody>
      </p:sp>
      <p:sp>
        <p:nvSpPr>
          <p:cNvPr id="3" name="TextBox 2"/>
          <p:cNvSpPr txBox="1"/>
          <p:nvPr/>
        </p:nvSpPr>
        <p:spPr>
          <a:xfrm>
            <a:off x="731520" y="713232"/>
            <a:ext cx="10725912" cy="621792"/>
          </a:xfrm>
          <a:prstGeom prst="rect">
            <a:avLst/>
          </a:prstGeom>
          <a:noFill/>
        </p:spPr>
        <p:txBody>
          <a:bodyPr wrap="square" lIns="0" tIns="0" rIns="0" bIns="0">
            <a:spAutoFit/>
          </a:bodyPr>
          <a:lstStyle/>
          <a:p>
            <a:pPr algn="l">
              <a:defRPr sz="2600" b="1">
                <a:solidFill>
                  <a:srgbClr val="1E3A8A"/>
                </a:solidFill>
                <a:latin typeface="Segoe UI"/>
              </a:defRPr>
            </a:pPr>
            <a:r>
              <a:t>Mục Tiêu Đề Tài &amp; 3 Trụ Cột Giải Pháp Kỹ Thuật</a:t>
            </a:r>
          </a:p>
        </p:txBody>
      </p:sp>
      <p:sp>
        <p:nvSpPr>
          <p:cNvPr id="4" name="Rounded Rectangle 3"/>
          <p:cNvSpPr/>
          <p:nvPr/>
        </p:nvSpPr>
        <p:spPr>
          <a:xfrm>
            <a:off x="731520" y="1463040"/>
            <a:ext cx="3364992" cy="3977639"/>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932688"/>
          <a:lstStyle/>
          <a:p>
            <a:pPr algn="l">
              <a:defRPr sz="1400" b="1">
                <a:solidFill>
                  <a:srgbClr val="1E3A8A"/>
                </a:solidFill>
                <a:latin typeface="Segoe UI"/>
              </a:defRPr>
            </a:pPr>
            <a:r>
              <a:t>Kiểm Soát Tồn Kho Chống Âm 2 Tầng</a:t>
            </a:r>
          </a:p>
          <a:p>
            <a:pPr algn="l">
              <a:spcBef>
                <a:spcPts val="700"/>
              </a:spcBef>
              <a:defRPr sz="1300">
                <a:solidFill>
                  <a:srgbClr val="0F172A"/>
                </a:solidFill>
                <a:latin typeface="Segoe UI"/>
              </a:defRPr>
            </a:pPr>
            <a:r>
              <a:t>• Atomic SQL Decrement triệt tiêu hoàn toàn Race Condition</a:t>
            </a:r>
          </a:p>
          <a:p>
            <a:pPr algn="l">
              <a:spcBef>
                <a:spcPts val="700"/>
              </a:spcBef>
              <a:defRPr sz="1300">
                <a:solidFill>
                  <a:srgbClr val="0F172A"/>
                </a:solidFill>
                <a:latin typeface="Segoe UI"/>
              </a:defRPr>
            </a:pPr>
            <a:r>
              <a:t>• Hardware CheckConstraint (SoLuongTon &gt;= 0) cấp CSDL</a:t>
            </a:r>
          </a:p>
          <a:p>
            <a:pPr algn="l">
              <a:spcBef>
                <a:spcPts val="700"/>
              </a:spcBef>
              <a:defRPr sz="1300">
                <a:solidFill>
                  <a:srgbClr val="0F172A"/>
                </a:solidFill>
                <a:latin typeface="Segoe UI"/>
              </a:defRPr>
            </a:pPr>
            <a:r>
              <a:t>• Cơ chế Rollback tự động toàn bộ khi hàng không đủ số lượng</a:t>
            </a:r>
          </a:p>
          <a:p>
            <a:pPr algn="l">
              <a:spcBef>
                <a:spcPts val="700"/>
              </a:spcBef>
              <a:defRPr sz="1300">
                <a:solidFill>
                  <a:srgbClr val="0F172A"/>
                </a:solidFill>
                <a:latin typeface="Segoe UI"/>
              </a:defRPr>
            </a:pPr>
            <a:r>
              <a:t>• Bảo toàn tính bất biến của sổ Thẻ kho lũy kế (the_kho)</a:t>
            </a:r>
          </a:p>
        </p:txBody>
      </p:sp>
      <p:sp>
        <p:nvSpPr>
          <p:cNvPr id="5" name="Rounded Rectangle 4"/>
          <p:cNvSpPr/>
          <p:nvPr/>
        </p:nvSpPr>
        <p:spPr>
          <a:xfrm>
            <a:off x="731520" y="1463040"/>
            <a:ext cx="3364992" cy="8046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50" b="1">
                <a:solidFill>
                  <a:srgbClr val="FFFFFF"/>
                </a:solidFill>
                <a:latin typeface="Segoe UI"/>
              </a:defRPr>
            </a:pPr>
            <a:r>
              <a:t>🛡️ 1. BẢO TOÀN GIAO DỊCH ACID</a:t>
            </a:r>
          </a:p>
        </p:txBody>
      </p:sp>
      <p:sp>
        <p:nvSpPr>
          <p:cNvPr id="6" name="Rounded Rectangle 5"/>
          <p:cNvSpPr/>
          <p:nvPr/>
        </p:nvSpPr>
        <p:spPr>
          <a:xfrm>
            <a:off x="4416552" y="1463040"/>
            <a:ext cx="3364992" cy="3977639"/>
          </a:xfrm>
          <a:prstGeom prst="roundRect">
            <a:avLst/>
          </a:prstGeom>
          <a:solidFill>
            <a:srgbClr val="F0F7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932688"/>
          <a:lstStyle/>
          <a:p>
            <a:pPr algn="l">
              <a:defRPr sz="1400" b="1">
                <a:solidFill>
                  <a:srgbClr val="1E3A8A"/>
                </a:solidFill>
                <a:latin typeface="Segoe UI"/>
              </a:defRPr>
            </a:pPr>
            <a:r>
              <a:t>Trợ Lý AI Phân Tích Chuyên Sâu</a:t>
            </a:r>
          </a:p>
          <a:p>
            <a:pPr algn="l">
              <a:spcBef>
                <a:spcPts val="700"/>
              </a:spcBef>
              <a:defRPr sz="1300">
                <a:solidFill>
                  <a:srgbClr val="0F172A"/>
                </a:solidFill>
                <a:latin typeface="Segoe UI"/>
              </a:defRPr>
            </a:pPr>
            <a:r>
              <a:t>• Tích hợp Google Gemini LLM với System Prompt Logistics</a:t>
            </a:r>
          </a:p>
          <a:p>
            <a:pPr algn="l">
              <a:spcBef>
                <a:spcPts val="700"/>
              </a:spcBef>
              <a:defRPr sz="1300">
                <a:solidFill>
                  <a:srgbClr val="0F172A"/>
                </a:solidFill>
                <a:latin typeface="Segoe UI"/>
              </a:defRPr>
            </a:pPr>
            <a:r>
              <a:t>• Tự động tính toán tốc độ tiêu thụ Burn-rate 30 ngày gần nhất</a:t>
            </a:r>
          </a:p>
          <a:p>
            <a:pPr algn="l">
              <a:spcBef>
                <a:spcPts val="700"/>
              </a:spcBef>
              <a:defRPr sz="1300">
                <a:solidFill>
                  <a:srgbClr val="0F172A"/>
                </a:solidFill>
                <a:latin typeface="Segoe UI"/>
              </a:defRPr>
            </a:pPr>
            <a:r>
              <a:t>• Báo cáo điều hành chuẩn hóa 3 phần phục vụ ra quyết định</a:t>
            </a:r>
          </a:p>
          <a:p>
            <a:pPr algn="l">
              <a:spcBef>
                <a:spcPts val="700"/>
              </a:spcBef>
              <a:defRPr sz="1300">
                <a:solidFill>
                  <a:srgbClr val="0F172A"/>
                </a:solidFill>
                <a:latin typeface="Segoe UI"/>
              </a:defRPr>
            </a:pPr>
            <a:r>
              <a:t>• Tự động chỉ điểm danh mục Dead Stock cần ưu tiên giải phóng</a:t>
            </a:r>
          </a:p>
        </p:txBody>
      </p:sp>
      <p:sp>
        <p:nvSpPr>
          <p:cNvPr id="7" name="Rounded Rectangle 6"/>
          <p:cNvSpPr/>
          <p:nvPr/>
        </p:nvSpPr>
        <p:spPr>
          <a:xfrm>
            <a:off x="4416552" y="1463040"/>
            <a:ext cx="3364992" cy="804672"/>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50" b="1">
                <a:solidFill>
                  <a:srgbClr val="FFFFFF"/>
                </a:solidFill>
                <a:latin typeface="Segoe UI"/>
              </a:defRPr>
            </a:pPr>
            <a:r>
              <a:t>🧠 2. HỖ TRỢ ĐIỀU HÀNH THÔNG MINH</a:t>
            </a:r>
          </a:p>
        </p:txBody>
      </p:sp>
      <p:sp>
        <p:nvSpPr>
          <p:cNvPr id="8" name="Rounded Rectangle 7"/>
          <p:cNvSpPr/>
          <p:nvPr/>
        </p:nvSpPr>
        <p:spPr>
          <a:xfrm>
            <a:off x="8101584" y="1463040"/>
            <a:ext cx="3364992" cy="3977639"/>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932688"/>
          <a:lstStyle/>
          <a:p>
            <a:pPr algn="l">
              <a:defRPr sz="1400" b="1">
                <a:solidFill>
                  <a:srgbClr val="1E3A8A"/>
                </a:solidFill>
                <a:latin typeface="Segoe UI"/>
              </a:defRPr>
            </a:pPr>
            <a:r>
              <a:t>Khử Trùng Dữ Liệu &amp; Fallback Ngoại Tuyến</a:t>
            </a:r>
          </a:p>
          <a:p>
            <a:pPr algn="l">
              <a:spcBef>
                <a:spcPts val="700"/>
              </a:spcBef>
              <a:defRPr sz="1300">
                <a:solidFill>
                  <a:srgbClr val="0F172A"/>
                </a:solidFill>
                <a:latin typeface="Segoe UI"/>
              </a:defRPr>
            </a:pPr>
            <a:r>
              <a:t>• Module Data Sanitizer lọc sạch 100% trường giá vốn nhạy cảm</a:t>
            </a:r>
          </a:p>
          <a:p>
            <a:pPr algn="l">
              <a:spcBef>
                <a:spcPts val="700"/>
              </a:spcBef>
              <a:defRPr sz="1300">
                <a:solidFill>
                  <a:srgbClr val="0F172A"/>
                </a:solidFill>
                <a:latin typeface="Segoe UI"/>
              </a:defRPr>
            </a:pPr>
            <a:r>
              <a:t>• Endpoint audit dữ liệu minh bạch: GET /api/v1/ai/raw-context</a:t>
            </a:r>
          </a:p>
          <a:p>
            <a:pPr algn="l">
              <a:spcBef>
                <a:spcPts val="700"/>
              </a:spcBef>
              <a:defRPr sz="1300">
                <a:solidFill>
                  <a:srgbClr val="0F172A"/>
                </a:solidFill>
                <a:latin typeface="Segoe UI"/>
              </a:defRPr>
            </a:pPr>
            <a:r>
              <a:t>• Local Grounded Fallback Engine chạy khi mất mạng hoặc lỗi 429</a:t>
            </a:r>
          </a:p>
          <a:p>
            <a:pPr algn="l">
              <a:spcBef>
                <a:spcPts val="700"/>
              </a:spcBef>
              <a:defRPr sz="1300">
                <a:solidFill>
                  <a:srgbClr val="0F172A"/>
                </a:solidFill>
                <a:latin typeface="Segoe UI"/>
              </a:defRPr>
            </a:pPr>
            <a:r>
              <a:t>• Phân quyền RBAC 3 vai trò và cô lập phiên Tab Session</a:t>
            </a:r>
          </a:p>
        </p:txBody>
      </p:sp>
      <p:sp>
        <p:nvSpPr>
          <p:cNvPr id="9" name="Rounded Rectangle 8"/>
          <p:cNvSpPr/>
          <p:nvPr/>
        </p:nvSpPr>
        <p:spPr>
          <a:xfrm>
            <a:off x="8101584" y="1463040"/>
            <a:ext cx="3364992" cy="8046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50" b="1">
                <a:solidFill>
                  <a:srgbClr val="FFFFFF"/>
                </a:solidFill>
                <a:latin typeface="Segoe UI"/>
              </a:defRPr>
            </a:pPr>
            <a:r>
              <a:t>🔐 3. BẢO MẬT &amp; ĐỘ SẴN SÀNG CAO</a:t>
            </a:r>
          </a:p>
        </p:txBody>
      </p:sp>
      <p:sp>
        <p:nvSpPr>
          <p:cNvPr id="10" name="Rounded Rectangle 9"/>
          <p:cNvSpPr/>
          <p:nvPr/>
        </p:nvSpPr>
        <p:spPr>
          <a:xfrm>
            <a:off x="731520" y="5623560"/>
            <a:ext cx="10725912" cy="731520"/>
          </a:xfrm>
          <a:prstGeom prst="roundRect">
            <a:avLst/>
          </a:prstGeom>
          <a:solidFill>
            <a:srgbClr val="0F2341"/>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06B6D4"/>
                </a:solidFill>
                <a:latin typeface="Segoe UI"/>
              </a:defRPr>
            </a:pPr>
            <a:r>
              <a:t>🎯 KẾT QUẢ ĐẦU RA: Hệ thống hoàn chỉnh đáp ứng ACID, bảo mật dữ liệu AI, phân quyền 3 vai trò và vận hành đa thiết bị.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47472"/>
            <a:ext cx="2468880" cy="329184"/>
          </a:xfrm>
          <a:prstGeom prst="roundRect">
            <a:avLst/>
          </a:prstGeom>
          <a:solidFill>
            <a:srgbClr val="1E3A8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FFFFFF"/>
                </a:solidFill>
                <a:latin typeface="Segoe UI"/>
              </a:defRPr>
            </a:pPr>
            <a:r>
              <a:t>SYSTEM ARCHITECTURE</a:t>
            </a:r>
          </a:p>
        </p:txBody>
      </p:sp>
      <p:sp>
        <p:nvSpPr>
          <p:cNvPr id="3" name="TextBox 2"/>
          <p:cNvSpPr txBox="1"/>
          <p:nvPr/>
        </p:nvSpPr>
        <p:spPr>
          <a:xfrm>
            <a:off x="731520" y="713232"/>
            <a:ext cx="10725912" cy="621792"/>
          </a:xfrm>
          <a:prstGeom prst="rect">
            <a:avLst/>
          </a:prstGeom>
          <a:noFill/>
        </p:spPr>
        <p:txBody>
          <a:bodyPr wrap="square" lIns="0" tIns="0" rIns="0" bIns="0">
            <a:spAutoFit/>
          </a:bodyPr>
          <a:lstStyle/>
          <a:p>
            <a:pPr algn="l">
              <a:defRPr sz="2600" b="1">
                <a:solidFill>
                  <a:srgbClr val="1E3A8A"/>
                </a:solidFill>
                <a:latin typeface="Segoe UI"/>
              </a:defRPr>
            </a:pPr>
            <a:r>
              <a:t>Kiến Trúc Hệ Thống Phân Tầng (Layered Architecture)</a:t>
            </a:r>
          </a:p>
        </p:txBody>
      </p:sp>
      <p:sp>
        <p:nvSpPr>
          <p:cNvPr id="4" name="Rounded Rectangle 3"/>
          <p:cNvSpPr/>
          <p:nvPr/>
        </p:nvSpPr>
        <p:spPr>
          <a:xfrm>
            <a:off x="731520" y="1417320"/>
            <a:ext cx="10725912" cy="1115568"/>
          </a:xfrm>
          <a:prstGeom prst="roundRect">
            <a:avLst/>
          </a:prstGeom>
          <a:solidFill>
            <a:srgbClr val="F0F7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20040" rIns="274320" tIns="109728"/>
          <a:lstStyle/>
          <a:p>
            <a:pPr algn="l">
              <a:defRPr sz="1500" b="1">
                <a:solidFill>
                  <a:srgbClr val="2563EB"/>
                </a:solidFill>
                <a:latin typeface="Segoe UI"/>
              </a:defRPr>
            </a:pPr>
            <a:r>
              <a:t>1. PRESENTATION LAYER (TẦNG GIAO DIỆN &amp; TƯƠNG TÁC)</a:t>
            </a:r>
          </a:p>
          <a:p>
            <a:pPr algn="l">
              <a:spcBef>
                <a:spcPts val="300"/>
              </a:spcBef>
              <a:defRPr sz="1300" b="1">
                <a:solidFill>
                  <a:srgbClr val="2563EB"/>
                </a:solidFill>
                <a:latin typeface="Segoe UI"/>
              </a:defRPr>
            </a:pPr>
            <a:r>
              <a:t>Công nghệ cốt lõi: Jinja2 Server-Side Rendering • Tailwind CSS • Chart.js • Native WebSocket Client</a:t>
            </a:r>
          </a:p>
          <a:p>
            <a:pPr algn="l">
              <a:spcBef>
                <a:spcPts val="300"/>
              </a:spcBef>
              <a:defRPr sz="1250">
                <a:solidFill>
                  <a:srgbClr val="0F172A"/>
                </a:solidFill>
                <a:latin typeface="Segoe UI"/>
              </a:defRPr>
            </a:pPr>
            <a:r>
              <a:t>Nhiệm vụ kiến trúc: Hiển thị Dashboard điều hành thời gian thực, trực quan hóa KPI kho, tương tác trợ lý AI và hỗ trợ responsive trên PC, tablet, mobile.</a:t>
            </a:r>
          </a:p>
        </p:txBody>
      </p:sp>
      <p:sp>
        <p:nvSpPr>
          <p:cNvPr id="5" name="Rectangle 4"/>
          <p:cNvSpPr/>
          <p:nvPr/>
        </p:nvSpPr>
        <p:spPr>
          <a:xfrm>
            <a:off x="731520" y="1417320"/>
            <a:ext cx="164592" cy="11155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679192"/>
            <a:ext cx="10725912" cy="1115568"/>
          </a:xfrm>
          <a:prstGeom prst="roundRect">
            <a:avLst/>
          </a:prstGeom>
          <a:solidFill>
            <a:srgbClr val="F0F7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20040" rIns="274320" tIns="109728"/>
          <a:lstStyle/>
          <a:p>
            <a:pPr algn="l">
              <a:defRPr sz="1500" b="1">
                <a:solidFill>
                  <a:srgbClr val="1E3A8A"/>
                </a:solidFill>
                <a:latin typeface="Segoe UI"/>
              </a:defRPr>
            </a:pPr>
            <a:r>
              <a:t>2. SECURITY &amp; AUTH LAYER (TẦNG BẢO MẬT &amp; PHIÊN LÀM VIỆC)</a:t>
            </a:r>
          </a:p>
          <a:p>
            <a:pPr algn="l">
              <a:spcBef>
                <a:spcPts val="300"/>
              </a:spcBef>
              <a:defRPr sz="1300" b="1">
                <a:solidFill>
                  <a:srgbClr val="2563EB"/>
                </a:solidFill>
                <a:latin typeface="Segoe UI"/>
              </a:defRPr>
            </a:pPr>
            <a:r>
              <a:t>Công nghệ cốt lõi: FastAPI OAuth2 • JWT HTTPOnly Cookie • Bcrypt Hash (72 bytes) • Header X-Session-User</a:t>
            </a:r>
          </a:p>
          <a:p>
            <a:pPr algn="l">
              <a:spcBef>
                <a:spcPts val="300"/>
              </a:spcBef>
              <a:defRPr sz="1250">
                <a:solidFill>
                  <a:srgbClr val="0F172A"/>
                </a:solidFill>
                <a:latin typeface="Segoe UI"/>
              </a:defRPr>
            </a:pPr>
            <a:r>
              <a:t>Nhiệm vụ kiến trúc: Xác thực phiên an toàn chống XSS/CSRF, cô lập phiên làm việc đa tab (Tab Session Isolation) và thực thi phân quyền RBAC 3 vai trò chặt chẽ.</a:t>
            </a:r>
          </a:p>
        </p:txBody>
      </p:sp>
      <p:sp>
        <p:nvSpPr>
          <p:cNvPr id="7" name="Rectangle 6"/>
          <p:cNvSpPr/>
          <p:nvPr/>
        </p:nvSpPr>
        <p:spPr>
          <a:xfrm>
            <a:off x="731520" y="2679192"/>
            <a:ext cx="164592" cy="11155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941064"/>
            <a:ext cx="10725912" cy="1115568"/>
          </a:xfrm>
          <a:prstGeom prst="roundRect">
            <a:avLst/>
          </a:prstGeom>
          <a:solidFill>
            <a:srgbClr val="F0F7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20040" rIns="274320" tIns="109728"/>
          <a:lstStyle/>
          <a:p>
            <a:pPr algn="l">
              <a:defRPr sz="1500" b="1">
                <a:solidFill>
                  <a:srgbClr val="0F2341"/>
                </a:solidFill>
                <a:latin typeface="Segoe UI"/>
              </a:defRPr>
            </a:pPr>
            <a:r>
              <a:t>3. BUSINESS &amp; AI LAYER (TẦNG NGHIỆP VỤ &amp; TRÍ TUỆ NHÂN TẠO)</a:t>
            </a:r>
          </a:p>
          <a:p>
            <a:pPr algn="l">
              <a:spcBef>
                <a:spcPts val="300"/>
              </a:spcBef>
              <a:defRPr sz="1300" b="1">
                <a:solidFill>
                  <a:srgbClr val="2563EB"/>
                </a:solidFill>
                <a:latin typeface="Segoe UI"/>
              </a:defRPr>
            </a:pPr>
            <a:r>
              <a:t>Công nghệ cốt lõi: FastAPI Services • ACID Transactions • Google Gemini API Client • Local Fallback Engine</a:t>
            </a:r>
          </a:p>
          <a:p>
            <a:pPr algn="l">
              <a:spcBef>
                <a:spcPts val="300"/>
              </a:spcBef>
              <a:defRPr sz="1250">
                <a:solidFill>
                  <a:srgbClr val="0F172A"/>
                </a:solidFill>
                <a:latin typeface="Segoe UI"/>
              </a:defRPr>
            </a:pPr>
            <a:r>
              <a:t>Nhiệm vụ kiến trúc: Thực thi nghiệp vụ xuất nhập Master-Detail, tính toán Burn-rate, lọc sạch giá vốn qua Data Sanitizer và tự động kích hoạt Fallback khi lỗi mạng.</a:t>
            </a:r>
          </a:p>
        </p:txBody>
      </p:sp>
      <p:sp>
        <p:nvSpPr>
          <p:cNvPr id="9" name="Rectangle 8"/>
          <p:cNvSpPr/>
          <p:nvPr/>
        </p:nvSpPr>
        <p:spPr>
          <a:xfrm>
            <a:off x="731520" y="3941064"/>
            <a:ext cx="164592" cy="1115568"/>
          </a:xfrm>
          <a:prstGeom prst="rect">
            <a:avLst/>
          </a:prstGeom>
          <a:solidFill>
            <a:srgbClr val="0F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5202936"/>
            <a:ext cx="10725912" cy="1115568"/>
          </a:xfrm>
          <a:prstGeom prst="roundRect">
            <a:avLst/>
          </a:prstGeom>
          <a:solidFill>
            <a:srgbClr val="F0F7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320040" rIns="274320" tIns="109728"/>
          <a:lstStyle/>
          <a:p>
            <a:pPr algn="l">
              <a:defRPr sz="1500" b="1">
                <a:solidFill>
                  <a:srgbClr val="0A192F"/>
                </a:solidFill>
                <a:latin typeface="Segoe UI"/>
              </a:defRPr>
            </a:pPr>
            <a:r>
              <a:t>4. DATABASE LAYER (TẦNG CƠ SỞ DỮ LIỆU &amp; BẢO TOÀN DỮ LIỆU)</a:t>
            </a:r>
          </a:p>
          <a:p>
            <a:pPr algn="l">
              <a:spcBef>
                <a:spcPts val="300"/>
              </a:spcBef>
              <a:defRPr sz="1300" b="1">
                <a:solidFill>
                  <a:srgbClr val="2563EB"/>
                </a:solidFill>
                <a:latin typeface="Segoe UI"/>
              </a:defRPr>
            </a:pPr>
            <a:r>
              <a:t>Công nghệ cốt lõi: Dual DB: SQLite WAL (Dev/Test) / PostgreSQL 15 (Prod) • SQLAlchemy 2.0 ORM • 8 B-Tree Indexes</a:t>
            </a:r>
          </a:p>
          <a:p>
            <a:pPr algn="l">
              <a:spcBef>
                <a:spcPts val="300"/>
              </a:spcBef>
              <a:defRPr sz="1250">
                <a:solidFill>
                  <a:srgbClr val="0F172A"/>
                </a:solidFill>
                <a:latin typeface="Segoe UI"/>
              </a:defRPr>
            </a:pPr>
            <a:r>
              <a:t>Nhiệm vụ kiến trúc: Thực thi Atomic SQL Decrement, kiểm soát CheckConstraints cấp CSDL, ghi vết sổ Thẻ kho bất biến và tối ưu truy vấn dưới 5ms.</a:t>
            </a:r>
          </a:p>
        </p:txBody>
      </p:sp>
      <p:sp>
        <p:nvSpPr>
          <p:cNvPr id="11" name="Rectangle 10"/>
          <p:cNvSpPr/>
          <p:nvPr/>
        </p:nvSpPr>
        <p:spPr>
          <a:xfrm>
            <a:off x="731520" y="5202936"/>
            <a:ext cx="164592" cy="1115568"/>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47472"/>
            <a:ext cx="2468880" cy="329184"/>
          </a:xfrm>
          <a:prstGeom prst="roundRect">
            <a:avLst/>
          </a:prstGeom>
          <a:solidFill>
            <a:srgbClr val="1E3A8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FFFFFF"/>
                </a:solidFill>
                <a:latin typeface="Segoe UI"/>
              </a:defRPr>
            </a:pPr>
            <a:r>
              <a:t>DATABASE DESIGN</a:t>
            </a:r>
          </a:p>
        </p:txBody>
      </p:sp>
      <p:sp>
        <p:nvSpPr>
          <p:cNvPr id="3" name="TextBox 2"/>
          <p:cNvSpPr txBox="1"/>
          <p:nvPr/>
        </p:nvSpPr>
        <p:spPr>
          <a:xfrm>
            <a:off x="731520" y="713232"/>
            <a:ext cx="10725912" cy="621792"/>
          </a:xfrm>
          <a:prstGeom prst="rect">
            <a:avLst/>
          </a:prstGeom>
          <a:noFill/>
        </p:spPr>
        <p:txBody>
          <a:bodyPr wrap="square" lIns="0" tIns="0" rIns="0" bIns="0">
            <a:spAutoFit/>
          </a:bodyPr>
          <a:lstStyle/>
          <a:p>
            <a:pPr algn="l">
              <a:defRPr sz="2600" b="1">
                <a:solidFill>
                  <a:srgbClr val="1E3A8A"/>
                </a:solidFill>
                <a:latin typeface="Segoe UI"/>
              </a:defRPr>
            </a:pPr>
            <a:r>
              <a:t>Thiết Kế CSDL: Mô Hình 11 Bảng Chuẩn Hóa 3NF &amp; Tối Ưu Truy Vấn</a:t>
            </a:r>
          </a:p>
        </p:txBody>
      </p:sp>
      <p:sp>
        <p:nvSpPr>
          <p:cNvPr id="4" name="Rounded Rectangle 3"/>
          <p:cNvSpPr/>
          <p:nvPr/>
        </p:nvSpPr>
        <p:spPr>
          <a:xfrm>
            <a:off x="731520" y="1463040"/>
            <a:ext cx="5212080" cy="3977639"/>
          </a:xfrm>
          <a:prstGeom prst="roundRect">
            <a:avLst/>
          </a:prstGeom>
          <a:solidFill>
            <a:srgbClr val="F0F7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l">
              <a:defRPr sz="1500" b="1">
                <a:solidFill>
                  <a:srgbClr val="1E3A8A"/>
                </a:solidFill>
                <a:latin typeface="Segoe UI"/>
              </a:defRPr>
            </a:pPr>
            <a:r>
              <a:t>📊 11 THỰC THỂ QUAN HỆ CHUẨN HÓA 3NF</a:t>
            </a:r>
          </a:p>
          <a:p>
            <a:pPr algn="l">
              <a:spcBef>
                <a:spcPts val="700"/>
              </a:spcBef>
              <a:defRPr sz="1300">
                <a:solidFill>
                  <a:srgbClr val="0F172A"/>
                </a:solidFill>
                <a:latin typeface="Segoe UI"/>
              </a:defRPr>
            </a:pPr>
            <a:r>
              <a:t>• nguoi_dung: Quản trị tài khoản, mã hóa Bcrypt, phân quyền RBAC 3 vai trò</a:t>
            </a:r>
          </a:p>
          <a:p>
            <a:pPr algn="l">
              <a:spcBef>
                <a:spcPts val="700"/>
              </a:spcBef>
              <a:defRPr sz="1300">
                <a:solidFill>
                  <a:srgbClr val="0F172A"/>
                </a:solidFill>
                <a:latin typeface="Segoe UI"/>
              </a:defRPr>
            </a:pPr>
            <a:r>
              <a:t>• hang_hoa &amp; ton_kho: Quan hệ 1-1, kiểm soát số dư khả dụng và tồn an toàn</a:t>
            </a:r>
          </a:p>
          <a:p>
            <a:pPr algn="l">
              <a:spcBef>
                <a:spcPts val="700"/>
              </a:spcBef>
              <a:defRPr sz="1300">
                <a:solidFill>
                  <a:srgbClr val="0F172A"/>
                </a:solidFill>
                <a:latin typeface="Segoe UI"/>
              </a:defRPr>
            </a:pPr>
            <a:r>
              <a:t>• phieu_nhap &amp; chi_tiet: Chứng từ nhập kho Master-Detail, lưu trữ nhà cung cấp</a:t>
            </a:r>
          </a:p>
          <a:p>
            <a:pPr algn="l">
              <a:spcBef>
                <a:spcPts val="700"/>
              </a:spcBef>
              <a:defRPr sz="1300">
                <a:solidFill>
                  <a:srgbClr val="0F172A"/>
                </a:solidFill>
                <a:latin typeface="Segoe UI"/>
              </a:defRPr>
            </a:pPr>
            <a:r>
              <a:t>• phieu_xuat &amp; chi_tiet: Chứng từ xuất kho Master-Detail, liên kết người nhận</a:t>
            </a:r>
          </a:p>
          <a:p>
            <a:pPr algn="l">
              <a:spcBef>
                <a:spcPts val="700"/>
              </a:spcBef>
              <a:defRPr sz="1300">
                <a:solidFill>
                  <a:srgbClr val="0F172A"/>
                </a:solidFill>
                <a:latin typeface="Segoe UI"/>
              </a:defRPr>
            </a:pPr>
            <a:r>
              <a:t>• the_kho: Sổ cái ghi vết toàn bộ lịch sử xuất nhập và số dư lũy kế</a:t>
            </a:r>
          </a:p>
          <a:p>
            <a:pPr algn="l">
              <a:spcBef>
                <a:spcPts val="700"/>
              </a:spcBef>
              <a:defRPr sz="1300">
                <a:solidFill>
                  <a:srgbClr val="0F172A"/>
                </a:solidFill>
                <a:latin typeface="Segoe UI"/>
              </a:defRPr>
            </a:pPr>
            <a:r>
              <a:t>• Danh mục định chuẩn: nhom_hang, don_vi_tinh, nha_cung_cap loại bỏ trùng lặp</a:t>
            </a:r>
          </a:p>
        </p:txBody>
      </p:sp>
      <p:sp>
        <p:nvSpPr>
          <p:cNvPr id="5" name="Rounded Rectangle 4"/>
          <p:cNvSpPr/>
          <p:nvPr/>
        </p:nvSpPr>
        <p:spPr>
          <a:xfrm>
            <a:off x="6245352" y="1463040"/>
            <a:ext cx="5212080" cy="3977639"/>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l">
              <a:defRPr sz="1500" b="1">
                <a:solidFill>
                  <a:srgbClr val="2563EB"/>
                </a:solidFill>
                <a:latin typeface="Segoe UI"/>
              </a:defRPr>
            </a:pPr>
            <a:r>
              <a:t>⚡ TỐI ƯU HIỆU NĂNG &amp; RÀNG BUỘC TOÀN VẸN</a:t>
            </a:r>
          </a:p>
          <a:p>
            <a:pPr algn="l">
              <a:spcBef>
                <a:spcPts val="800"/>
              </a:spcBef>
              <a:defRPr sz="1300">
                <a:solidFill>
                  <a:srgbClr val="0F172A"/>
                </a:solidFill>
                <a:latin typeface="Segoe UI"/>
              </a:defRPr>
            </a:pPr>
            <a:r>
              <a:t>• Kiến trúc CSDL kép: Hỗ trợ SQLite WAL (Dev/Test) và PostgreSQL 15 (Production)</a:t>
            </a:r>
          </a:p>
          <a:p>
            <a:pPr algn="l">
              <a:spcBef>
                <a:spcPts val="800"/>
              </a:spcBef>
              <a:defRPr sz="1300">
                <a:solidFill>
                  <a:srgbClr val="0F172A"/>
                </a:solidFill>
                <a:latin typeface="Segoe UI"/>
              </a:defRPr>
            </a:pPr>
            <a:r>
              <a:t>• Hardware CheckConstraints: SoLuongTon &gt;= 0 và TonSauGiaoDich &gt;= 0</a:t>
            </a:r>
          </a:p>
          <a:p>
            <a:pPr algn="l">
              <a:spcBef>
                <a:spcPts val="800"/>
              </a:spcBef>
              <a:defRPr sz="1300">
                <a:solidFill>
                  <a:srgbClr val="0F172A"/>
                </a:solidFill>
                <a:latin typeface="Segoe UI"/>
              </a:defRPr>
            </a:pPr>
            <a:r>
              <a:t>• Ràng buộc Foreign Key: Kích hoạt Foreign Keys ON, loại bỏ hoàn toàn dữ liệu mồ côi</a:t>
            </a:r>
          </a:p>
          <a:p>
            <a:pPr algn="l">
              <a:spcBef>
                <a:spcPts val="800"/>
              </a:spcBef>
              <a:defRPr sz="1300">
                <a:solidFill>
                  <a:srgbClr val="0F172A"/>
                </a:solidFill>
                <a:latin typeface="Segoe UI"/>
              </a:defRPr>
            </a:pPr>
            <a:r>
              <a:t>• 8 B-Tree Indexes: Đánh trên NgayNhap, NgayXuat, MaNCC, MaPN, MaPX, MaHH</a:t>
            </a:r>
          </a:p>
          <a:p>
            <a:pPr algn="l">
              <a:spcBef>
                <a:spcPts val="800"/>
              </a:spcBef>
              <a:defRPr sz="1300">
                <a:solidFill>
                  <a:srgbClr val="0F172A"/>
                </a:solidFill>
                <a:latin typeface="Segoe UI"/>
              </a:defRPr>
            </a:pPr>
            <a:r>
              <a:t>• Hiệu năng tối ưu: Tốc độ phản hồi báo cáo 30 ngày và tra cứu Thẻ kho dưới 5ms</a:t>
            </a:r>
          </a:p>
        </p:txBody>
      </p:sp>
      <p:sp>
        <p:nvSpPr>
          <p:cNvPr id="6" name="Rounded Rectangle 5"/>
          <p:cNvSpPr/>
          <p:nvPr/>
        </p:nvSpPr>
        <p:spPr>
          <a:xfrm>
            <a:off x="731520" y="5623560"/>
            <a:ext cx="10725912" cy="731520"/>
          </a:xfrm>
          <a:prstGeom prst="roundRect">
            <a:avLst/>
          </a:prstGeom>
          <a:solidFill>
            <a:srgbClr val="0F2341"/>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06B6D4"/>
                </a:solidFill>
                <a:latin typeface="Segoe UI"/>
              </a:defRPr>
            </a:pPr>
            <a:r>
              <a:t>🔒 BẢO TOÀN CSDL: Dual-Database (SQLite WAL / PostgreSQL 15) kết hợp CheckConstraints bảo vệ toàn vẹn dữ liệu.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47472"/>
            <a:ext cx="2468880" cy="329184"/>
          </a:xfrm>
          <a:prstGeom prst="roundRect">
            <a:avLst/>
          </a:prstGeom>
          <a:solidFill>
            <a:srgbClr val="1E3A8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FFFFFF"/>
                </a:solidFill>
                <a:latin typeface="Segoe UI"/>
              </a:defRPr>
            </a:pPr>
            <a:r>
              <a:t>CORE FEATURE: CONCURRENCY</a:t>
            </a:r>
          </a:p>
        </p:txBody>
      </p:sp>
      <p:sp>
        <p:nvSpPr>
          <p:cNvPr id="3" name="TextBox 2"/>
          <p:cNvSpPr txBox="1"/>
          <p:nvPr/>
        </p:nvSpPr>
        <p:spPr>
          <a:xfrm>
            <a:off x="731520" y="713232"/>
            <a:ext cx="10725912" cy="621792"/>
          </a:xfrm>
          <a:prstGeom prst="rect">
            <a:avLst/>
          </a:prstGeom>
          <a:noFill/>
        </p:spPr>
        <p:txBody>
          <a:bodyPr wrap="square" lIns="0" tIns="0" rIns="0" bIns="0">
            <a:spAutoFit/>
          </a:bodyPr>
          <a:lstStyle/>
          <a:p>
            <a:pPr algn="l">
              <a:defRPr sz="2600" b="1">
                <a:solidFill>
                  <a:srgbClr val="1E3A8A"/>
                </a:solidFill>
                <a:latin typeface="Segoe UI"/>
              </a:defRPr>
            </a:pPr>
            <a:r>
              <a:t>Kỹ Thuật Cốt Lõi 1: Atomic SQL Decrement Triệt Tiêu Race Condition</a:t>
            </a:r>
          </a:p>
        </p:txBody>
      </p:sp>
      <p:sp>
        <p:nvSpPr>
          <p:cNvPr id="4" name="Rounded Rectangle 3"/>
          <p:cNvSpPr/>
          <p:nvPr/>
        </p:nvSpPr>
        <p:spPr>
          <a:xfrm>
            <a:off x="731520" y="1463040"/>
            <a:ext cx="5212080" cy="3977639"/>
          </a:xfrm>
          <a:prstGeom prst="roundRect">
            <a:avLst/>
          </a:prstGeom>
          <a:solidFill>
            <a:srgbClr val="F0F7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l">
              <a:defRPr sz="1450" b="1">
                <a:solidFill>
                  <a:srgbClr val="E11D48"/>
                </a:solidFill>
                <a:latin typeface="Segoe UI"/>
              </a:defRPr>
            </a:pPr>
            <a:r>
              <a:t>❌ CÁCH TIẾP CẬN CŨ: TRỪ TỒN KHO TRONG ỨNG DỤNG</a:t>
            </a:r>
          </a:p>
          <a:p>
            <a:pPr algn="l">
              <a:spcBef>
                <a:spcPts val="800"/>
              </a:spcBef>
              <a:defRPr sz="1300">
                <a:solidFill>
                  <a:srgbClr val="0F172A"/>
                </a:solidFill>
                <a:latin typeface="Segoe UI"/>
              </a:defRPr>
            </a:pPr>
            <a:r>
              <a:t>• Bước 1: Ứng dụng đọc số tồn vào bộ nhớ Python (ton = select())</a:t>
            </a:r>
          </a:p>
          <a:p>
            <a:pPr algn="l">
              <a:spcBef>
                <a:spcPts val="800"/>
              </a:spcBef>
              <a:defRPr sz="1300">
                <a:solidFill>
                  <a:srgbClr val="0F172A"/>
                </a:solidFill>
                <a:latin typeface="Segoe UI"/>
              </a:defRPr>
            </a:pPr>
            <a:r>
              <a:t>• Bước 2: Hai luồng đọc cùng số dư khả dụng (ví dụ tồn hiện thời = 10)</a:t>
            </a:r>
          </a:p>
          <a:p>
            <a:pPr algn="l">
              <a:spcBef>
                <a:spcPts val="800"/>
              </a:spcBef>
              <a:defRPr sz="1300">
                <a:solidFill>
                  <a:srgbClr val="0F172A"/>
                </a:solidFill>
                <a:latin typeface="Segoe UI"/>
              </a:defRPr>
            </a:pPr>
            <a:r>
              <a:t>• Bước 3: Cả hai luồng cùng trừ trong bộ nhớ và ghi đè vào CSDL (Lost Update)</a:t>
            </a:r>
          </a:p>
          <a:p>
            <a:pPr algn="l">
              <a:spcBef>
                <a:spcPts val="800"/>
              </a:spcBef>
              <a:defRPr sz="1300">
                <a:solidFill>
                  <a:srgbClr val="0F172A"/>
                </a:solidFill>
                <a:latin typeface="Segoe UI"/>
              </a:defRPr>
            </a:pPr>
            <a:r>
              <a:t>• HẬU QUẢ: Xuất vượt số lượng thực tế, gây tồn âm và sai lệch sổ sách kế toán</a:t>
            </a:r>
          </a:p>
        </p:txBody>
      </p:sp>
      <p:sp>
        <p:nvSpPr>
          <p:cNvPr id="5" name="Rounded Rectangle 4"/>
          <p:cNvSpPr/>
          <p:nvPr/>
        </p:nvSpPr>
        <p:spPr>
          <a:xfrm>
            <a:off x="6245352" y="1463040"/>
            <a:ext cx="5212080" cy="3977639"/>
          </a:xfrm>
          <a:prstGeom prst="roundRect">
            <a:avLst/>
          </a:prstGeom>
          <a:solidFill>
            <a:srgbClr val="F0F7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l">
              <a:defRPr sz="1450" b="1">
                <a:solidFill>
                  <a:srgbClr val="10B981"/>
                </a:solidFill>
                <a:latin typeface="Segoe UI"/>
              </a:defRPr>
            </a:pPr>
            <a:r>
              <a:t>✅ GIẢI PHÁP SMARTLOGIS AI: ATOMIC SQL DECREMENT</a:t>
            </a:r>
          </a:p>
          <a:p>
            <a:pPr algn="l">
              <a:spcBef>
                <a:spcPts val="700"/>
              </a:spcBef>
              <a:defRPr sz="1300">
                <a:solidFill>
                  <a:srgbClr val="0F172A"/>
                </a:solidFill>
                <a:latin typeface="Segoe UI"/>
              </a:defRPr>
            </a:pPr>
            <a:r>
              <a:t>• Đẩy câu lệnh UPDATE có điều kiện trực tiếp xuống Database Engine</a:t>
            </a:r>
          </a:p>
          <a:p>
            <a:pPr algn="l">
              <a:spcBef>
                <a:spcPts val="700"/>
              </a:spcBef>
              <a:defRPr sz="1300">
                <a:solidFill>
                  <a:srgbClr val="0F172A"/>
                </a:solidFill>
                <a:latin typeface="Segoe UI"/>
              </a:defRPr>
            </a:pPr>
            <a:r>
              <a:t>• Mệnh đề bảo vệ nguyên tử: WHERE SoLuongTon &gt;= :so_luong_xuat</a:t>
            </a:r>
          </a:p>
          <a:p>
            <a:pPr algn="l">
              <a:spcBef>
                <a:spcPts val="700"/>
              </a:spcBef>
              <a:defRPr sz="1300">
                <a:solidFill>
                  <a:srgbClr val="0F172A"/>
                </a:solidFill>
                <a:latin typeface="Segoe UI"/>
              </a:defRPr>
            </a:pPr>
            <a:r>
              <a:t>• Database Engine thực thi kiểm tra và cập nhật trong 1 thao tác duy nhất</a:t>
            </a:r>
          </a:p>
          <a:p>
            <a:pPr algn="l">
              <a:spcBef>
                <a:spcPts val="700"/>
              </a:spcBef>
              <a:defRPr sz="1300">
                <a:solidFill>
                  <a:srgbClr val="0F172A"/>
                </a:solidFill>
                <a:latin typeface="Segoe UI"/>
              </a:defRPr>
            </a:pPr>
            <a:r>
              <a:t>• Nếu hàng không đủ: rowcount == 0 -&gt; Kích hoạt Rollback toàn bộ và trả HTTP 400</a:t>
            </a:r>
          </a:p>
          <a:p>
            <a:pPr algn="l">
              <a:spcBef>
                <a:spcPts val="700"/>
              </a:spcBef>
              <a:defRPr sz="1300">
                <a:solidFill>
                  <a:srgbClr val="0F172A"/>
                </a:solidFill>
                <a:latin typeface="Segoe UI"/>
              </a:defRPr>
            </a:pPr>
            <a:r>
              <a:t>• KẾT QUẢ: Triệt tiêu 100% Race Condition, bảo đảm nguyên tắc Zero Negative Stock</a:t>
            </a:r>
          </a:p>
        </p:txBody>
      </p:sp>
      <p:sp>
        <p:nvSpPr>
          <p:cNvPr id="6" name="Rounded Rectangle 5"/>
          <p:cNvSpPr/>
          <p:nvPr/>
        </p:nvSpPr>
        <p:spPr>
          <a:xfrm>
            <a:off x="731520" y="5623560"/>
            <a:ext cx="10725912" cy="731520"/>
          </a:xfrm>
          <a:prstGeom prst="roundRect">
            <a:avLst/>
          </a:prstGeom>
          <a:solidFill>
            <a:srgbClr val="0A192F"/>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6B6D4"/>
                </a:solidFill>
                <a:latin typeface="Consolas"/>
              </a:defRPr>
            </a:pPr>
            <a:r>
              <a:t>UPDATE ton_kho SET SoLuongTon = SoLuongTon - :so_luong_xuat, CapNhatCuoi = :now WHERE MaHH = :ma_hh AND SoLuongTon &gt;= :so_luong_xuat;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47472"/>
            <a:ext cx="2468880" cy="329184"/>
          </a:xfrm>
          <a:prstGeom prst="roundRect">
            <a:avLst/>
          </a:prstGeom>
          <a:solidFill>
            <a:srgbClr val="1E3A8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FFFFFF"/>
                </a:solidFill>
                <a:latin typeface="Segoe UI"/>
              </a:defRPr>
            </a:pPr>
            <a:r>
              <a:t>CORE FEATURE: WORKFLOW &amp; RBAC</a:t>
            </a:r>
          </a:p>
        </p:txBody>
      </p:sp>
      <p:sp>
        <p:nvSpPr>
          <p:cNvPr id="3" name="TextBox 2"/>
          <p:cNvSpPr txBox="1"/>
          <p:nvPr/>
        </p:nvSpPr>
        <p:spPr>
          <a:xfrm>
            <a:off x="731520" y="713232"/>
            <a:ext cx="10725912" cy="621792"/>
          </a:xfrm>
          <a:prstGeom prst="rect">
            <a:avLst/>
          </a:prstGeom>
          <a:noFill/>
        </p:spPr>
        <p:txBody>
          <a:bodyPr wrap="square" lIns="0" tIns="0" rIns="0" bIns="0">
            <a:spAutoFit/>
          </a:bodyPr>
          <a:lstStyle/>
          <a:p>
            <a:pPr algn="l">
              <a:defRPr sz="2600" b="1">
                <a:solidFill>
                  <a:srgbClr val="1E3A8A"/>
                </a:solidFill>
                <a:latin typeface="Segoe UI"/>
              </a:defRPr>
            </a:pPr>
            <a:r>
              <a:t>Kỹ Thuật Cốt Lõi 2: Quy Trình Giao Dịch ACID &amp; Phân Quyền RBAC</a:t>
            </a:r>
          </a:p>
        </p:txBody>
      </p:sp>
      <p:sp>
        <p:nvSpPr>
          <p:cNvPr id="4" name="Rounded Rectangle 3"/>
          <p:cNvSpPr/>
          <p:nvPr/>
        </p:nvSpPr>
        <p:spPr>
          <a:xfrm>
            <a:off x="731520" y="1417320"/>
            <a:ext cx="10725912" cy="1234440"/>
          </a:xfrm>
          <a:prstGeom prst="roundRect">
            <a:avLst/>
          </a:prstGeom>
          <a:solidFill>
            <a:srgbClr val="F0F7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28016"/>
          <a:lstStyle/>
          <a:p>
            <a:pPr algn="l">
              <a:defRPr sz="1400" b="1">
                <a:solidFill>
                  <a:srgbClr val="1E3A8A"/>
                </a:solidFill>
                <a:latin typeface="Segoe UI"/>
              </a:defRPr>
            </a:pPr>
            <a:r>
              <a:t>🔄 CHU TRÌNH GIAO DỊCH MASTER-DETAIL (100% ACID TRANSACTION)</a:t>
            </a:r>
          </a:p>
          <a:p>
            <a:pPr algn="l">
              <a:spcBef>
                <a:spcPts val="400"/>
              </a:spcBef>
              <a:defRPr sz="1300" b="1">
                <a:solidFill>
                  <a:srgbClr val="2563EB"/>
                </a:solidFill>
                <a:latin typeface="Segoe UI"/>
              </a:defRPr>
            </a:pPr>
            <a:r>
              <a:t>[1. Khởi tạo Master Chứng từ] ➔ [2. Ghi nhận Detail SKU] ➔ [3. Atomic Decrement Tồn kho] ➔ [4. Ghi Sổ Thẻ kho lũy kế]</a:t>
            </a:r>
          </a:p>
          <a:p>
            <a:pPr algn="l">
              <a:spcBef>
                <a:spcPts val="300"/>
              </a:spcBef>
              <a:defRPr sz="1250">
                <a:solidFill>
                  <a:srgbClr val="0F172A"/>
                </a:solidFill>
                <a:latin typeface="Segoe UI"/>
              </a:defRPr>
            </a:pPr>
            <a:r>
              <a:t>Nguyên tắc All-or-Nothing: Bất kỳ bước nào không hợp lệ, toàn bộ giao dịch được Rollback ngay lập tức.</a:t>
            </a:r>
          </a:p>
        </p:txBody>
      </p:sp>
      <p:graphicFrame>
        <p:nvGraphicFramePr>
          <p:cNvPr id="5" name="Table 4"/>
          <p:cNvGraphicFramePr>
            <a:graphicFrameLocks noGrp="1"/>
          </p:cNvGraphicFramePr>
          <p:nvPr/>
        </p:nvGraphicFramePr>
        <p:xfrm>
          <a:off x="731520" y="2788920"/>
          <a:ext cx="10725912" cy="3566160"/>
        </p:xfrm>
        <a:graphic>
          <a:graphicData uri="http://schemas.openxmlformats.org/drawingml/2006/table">
            <a:tbl>
              <a:tblPr firstRow="1" bandRow="1">
                <a:tableStyleId>{5C22544A-7EE6-4342-B048-85BDC9FD1C3A}</a:tableStyleId>
              </a:tblPr>
              <a:tblGrid>
                <a:gridCol w="3593592"/>
                <a:gridCol w="2377440"/>
                <a:gridCol w="2377440"/>
                <a:gridCol w="2377440"/>
              </a:tblGrid>
              <a:tr h="594360">
                <a:tc>
                  <a:txBody>
                    <a:bodyPr/>
                    <a:lstStyle/>
                    <a:p>
                      <a:pPr algn="l">
                        <a:defRPr sz="1200" b="1">
                          <a:solidFill>
                            <a:srgbClr val="FFFFFF"/>
                          </a:solidFill>
                          <a:latin typeface="Segoe UI"/>
                        </a:defRPr>
                      </a:pPr>
                      <a:r>
                        <a:t>NGHIỆP VỤ &amp; TÀI NGUYÊN</a:t>
                      </a:r>
                    </a:p>
                  </a:txBody>
                  <a:tcPr anchor="ctr">
                    <a:solidFill>
                      <a:srgbClr val="1E3A8A"/>
                    </a:solidFill>
                  </a:tcPr>
                </a:tc>
                <a:tc>
                  <a:txBody>
                    <a:bodyPr/>
                    <a:lstStyle/>
                    <a:p>
                      <a:pPr algn="ctr">
                        <a:defRPr sz="1200" b="1">
                          <a:solidFill>
                            <a:srgbClr val="FFFFFF"/>
                          </a:solidFill>
                          <a:latin typeface="Segoe UI"/>
                        </a:defRPr>
                      </a:pPr>
                      <a:r>
                        <a:t>ADMIN HỆ THỐNG</a:t>
                      </a:r>
                    </a:p>
                  </a:txBody>
                  <a:tcPr anchor="ctr">
                    <a:solidFill>
                      <a:srgbClr val="1E3A8A"/>
                    </a:solidFill>
                  </a:tcPr>
                </a:tc>
                <a:tc>
                  <a:txBody>
                    <a:bodyPr/>
                    <a:lstStyle/>
                    <a:p>
                      <a:pPr algn="ctr">
                        <a:defRPr sz="1200" b="1">
                          <a:solidFill>
                            <a:srgbClr val="FFFFFF"/>
                          </a:solidFill>
                          <a:latin typeface="Segoe UI"/>
                        </a:defRPr>
                      </a:pPr>
                      <a:r>
                        <a:t>THỦ KHO KIÊM KẾ TOÁN</a:t>
                      </a:r>
                    </a:p>
                  </a:txBody>
                  <a:tcPr anchor="ctr">
                    <a:solidFill>
                      <a:srgbClr val="1E3A8A"/>
                    </a:solidFill>
                  </a:tcPr>
                </a:tc>
                <a:tc>
                  <a:txBody>
                    <a:bodyPr/>
                    <a:lstStyle/>
                    <a:p>
                      <a:pPr algn="ctr">
                        <a:defRPr sz="1200" b="1">
                          <a:solidFill>
                            <a:srgbClr val="FFFFFF"/>
                          </a:solidFill>
                          <a:latin typeface="Segoe UI"/>
                        </a:defRPr>
                      </a:pPr>
                      <a:r>
                        <a:t>NHÂN VIÊN KHO (STAFF)</a:t>
                      </a:r>
                    </a:p>
                  </a:txBody>
                  <a:tcPr anchor="ctr">
                    <a:solidFill>
                      <a:srgbClr val="1E3A8A"/>
                    </a:solidFill>
                  </a:tcPr>
                </a:tc>
              </a:tr>
              <a:tr h="594360">
                <a:tc>
                  <a:txBody>
                    <a:bodyPr/>
                    <a:lstStyle/>
                    <a:p>
                      <a:pPr>
                        <a:defRPr sz="1200">
                          <a:solidFill>
                            <a:srgbClr val="0F172A"/>
                          </a:solidFill>
                          <a:latin typeface="Segoe UI"/>
                        </a:defRPr>
                      </a:pPr>
                      <a:r>
                        <a:t>Quản trị tài khoản &amp; Cấu hình hệ thống</a:t>
                      </a:r>
                    </a:p>
                  </a:txBody>
                  <a:tcPr anchor="ctr">
                    <a:solidFill>
                      <a:srgbClr val="F0F7FF"/>
                    </a:solidFill>
                  </a:tcPr>
                </a:tc>
                <a:tc>
                  <a:txBody>
                    <a:bodyPr/>
                    <a:lstStyle/>
                    <a:p>
                      <a:pPr algn="ctr">
                        <a:defRPr sz="1200" b="1">
                          <a:solidFill>
                            <a:srgbClr val="10B981"/>
                          </a:solidFill>
                          <a:latin typeface="Segoe UI"/>
                        </a:defRPr>
                      </a:pPr>
                      <a:r>
                        <a:t>✅ Toàn quyền quản trị</a:t>
                      </a:r>
                    </a:p>
                  </a:txBody>
                  <a:tcPr anchor="ctr">
                    <a:solidFill>
                      <a:srgbClr val="F0F7FF"/>
                    </a:solidFill>
                  </a:tcPr>
                </a:tc>
                <a:tc>
                  <a:txBody>
                    <a:bodyPr/>
                    <a:lstStyle/>
                    <a:p>
                      <a:pPr algn="ctr">
                        <a:defRPr sz="1200">
                          <a:solidFill>
                            <a:srgbClr val="E11D48"/>
                          </a:solidFill>
                          <a:latin typeface="Segoe UI"/>
                        </a:defRPr>
                      </a:pPr>
                      <a:r>
                        <a:t>❌ Không có quyền</a:t>
                      </a:r>
                    </a:p>
                  </a:txBody>
                  <a:tcPr anchor="ctr">
                    <a:solidFill>
                      <a:srgbClr val="F0F7FF"/>
                    </a:solidFill>
                  </a:tcPr>
                </a:tc>
                <a:tc>
                  <a:txBody>
                    <a:bodyPr/>
                    <a:lstStyle/>
                    <a:p>
                      <a:pPr algn="ctr">
                        <a:defRPr sz="1200">
                          <a:solidFill>
                            <a:srgbClr val="E11D48"/>
                          </a:solidFill>
                          <a:latin typeface="Segoe UI"/>
                        </a:defRPr>
                      </a:pPr>
                      <a:r>
                        <a:t>❌ Không có quyền</a:t>
                      </a:r>
                    </a:p>
                  </a:txBody>
                  <a:tcPr anchor="ctr">
                    <a:solidFill>
                      <a:srgbClr val="F0F7FF"/>
                    </a:solidFill>
                  </a:tcPr>
                </a:tc>
              </a:tr>
              <a:tr h="594360">
                <a:tc>
                  <a:txBody>
                    <a:bodyPr/>
                    <a:lstStyle/>
                    <a:p>
                      <a:pPr>
                        <a:defRPr sz="1200">
                          <a:solidFill>
                            <a:srgbClr val="0F172A"/>
                          </a:solidFill>
                          <a:latin typeface="Segoe UI"/>
                        </a:defRPr>
                      </a:pPr>
                      <a:r>
                        <a:t>Quản lý danh mục SKU &amp; Nhà cung cấp</a:t>
                      </a:r>
                    </a:p>
                  </a:txBody>
                  <a:tcPr anchor="ctr">
                    <a:solidFill>
                      <a:srgbClr val="FFFFFF"/>
                    </a:solidFill>
                  </a:tcPr>
                </a:tc>
                <a:tc>
                  <a:txBody>
                    <a:bodyPr/>
                    <a:lstStyle/>
                    <a:p>
                      <a:pPr algn="ctr">
                        <a:defRPr sz="1200" b="1">
                          <a:solidFill>
                            <a:srgbClr val="10B981"/>
                          </a:solidFill>
                          <a:latin typeface="Segoe UI"/>
                        </a:defRPr>
                      </a:pPr>
                      <a:r>
                        <a:t>✅ Toàn quyền quản lý</a:t>
                      </a:r>
                    </a:p>
                  </a:txBody>
                  <a:tcPr anchor="ctr">
                    <a:solidFill>
                      <a:srgbClr val="FFFFFF"/>
                    </a:solidFill>
                  </a:tcPr>
                </a:tc>
                <a:tc>
                  <a:txBody>
                    <a:bodyPr/>
                    <a:lstStyle/>
                    <a:p>
                      <a:pPr algn="ctr">
                        <a:defRPr sz="1200" b="1">
                          <a:solidFill>
                            <a:srgbClr val="10B981"/>
                          </a:solidFill>
                          <a:latin typeface="Segoe UI"/>
                        </a:defRPr>
                      </a:pPr>
                      <a:r>
                        <a:t>✅ Toàn quyền quản lý</a:t>
                      </a:r>
                    </a:p>
                  </a:txBody>
                  <a:tcPr anchor="ctr">
                    <a:solidFill>
                      <a:srgbClr val="FFFFFF"/>
                    </a:solidFill>
                  </a:tcPr>
                </a:tc>
                <a:tc>
                  <a:txBody>
                    <a:bodyPr/>
                    <a:lstStyle/>
                    <a:p>
                      <a:pPr algn="ctr">
                        <a:defRPr sz="1200">
                          <a:solidFill>
                            <a:srgbClr val="E11D48"/>
                          </a:solidFill>
                          <a:latin typeface="Segoe UI"/>
                        </a:defRPr>
                      </a:pPr>
                      <a:r>
                        <a:t>❌ Chế độ chỉ đọc (Read-only)</a:t>
                      </a:r>
                    </a:p>
                  </a:txBody>
                  <a:tcPr anchor="ctr">
                    <a:solidFill>
                      <a:srgbClr val="FFFFFF"/>
                    </a:solidFill>
                  </a:tcPr>
                </a:tc>
              </a:tr>
              <a:tr h="594360">
                <a:tc>
                  <a:txBody>
                    <a:bodyPr/>
                    <a:lstStyle/>
                    <a:p>
                      <a:pPr>
                        <a:defRPr sz="1200">
                          <a:solidFill>
                            <a:srgbClr val="0F172A"/>
                          </a:solidFill>
                          <a:latin typeface="Segoe UI"/>
                        </a:defRPr>
                      </a:pPr>
                      <a:r>
                        <a:t>Lập phiếu Nhập / Xuất kho ACID</a:t>
                      </a:r>
                    </a:p>
                  </a:txBody>
                  <a:tcPr anchor="ctr">
                    <a:solidFill>
                      <a:srgbClr val="F0F7FF"/>
                    </a:solidFill>
                  </a:tcPr>
                </a:tc>
                <a:tc>
                  <a:txBody>
                    <a:bodyPr/>
                    <a:lstStyle/>
                    <a:p>
                      <a:pPr algn="ctr">
                        <a:defRPr sz="1200" b="1">
                          <a:solidFill>
                            <a:srgbClr val="10B981"/>
                          </a:solidFill>
                          <a:latin typeface="Segoe UI"/>
                        </a:defRPr>
                      </a:pPr>
                      <a:r>
                        <a:t>✅ Cho phép thực hiện</a:t>
                      </a:r>
                    </a:p>
                  </a:txBody>
                  <a:tcPr anchor="ctr">
                    <a:solidFill>
                      <a:srgbClr val="F0F7FF"/>
                    </a:solidFill>
                  </a:tcPr>
                </a:tc>
                <a:tc>
                  <a:txBody>
                    <a:bodyPr/>
                    <a:lstStyle/>
                    <a:p>
                      <a:pPr algn="ctr">
                        <a:defRPr sz="1200" b="1">
                          <a:solidFill>
                            <a:srgbClr val="10B981"/>
                          </a:solidFill>
                          <a:latin typeface="Segoe UI"/>
                        </a:defRPr>
                      </a:pPr>
                      <a:r>
                        <a:t>✅ Lập phiếu &amp; ghi sổ</a:t>
                      </a:r>
                    </a:p>
                  </a:txBody>
                  <a:tcPr anchor="ctr">
                    <a:solidFill>
                      <a:srgbClr val="F0F7FF"/>
                    </a:solidFill>
                  </a:tcPr>
                </a:tc>
                <a:tc>
                  <a:txBody>
                    <a:bodyPr/>
                    <a:lstStyle/>
                    <a:p>
                      <a:pPr algn="ctr">
                        <a:defRPr sz="1200">
                          <a:solidFill>
                            <a:srgbClr val="E11D48"/>
                          </a:solidFill>
                          <a:latin typeface="Segoe UI"/>
                        </a:defRPr>
                      </a:pPr>
                      <a:r>
                        <a:t>❌ Bị chặn (HTTP 403 / Redirect)</a:t>
                      </a:r>
                    </a:p>
                  </a:txBody>
                  <a:tcPr anchor="ctr">
                    <a:solidFill>
                      <a:srgbClr val="F0F7FF"/>
                    </a:solidFill>
                  </a:tcPr>
                </a:tc>
              </a:tr>
              <a:tr h="594360">
                <a:tc>
                  <a:txBody>
                    <a:bodyPr/>
                    <a:lstStyle/>
                    <a:p>
                      <a:pPr>
                        <a:defRPr sz="1200">
                          <a:solidFill>
                            <a:srgbClr val="0F172A"/>
                          </a:solidFill>
                          <a:latin typeface="Segoe UI"/>
                        </a:defRPr>
                      </a:pPr>
                      <a:r>
                        <a:t>Xuất báo cáo tài chính kế toán Excel</a:t>
                      </a:r>
                    </a:p>
                  </a:txBody>
                  <a:tcPr anchor="ctr">
                    <a:solidFill>
                      <a:srgbClr val="FFFFFF"/>
                    </a:solidFill>
                  </a:tcPr>
                </a:tc>
                <a:tc>
                  <a:txBody>
                    <a:bodyPr/>
                    <a:lstStyle/>
                    <a:p>
                      <a:pPr algn="ctr">
                        <a:defRPr sz="1200" b="1">
                          <a:solidFill>
                            <a:srgbClr val="10B981"/>
                          </a:solidFill>
                          <a:latin typeface="Segoe UI"/>
                        </a:defRPr>
                      </a:pPr>
                      <a:r>
                        <a:t>✅ Cho phép thực hiện</a:t>
                      </a:r>
                    </a:p>
                  </a:txBody>
                  <a:tcPr anchor="ctr">
                    <a:solidFill>
                      <a:srgbClr val="FFFFFF"/>
                    </a:solidFill>
                  </a:tcPr>
                </a:tc>
                <a:tc>
                  <a:txBody>
                    <a:bodyPr/>
                    <a:lstStyle/>
                    <a:p>
                      <a:pPr algn="ctr">
                        <a:defRPr sz="1200" b="1">
                          <a:solidFill>
                            <a:srgbClr val="10B981"/>
                          </a:solidFill>
                          <a:latin typeface="Segoe UI"/>
                        </a:defRPr>
                      </a:pPr>
                      <a:r>
                        <a:t>✅ Xuất báo cáo Excel</a:t>
                      </a:r>
                    </a:p>
                  </a:txBody>
                  <a:tcPr anchor="ctr">
                    <a:solidFill>
                      <a:srgbClr val="FFFFFF"/>
                    </a:solidFill>
                  </a:tcPr>
                </a:tc>
                <a:tc>
                  <a:txBody>
                    <a:bodyPr/>
                    <a:lstStyle/>
                    <a:p>
                      <a:pPr algn="ctr">
                        <a:defRPr sz="1200">
                          <a:solidFill>
                            <a:srgbClr val="E11D48"/>
                          </a:solidFill>
                          <a:latin typeface="Segoe UI"/>
                        </a:defRPr>
                      </a:pPr>
                      <a:r>
                        <a:t>❌ Bị chặn (HTTP 403)</a:t>
                      </a:r>
                    </a:p>
                  </a:txBody>
                  <a:tcPr anchor="ctr">
                    <a:solidFill>
                      <a:srgbClr val="FFFFFF"/>
                    </a:solidFill>
                  </a:tcPr>
                </a:tc>
              </a:tr>
              <a:tr h="594360">
                <a:tc>
                  <a:txBody>
                    <a:bodyPr/>
                    <a:lstStyle/>
                    <a:p>
                      <a:pPr>
                        <a:defRPr sz="1200">
                          <a:solidFill>
                            <a:srgbClr val="0F172A"/>
                          </a:solidFill>
                          <a:latin typeface="Segoe UI"/>
                        </a:defRPr>
                      </a:pPr>
                      <a:r>
                        <a:t>Tra cứu Tồn kho &amp; Sổ Thẻ kho lũy kế</a:t>
                      </a:r>
                    </a:p>
                  </a:txBody>
                  <a:tcPr anchor="ctr">
                    <a:solidFill>
                      <a:srgbClr val="F0F7FF"/>
                    </a:solidFill>
                  </a:tcPr>
                </a:tc>
                <a:tc>
                  <a:txBody>
                    <a:bodyPr/>
                    <a:lstStyle/>
                    <a:p>
                      <a:pPr algn="ctr">
                        <a:defRPr sz="1200" b="1">
                          <a:solidFill>
                            <a:srgbClr val="10B981"/>
                          </a:solidFill>
                          <a:latin typeface="Segoe UI"/>
                        </a:defRPr>
                      </a:pPr>
                      <a:r>
                        <a:t>✅ Xem toàn bộ dữ liệu</a:t>
                      </a:r>
                    </a:p>
                  </a:txBody>
                  <a:tcPr anchor="ctr">
                    <a:solidFill>
                      <a:srgbClr val="F0F7FF"/>
                    </a:solidFill>
                  </a:tcPr>
                </a:tc>
                <a:tc>
                  <a:txBody>
                    <a:bodyPr/>
                    <a:lstStyle/>
                    <a:p>
                      <a:pPr algn="ctr">
                        <a:defRPr sz="1200" b="1">
                          <a:solidFill>
                            <a:srgbClr val="10B981"/>
                          </a:solidFill>
                          <a:latin typeface="Segoe UI"/>
                        </a:defRPr>
                      </a:pPr>
                      <a:r>
                        <a:t>✅ Tra cứu &amp; cảnh báo</a:t>
                      </a:r>
                    </a:p>
                  </a:txBody>
                  <a:tcPr anchor="ctr">
                    <a:solidFill>
                      <a:srgbClr val="F0F7FF"/>
                    </a:solidFill>
                  </a:tcPr>
                </a:tc>
                <a:tc>
                  <a:txBody>
                    <a:bodyPr/>
                    <a:lstStyle/>
                    <a:p>
                      <a:pPr algn="ctr">
                        <a:defRPr sz="1200" b="1">
                          <a:solidFill>
                            <a:srgbClr val="10B981"/>
                          </a:solidFill>
                          <a:latin typeface="Segoe UI"/>
                        </a:defRPr>
                      </a:pPr>
                      <a:r>
                        <a:t>✅ Tra cứu kiểm đếm hiện trường</a:t>
                      </a:r>
                    </a:p>
                  </a:txBody>
                  <a:tcPr anchor="ctr">
                    <a:solidFill>
                      <a:srgbClr val="F0F7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47472"/>
            <a:ext cx="2468880" cy="329184"/>
          </a:xfrm>
          <a:prstGeom prst="roundRect">
            <a:avLst/>
          </a:prstGeom>
          <a:solidFill>
            <a:srgbClr val="1E3A8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FFFFFF"/>
                </a:solidFill>
                <a:latin typeface="Segoe UI"/>
              </a:defRPr>
            </a:pPr>
            <a:r>
              <a:t>AI INTEGRATION: PRIVACY</a:t>
            </a:r>
          </a:p>
        </p:txBody>
      </p:sp>
      <p:sp>
        <p:nvSpPr>
          <p:cNvPr id="3" name="TextBox 2"/>
          <p:cNvSpPr txBox="1"/>
          <p:nvPr/>
        </p:nvSpPr>
        <p:spPr>
          <a:xfrm>
            <a:off x="731520" y="713232"/>
            <a:ext cx="10725912" cy="621792"/>
          </a:xfrm>
          <a:prstGeom prst="rect">
            <a:avLst/>
          </a:prstGeom>
          <a:noFill/>
        </p:spPr>
        <p:txBody>
          <a:bodyPr wrap="square" lIns="0" tIns="0" rIns="0" bIns="0">
            <a:spAutoFit/>
          </a:bodyPr>
          <a:lstStyle/>
          <a:p>
            <a:pPr algn="l">
              <a:defRPr sz="2600" b="1">
                <a:solidFill>
                  <a:srgbClr val="1E3A8A"/>
                </a:solidFill>
                <a:latin typeface="Segoe UI"/>
              </a:defRPr>
            </a:pPr>
            <a:r>
              <a:t>Tích Hợp AI 1: Module Data Sanitizer Khử Nhạy Cảm Dữ Liệu</a:t>
            </a:r>
          </a:p>
        </p:txBody>
      </p:sp>
      <p:sp>
        <p:nvSpPr>
          <p:cNvPr id="4" name="Rounded Rectangle 3"/>
          <p:cNvSpPr/>
          <p:nvPr/>
        </p:nvSpPr>
        <p:spPr>
          <a:xfrm>
            <a:off x="731520" y="1417320"/>
            <a:ext cx="3364992" cy="1115568"/>
          </a:xfrm>
          <a:prstGeom prst="roundRect">
            <a:avLst/>
          </a:prstGeom>
          <a:solidFill>
            <a:srgbClr val="F0F7FF"/>
          </a:solidFill>
          <a:ln w="19050">
            <a:solidFill>
              <a:srgbClr val="0F2341"/>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300" b="1">
                <a:solidFill>
                  <a:srgbClr val="0F2341"/>
                </a:solidFill>
                <a:latin typeface="Segoe UI"/>
              </a:defRPr>
            </a:pPr>
            <a:r>
              <a:t>1. CSDL KHO NỘI BỘ</a:t>
            </a:r>
          </a:p>
          <a:p>
            <a:pPr algn="ctr">
              <a:spcBef>
                <a:spcPts val="300"/>
              </a:spcBef>
              <a:defRPr sz="1150">
                <a:solidFill>
                  <a:srgbClr val="0F172A"/>
                </a:solidFill>
                <a:latin typeface="Segoe UI"/>
              </a:defRPr>
            </a:pPr>
            <a:r>
              <a:t>Chứa đơn giá nhập, giá vốn,</a:t>
            </a:r>
            <a:br/>
            <a:r>
              <a:t>thành tiền và chiết khấu nhà cung cấp</a:t>
            </a:r>
          </a:p>
        </p:txBody>
      </p:sp>
      <p:sp>
        <p:nvSpPr>
          <p:cNvPr id="5" name="Rounded Rectangle 4"/>
          <p:cNvSpPr/>
          <p:nvPr/>
        </p:nvSpPr>
        <p:spPr>
          <a:xfrm>
            <a:off x="4416552" y="1417320"/>
            <a:ext cx="3364992" cy="1115568"/>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300" b="1">
                <a:solidFill>
                  <a:srgbClr val="2563EB"/>
                </a:solidFill>
                <a:latin typeface="Segoe UI"/>
              </a:defRPr>
            </a:pPr>
            <a:r>
              <a:t>2. DATA SANITIZER FILTER</a:t>
            </a:r>
          </a:p>
          <a:p>
            <a:pPr algn="ctr">
              <a:spcBef>
                <a:spcPts val="300"/>
              </a:spcBef>
              <a:defRPr sz="1150">
                <a:solidFill>
                  <a:srgbClr val="0F172A"/>
                </a:solidFill>
                <a:latin typeface="Segoe UI"/>
              </a:defRPr>
            </a:pPr>
            <a:r>
              <a:t>Thuật toán lọc đệ quy loại bỏ 100%</a:t>
            </a:r>
            <a:br/>
            <a:r>
              <a:t>các trường tài chính nhạy cảm</a:t>
            </a:r>
          </a:p>
        </p:txBody>
      </p:sp>
      <p:sp>
        <p:nvSpPr>
          <p:cNvPr id="6" name="Rounded Rectangle 5"/>
          <p:cNvSpPr/>
          <p:nvPr/>
        </p:nvSpPr>
        <p:spPr>
          <a:xfrm>
            <a:off x="8101584" y="1417320"/>
            <a:ext cx="3364992" cy="1115568"/>
          </a:xfrm>
          <a:prstGeom prst="roundRect">
            <a:avLst/>
          </a:prstGeom>
          <a:solidFill>
            <a:srgbClr val="F0F7FF"/>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300" b="1">
                <a:solidFill>
                  <a:srgbClr val="06B6D4"/>
                </a:solidFill>
                <a:latin typeface="Segoe UI"/>
              </a:defRPr>
            </a:pPr>
            <a:r>
              <a:t>3. SANITIZED CONTEXT CHO AI</a:t>
            </a:r>
          </a:p>
          <a:p>
            <a:pPr algn="ctr">
              <a:spcBef>
                <a:spcPts val="300"/>
              </a:spcBef>
              <a:defRPr sz="1150">
                <a:solidFill>
                  <a:srgbClr val="0F172A"/>
                </a:solidFill>
                <a:latin typeface="Segoe UI"/>
              </a:defRPr>
            </a:pPr>
            <a:r>
              <a:t>Chỉ gồm mã hàng, tên hàng, số tồn,</a:t>
            </a:r>
            <a:br/>
            <a:r>
              <a:t>tốc độ Burn-rate &amp; số ngày lưu kho</a:t>
            </a:r>
          </a:p>
        </p:txBody>
      </p:sp>
      <p:sp>
        <p:nvSpPr>
          <p:cNvPr id="7" name="Rounded Rectangle 6"/>
          <p:cNvSpPr/>
          <p:nvPr/>
        </p:nvSpPr>
        <p:spPr>
          <a:xfrm>
            <a:off x="731520" y="2743200"/>
            <a:ext cx="5212080" cy="3749039"/>
          </a:xfrm>
          <a:prstGeom prst="roundRect">
            <a:avLst/>
          </a:prstGeom>
          <a:solidFill>
            <a:srgbClr val="F0F7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l">
              <a:defRPr sz="1450" b="1">
                <a:solidFill>
                  <a:srgbClr val="E11D48"/>
                </a:solidFill>
                <a:latin typeface="Segoe UI"/>
              </a:defRPr>
            </a:pPr>
            <a:r>
              <a:t>❌ DỮ LIỆU TÀI CHÍNH BỊ LOẠI BỎ TRIỆT ĐỂ</a:t>
            </a:r>
          </a:p>
          <a:p>
            <a:pPr algn="l">
              <a:spcBef>
                <a:spcPts val="700"/>
              </a:spcBef>
              <a:defRPr sz="1300">
                <a:solidFill>
                  <a:srgbClr val="0F172A"/>
                </a:solidFill>
                <a:latin typeface="Segoe UI"/>
              </a:defRPr>
            </a:pPr>
            <a:r>
              <a:t>• Đơn giá nhập (DonGiaNhap, dongianhap, import_price): Khử sạch 100%</a:t>
            </a:r>
          </a:p>
          <a:p>
            <a:pPr algn="l">
              <a:spcBef>
                <a:spcPts val="700"/>
              </a:spcBef>
              <a:defRPr sz="1300">
                <a:solidFill>
                  <a:srgbClr val="0F172A"/>
                </a:solidFill>
                <a:latin typeface="Segoe UI"/>
              </a:defRPr>
            </a:pPr>
            <a:r>
              <a:t>• Thành tiền chi tiết (ThanhTien, thanhtien, total_amount): Khử sạch 100%</a:t>
            </a:r>
          </a:p>
          <a:p>
            <a:pPr algn="l">
              <a:spcBef>
                <a:spcPts val="700"/>
              </a:spcBef>
              <a:defRPr sz="1300">
                <a:solidFill>
                  <a:srgbClr val="0F172A"/>
                </a:solidFill>
                <a:latin typeface="Segoe UI"/>
              </a:defRPr>
            </a:pPr>
            <a:r>
              <a:t>• Giá vốn bình quân (GiaVon, gia_von, cost_price): Khử sạch 100%</a:t>
            </a:r>
          </a:p>
          <a:p>
            <a:pPr algn="l">
              <a:spcBef>
                <a:spcPts val="700"/>
              </a:spcBef>
              <a:defRPr sz="1300">
                <a:solidFill>
                  <a:srgbClr val="0F172A"/>
                </a:solidFill>
                <a:latin typeface="Segoe UI"/>
              </a:defRPr>
            </a:pPr>
            <a:r>
              <a:t>• Tỷ lệ chiết khấu và chính sách giá mua từ nhà cung cấp: Loại bỏ hoàn toàn</a:t>
            </a:r>
          </a:p>
          <a:p>
            <a:pPr algn="l">
              <a:spcBef>
                <a:spcPts val="700"/>
              </a:spcBef>
              <a:defRPr sz="1300">
                <a:solidFill>
                  <a:srgbClr val="0F172A"/>
                </a:solidFill>
                <a:latin typeface="Segoe UI"/>
              </a:defRPr>
            </a:pPr>
            <a:r>
              <a:t>• Bảo đảm tuyệt đối bí mật kinh doanh khi sử dụng Public Cloud LLM</a:t>
            </a:r>
          </a:p>
        </p:txBody>
      </p:sp>
      <p:sp>
        <p:nvSpPr>
          <p:cNvPr id="8" name="Rounded Rectangle 7"/>
          <p:cNvSpPr/>
          <p:nvPr/>
        </p:nvSpPr>
        <p:spPr>
          <a:xfrm>
            <a:off x="6245352" y="2743200"/>
            <a:ext cx="5212080" cy="3749039"/>
          </a:xfrm>
          <a:prstGeom prst="roundRect">
            <a:avLst/>
          </a:prstGeom>
          <a:solidFill>
            <a:srgbClr val="F0F7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l">
              <a:defRPr sz="1450" b="1">
                <a:solidFill>
                  <a:srgbClr val="10B981"/>
                </a:solidFill>
                <a:latin typeface="Segoe UI"/>
              </a:defRPr>
            </a:pPr>
            <a:r>
              <a:t>✅ DỮ LIỆU ĐƯỢC GIỮ LẠI PHỤC VỤ AI PHÂN TÍCH</a:t>
            </a:r>
          </a:p>
          <a:p>
            <a:pPr algn="l">
              <a:spcBef>
                <a:spcPts val="700"/>
              </a:spcBef>
              <a:defRPr sz="1300">
                <a:solidFill>
                  <a:srgbClr val="0F172A"/>
                </a:solidFill>
                <a:latin typeface="Segoe UI"/>
              </a:defRPr>
            </a:pPr>
            <a:r>
              <a:t>• Mã hàng (MaHH), Tên hàng (TenHH), Đơn vị tính (DVT)</a:t>
            </a:r>
          </a:p>
          <a:p>
            <a:pPr algn="l">
              <a:spcBef>
                <a:spcPts val="700"/>
              </a:spcBef>
              <a:defRPr sz="1300">
                <a:solidFill>
                  <a:srgbClr val="0F172A"/>
                </a:solidFill>
                <a:latin typeface="Segoe UI"/>
              </a:defRPr>
            </a:pPr>
            <a:r>
              <a:t>• Số lượng tồn kho thực tế và Định mức tồn an toàn tối thiểu (TonToiThieu)</a:t>
            </a:r>
          </a:p>
          <a:p>
            <a:pPr algn="l">
              <a:spcBef>
                <a:spcPts val="700"/>
              </a:spcBef>
              <a:defRPr sz="1300">
                <a:solidFill>
                  <a:srgbClr val="0F172A"/>
                </a:solidFill>
                <a:latin typeface="Segoe UI"/>
              </a:defRPr>
            </a:pPr>
            <a:r>
              <a:t>• Tốc độ xuất kho bình quân ngày (Burn-rate số lượng / ngày trong 30 ngày)</a:t>
            </a:r>
          </a:p>
          <a:p>
            <a:pPr algn="l">
              <a:spcBef>
                <a:spcPts val="700"/>
              </a:spcBef>
              <a:defRPr sz="1300">
                <a:solidFill>
                  <a:srgbClr val="0F172A"/>
                </a:solidFill>
                <a:latin typeface="Segoe UI"/>
              </a:defRPr>
            </a:pPr>
            <a:r>
              <a:t>• Số ngày không phát sinh phiếu xuất (Dead Stock metric)</a:t>
            </a:r>
          </a:p>
          <a:p>
            <a:pPr algn="l">
              <a:spcBef>
                <a:spcPts val="700"/>
              </a:spcBef>
              <a:defRPr sz="1300">
                <a:solidFill>
                  <a:srgbClr val="0F172A"/>
                </a:solidFill>
                <a:latin typeface="Segoe UI"/>
              </a:defRPr>
            </a:pPr>
            <a:r>
              <a:t>• Endpoint kiểm toán minh bạch: GET /api/v1/ai/raw-context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47472"/>
            <a:ext cx="2468880" cy="329184"/>
          </a:xfrm>
          <a:prstGeom prst="roundRect">
            <a:avLst/>
          </a:prstGeom>
          <a:solidFill>
            <a:srgbClr val="1E3A8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FFFFFF"/>
                </a:solidFill>
                <a:latin typeface="Segoe UI"/>
              </a:defRPr>
            </a:pPr>
            <a:r>
              <a:t>AI INTEGRATION: PROMPTS</a:t>
            </a:r>
          </a:p>
        </p:txBody>
      </p:sp>
      <p:sp>
        <p:nvSpPr>
          <p:cNvPr id="3" name="TextBox 2"/>
          <p:cNvSpPr txBox="1"/>
          <p:nvPr/>
        </p:nvSpPr>
        <p:spPr>
          <a:xfrm>
            <a:off x="731520" y="713232"/>
            <a:ext cx="10725912" cy="621792"/>
          </a:xfrm>
          <a:prstGeom prst="rect">
            <a:avLst/>
          </a:prstGeom>
          <a:noFill/>
        </p:spPr>
        <p:txBody>
          <a:bodyPr wrap="square" lIns="0" tIns="0" rIns="0" bIns="0">
            <a:spAutoFit/>
          </a:bodyPr>
          <a:lstStyle/>
          <a:p>
            <a:pPr algn="l">
              <a:defRPr sz="2600" b="1">
                <a:solidFill>
                  <a:srgbClr val="1E3A8A"/>
                </a:solidFill>
                <a:latin typeface="Segoe UI"/>
              </a:defRPr>
            </a:pPr>
            <a:r>
              <a:t>Tích Hợp AI 2: Kỹ Thuật Prompt Chống Ảo Giác &amp; Báo Cáo 3 Phần</a:t>
            </a:r>
          </a:p>
        </p:txBody>
      </p:sp>
      <p:sp>
        <p:nvSpPr>
          <p:cNvPr id="4" name="Rounded Rectangle 3"/>
          <p:cNvSpPr/>
          <p:nvPr/>
        </p:nvSpPr>
        <p:spPr>
          <a:xfrm>
            <a:off x="731520" y="1417320"/>
            <a:ext cx="5212080" cy="4892040"/>
          </a:xfrm>
          <a:prstGeom prst="roundRect">
            <a:avLst/>
          </a:prstGeom>
          <a:solidFill>
            <a:srgbClr val="F0F7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l">
              <a:defRPr sz="1450" b="1">
                <a:solidFill>
                  <a:srgbClr val="1E3A8A"/>
                </a:solidFill>
                <a:latin typeface="Segoe UI"/>
              </a:defRPr>
            </a:pPr>
            <a:r>
              <a:t>🤖 KỸ THUẬT ANTI-HALLUCINATION PROMPT</a:t>
            </a:r>
          </a:p>
          <a:p>
            <a:pPr algn="l">
              <a:spcBef>
                <a:spcPts val="500"/>
              </a:spcBef>
              <a:defRPr sz="1250">
                <a:solidFill>
                  <a:srgbClr val="0F172A"/>
                </a:solidFill>
                <a:latin typeface="Segoe UI"/>
              </a:defRPr>
            </a:pPr>
            <a:r>
              <a:t>1. System Instruction Đóng Khung Chuyên Môn:</a:t>
            </a:r>
          </a:p>
          <a:p>
            <a:pPr algn="l">
              <a:spcBef>
                <a:spcPts val="500"/>
              </a:spcBef>
              <a:defRPr sz="1250">
                <a:solidFill>
                  <a:srgbClr val="0F172A"/>
                </a:solidFill>
                <a:latin typeface="Segoe UI"/>
              </a:defRPr>
            </a:pPr>
            <a:r>
              <a:t>   Định hình AI đóng vai trò Chuyên gia Điều phối Kho vận</a:t>
            </a:r>
          </a:p>
          <a:p>
            <a:pPr algn="l">
              <a:spcBef>
                <a:spcPts val="500"/>
              </a:spcBef>
              <a:defRPr sz="1250">
                <a:solidFill>
                  <a:srgbClr val="0F172A"/>
                </a:solidFill>
                <a:latin typeface="Segoe UI"/>
              </a:defRPr>
            </a:pPr>
            <a:r>
              <a:t>   Ràng buộc bất biến: Chỉ lập luận trên dữ liệu JSON thực tế được cấp</a:t>
            </a:r>
          </a:p>
          <a:p>
            <a:pPr algn="l">
              <a:spcBef>
                <a:spcPts val="500"/>
              </a:spcBef>
              <a:defRPr sz="1250">
                <a:solidFill>
                  <a:srgbClr val="0F172A"/>
                </a:solidFill>
                <a:latin typeface="Segoe UI"/>
              </a:defRPr>
            </a:pPr>
            <a:r>
              <a:t>2. Nguyên Tắc Trung Thực Số Liệu:</a:t>
            </a:r>
          </a:p>
          <a:p>
            <a:pPr algn="l">
              <a:spcBef>
                <a:spcPts val="500"/>
              </a:spcBef>
              <a:defRPr sz="1250">
                <a:solidFill>
                  <a:srgbClr val="0F172A"/>
                </a:solidFill>
                <a:latin typeface="Segoe UI"/>
              </a:defRPr>
            </a:pPr>
            <a:r>
              <a:t>   Nghiêm cấm tự sinh mã SKU, tên hàng hoặc số liệu không có trong context</a:t>
            </a:r>
          </a:p>
          <a:p>
            <a:pPr algn="l">
              <a:spcBef>
                <a:spcPts val="500"/>
              </a:spcBef>
              <a:defRPr sz="1250">
                <a:solidFill>
                  <a:srgbClr val="0F172A"/>
                </a:solidFill>
                <a:latin typeface="Segoe UI"/>
              </a:defRPr>
            </a:pPr>
            <a:r>
              <a:t>   Xử lý biên trường hợp kho rỗng: 'Chưa ghi nhận giao dịch trong kỳ'</a:t>
            </a:r>
          </a:p>
          <a:p>
            <a:pPr algn="l">
              <a:spcBef>
                <a:spcPts val="500"/>
              </a:spcBef>
              <a:defRPr sz="1250">
                <a:solidFill>
                  <a:srgbClr val="0F172A"/>
                </a:solidFill>
                <a:latin typeface="Segoe UI"/>
              </a:defRPr>
            </a:pPr>
            <a:r>
              <a:t>3. Output Parser Định Chuẩn Cấu Trúc:</a:t>
            </a:r>
          </a:p>
          <a:p>
            <a:pPr algn="l">
              <a:spcBef>
                <a:spcPts val="500"/>
              </a:spcBef>
              <a:defRPr sz="1250">
                <a:solidFill>
                  <a:srgbClr val="0F172A"/>
                </a:solidFill>
                <a:latin typeface="Segoe UI"/>
              </a:defRPr>
            </a:pPr>
            <a:r>
              <a:t>   Ép chuẩn định dạng Markdown/JSON phân tầng tường minh</a:t>
            </a:r>
          </a:p>
          <a:p>
            <a:pPr algn="l">
              <a:spcBef>
                <a:spcPts val="500"/>
              </a:spcBef>
              <a:defRPr sz="1250">
                <a:solidFill>
                  <a:srgbClr val="0F172A"/>
                </a:solidFill>
                <a:latin typeface="Segoe UI"/>
              </a:defRPr>
            </a:pPr>
            <a:r>
              <a:t>   Phân tích cú pháp tự động để hiển thị trực tiếp lên Dashboard Widget</a:t>
            </a:r>
          </a:p>
        </p:txBody>
      </p:sp>
      <p:sp>
        <p:nvSpPr>
          <p:cNvPr id="5" name="Rounded Rectangle 4"/>
          <p:cNvSpPr/>
          <p:nvPr/>
        </p:nvSpPr>
        <p:spPr>
          <a:xfrm>
            <a:off x="6245352" y="1417320"/>
            <a:ext cx="5212080" cy="4892040"/>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l">
              <a:defRPr sz="1450" b="1">
                <a:solidFill>
                  <a:srgbClr val="2563EB"/>
                </a:solidFill>
                <a:latin typeface="Segoe UI"/>
              </a:defRPr>
            </a:pPr>
            <a:r>
              <a:t>📑 QUY CHUẨN BÁO CÁO ĐIỀU HÀNH 3 PHẦN</a:t>
            </a:r>
          </a:p>
          <a:p>
            <a:pPr algn="l">
              <a:spcBef>
                <a:spcPts val="600"/>
              </a:spcBef>
              <a:defRPr sz="1250" b="1">
                <a:solidFill>
                  <a:srgbClr val="1E3A8A"/>
                </a:solidFill>
                <a:latin typeface="Segoe UI"/>
              </a:defRPr>
            </a:pPr>
            <a:r>
              <a:t>PHẦN 1: TÌNH TRẠNG TỒN KHO TỔNG QUAN</a:t>
            </a:r>
          </a:p>
          <a:p>
            <a:pPr algn="l">
              <a:spcBef>
                <a:spcPts val="300"/>
              </a:spcBef>
              <a:defRPr sz="1250" b="0">
                <a:solidFill>
                  <a:srgbClr val="0F172A"/>
                </a:solidFill>
                <a:latin typeface="Segoe UI"/>
              </a:defRPr>
            </a:pPr>
            <a:r>
              <a:t>• Thống kê tổng số SKU, tổng sản lượng xuất kho trong 30 ngày</a:t>
            </a:r>
          </a:p>
          <a:p>
            <a:pPr algn="l">
              <a:spcBef>
                <a:spcPts val="300"/>
              </a:spcBef>
              <a:defRPr sz="1250" b="0">
                <a:solidFill>
                  <a:srgbClr val="0F172A"/>
                </a:solidFill>
                <a:latin typeface="Segoe UI"/>
              </a:defRPr>
            </a:pPr>
            <a:r>
              <a:t>• Đánh giá tỷ lệ SKU an toàn so với SKU chạm ngưỡng tồn tối thiểu</a:t>
            </a:r>
          </a:p>
          <a:p>
            <a:pPr algn="l">
              <a:spcBef>
                <a:spcPts val="600"/>
              </a:spcBef>
              <a:defRPr sz="1250" b="1">
                <a:solidFill>
                  <a:srgbClr val="1E3A8A"/>
                </a:solidFill>
                <a:latin typeface="Segoe UI"/>
              </a:defRPr>
            </a:pPr>
            <a:r>
              <a:t>PHẦN 2: CẢNH BÁO &amp; ĐỀ XUẤT NHẬP HÀNG KHẨN CẤP</a:t>
            </a:r>
          </a:p>
          <a:p>
            <a:pPr algn="l">
              <a:spcBef>
                <a:spcPts val="300"/>
              </a:spcBef>
              <a:defRPr sz="1250" b="0">
                <a:solidFill>
                  <a:srgbClr val="0F172A"/>
                </a:solidFill>
                <a:latin typeface="Segoe UI"/>
              </a:defRPr>
            </a:pPr>
            <a:r>
              <a:t>• Tính toán thiếu hụt dựa trên tốc độ tiêu thụ hàng ngày (Burn-rate)</a:t>
            </a:r>
          </a:p>
          <a:p>
            <a:pPr algn="l">
              <a:spcBef>
                <a:spcPts val="300"/>
              </a:spcBef>
              <a:defRPr sz="1250" b="0">
                <a:solidFill>
                  <a:srgbClr val="0F172A"/>
                </a:solidFill>
                <a:latin typeface="Segoe UI"/>
              </a:defRPr>
            </a:pPr>
            <a:r>
              <a:t>• Đề xuất định lượng cụ thể số lượng cần nhập cho từng mã SKU</a:t>
            </a:r>
          </a:p>
          <a:p>
            <a:pPr algn="l">
              <a:spcBef>
                <a:spcPts val="600"/>
              </a:spcBef>
              <a:defRPr sz="1250" b="1">
                <a:solidFill>
                  <a:srgbClr val="1E3A8A"/>
                </a:solidFill>
                <a:latin typeface="Segoe UI"/>
              </a:defRPr>
            </a:pPr>
            <a:r>
              <a:t>PHẦN 3: TÓM TẮT BIẾN ĐỘNG BẤT THƯỜNG &amp; DEAD STOCK</a:t>
            </a:r>
          </a:p>
          <a:p>
            <a:pPr algn="l">
              <a:spcBef>
                <a:spcPts val="300"/>
              </a:spcBef>
              <a:defRPr sz="1250" b="0">
                <a:solidFill>
                  <a:srgbClr val="0F172A"/>
                </a:solidFill>
                <a:latin typeface="Segoe UI"/>
              </a:defRPr>
            </a:pPr>
            <a:r>
              <a:t>• Nhận diện các mặt hàng có lượng xuất đột biến trong kỳ</a:t>
            </a:r>
          </a:p>
          <a:p>
            <a:pPr algn="l">
              <a:spcBef>
                <a:spcPts val="300"/>
              </a:spcBef>
              <a:defRPr sz="1250" b="0">
                <a:solidFill>
                  <a:srgbClr val="0F172A"/>
                </a:solidFill>
                <a:latin typeface="Segoe UI"/>
              </a:defRPr>
            </a:pPr>
            <a:r>
              <a:t>• Cảnh báo hàng ứ đọng &gt; 60 ngày cần ưu tiên luân chuyển mặt bằng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47472"/>
            <a:ext cx="2468880" cy="329184"/>
          </a:xfrm>
          <a:prstGeom prst="roundRect">
            <a:avLst/>
          </a:prstGeom>
          <a:solidFill>
            <a:srgbClr val="1E3A8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FFFFFF"/>
                </a:solidFill>
                <a:latin typeface="Segoe UI"/>
              </a:defRPr>
            </a:pPr>
            <a:r>
              <a:t>AI INTEGRATION: RESILIENCE</a:t>
            </a:r>
          </a:p>
        </p:txBody>
      </p:sp>
      <p:sp>
        <p:nvSpPr>
          <p:cNvPr id="3" name="TextBox 2"/>
          <p:cNvSpPr txBox="1"/>
          <p:nvPr/>
        </p:nvSpPr>
        <p:spPr>
          <a:xfrm>
            <a:off x="731520" y="713232"/>
            <a:ext cx="10725912" cy="621792"/>
          </a:xfrm>
          <a:prstGeom prst="rect">
            <a:avLst/>
          </a:prstGeom>
          <a:noFill/>
        </p:spPr>
        <p:txBody>
          <a:bodyPr wrap="square" lIns="0" tIns="0" rIns="0" bIns="0">
            <a:spAutoFit/>
          </a:bodyPr>
          <a:lstStyle/>
          <a:p>
            <a:pPr algn="l">
              <a:defRPr sz="2600" b="1">
                <a:solidFill>
                  <a:srgbClr val="1E3A8A"/>
                </a:solidFill>
                <a:latin typeface="Segoe UI"/>
              </a:defRPr>
            </a:pPr>
            <a:r>
              <a:t>Tích Hợp AI 3: Local Grounded Fallback Engine Sẵn Sàng 24/7</a:t>
            </a:r>
          </a:p>
        </p:txBody>
      </p:sp>
      <p:sp>
        <p:nvSpPr>
          <p:cNvPr id="4" name="Rounded Rectangle 3"/>
          <p:cNvSpPr/>
          <p:nvPr/>
        </p:nvSpPr>
        <p:spPr>
          <a:xfrm>
            <a:off x="731520" y="1417320"/>
            <a:ext cx="3364992" cy="1143000"/>
          </a:xfrm>
          <a:prstGeom prst="roundRect">
            <a:avLst/>
          </a:prstGeom>
          <a:solidFill>
            <a:srgbClr val="F0F7FF"/>
          </a:solidFill>
          <a:ln w="19050">
            <a:solidFill>
              <a:srgbClr val="0F23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0F2341"/>
                </a:solidFill>
                <a:latin typeface="Segoe UI"/>
              </a:defRPr>
            </a:pPr>
            <a:r>
              <a:t>1. YÊU CẦU BÁO CÁO KHO</a:t>
            </a:r>
          </a:p>
          <a:p>
            <a:pPr algn="ctr">
              <a:spcBef>
                <a:spcPts val="300"/>
              </a:spcBef>
              <a:defRPr sz="1150">
                <a:solidFill>
                  <a:srgbClr val="0F172A"/>
                </a:solidFill>
                <a:latin typeface="Segoe UI"/>
              </a:defRPr>
            </a:pPr>
            <a:r>
              <a:t>Kích hoạt từ Dashboard điều hành</a:t>
            </a:r>
            <a:br/>
            <a:r>
              <a:t>hoặc gọi qua API endpoint</a:t>
            </a:r>
          </a:p>
        </p:txBody>
      </p:sp>
      <p:sp>
        <p:nvSpPr>
          <p:cNvPr id="5" name="Rounded Rectangle 4"/>
          <p:cNvSpPr/>
          <p:nvPr/>
        </p:nvSpPr>
        <p:spPr>
          <a:xfrm>
            <a:off x="4416552" y="1417320"/>
            <a:ext cx="3364992" cy="1143000"/>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2563EB"/>
                </a:solidFill>
                <a:latin typeface="Segoe UI"/>
              </a:defRPr>
            </a:pPr>
            <a:r>
              <a:t>2. GỌI GOOGLE GEMINI API</a:t>
            </a:r>
          </a:p>
          <a:p>
            <a:pPr algn="ctr">
              <a:spcBef>
                <a:spcPts val="300"/>
              </a:spcBef>
              <a:defRPr sz="1150">
                <a:solidFill>
                  <a:srgbClr val="0F172A"/>
                </a:solidFill>
                <a:latin typeface="Segoe UI"/>
              </a:defRPr>
            </a:pPr>
            <a:r>
              <a:t>Gửi context JSON sạch, áp dụng</a:t>
            </a:r>
            <a:br/>
            <a:r>
              <a:t>Exponential Backoff tối đa 3 lần</a:t>
            </a:r>
          </a:p>
        </p:txBody>
      </p:sp>
      <p:sp>
        <p:nvSpPr>
          <p:cNvPr id="6" name="Rounded Rectangle 5"/>
          <p:cNvSpPr/>
          <p:nvPr/>
        </p:nvSpPr>
        <p:spPr>
          <a:xfrm>
            <a:off x="8101584" y="1417320"/>
            <a:ext cx="3364992" cy="1143000"/>
          </a:xfrm>
          <a:prstGeom prst="roundRect">
            <a:avLst/>
          </a:prstGeom>
          <a:solidFill>
            <a:srgbClr val="F0F7FF"/>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1">
                <a:solidFill>
                  <a:srgbClr val="06B6D4"/>
                </a:solidFill>
                <a:latin typeface="Segoe UI"/>
              </a:defRPr>
            </a:pPr>
            <a:r>
              <a:t>3. ĐIỀU PHỐI DỰ PHÒNG TỰ ĐỘNG</a:t>
            </a:r>
          </a:p>
          <a:p>
            <a:pPr algn="ctr">
              <a:spcBef>
                <a:spcPts val="300"/>
              </a:spcBef>
              <a:defRPr sz="1150">
                <a:solidFill>
                  <a:srgbClr val="0F172A"/>
                </a:solidFill>
                <a:latin typeface="Segoe UI"/>
              </a:defRPr>
            </a:pPr>
            <a:r>
              <a:t>Thành công (200 OK) -&gt; Hiển thị kết quả LLM</a:t>
            </a:r>
            <a:br/>
            <a:r>
              <a:t>Lỗi mạng / Quota 429 -&gt; Kích hoạt Fallback</a:t>
            </a:r>
          </a:p>
        </p:txBody>
      </p:sp>
      <p:sp>
        <p:nvSpPr>
          <p:cNvPr id="7" name="Rounded Rectangle 6"/>
          <p:cNvSpPr/>
          <p:nvPr/>
        </p:nvSpPr>
        <p:spPr>
          <a:xfrm>
            <a:off x="731520" y="2788920"/>
            <a:ext cx="5212080" cy="3657600"/>
          </a:xfrm>
          <a:prstGeom prst="roundRect">
            <a:avLst/>
          </a:prstGeom>
          <a:solidFill>
            <a:srgbClr val="F0F7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l">
              <a:defRPr sz="1450" b="1">
                <a:solidFill>
                  <a:srgbClr val="1E3A8A"/>
                </a:solidFill>
                <a:latin typeface="Segoe UI"/>
              </a:defRPr>
            </a:pPr>
            <a:r>
              <a:t>☁️ CHẾ ĐỘ 1: GOOGLE GEMINI CLOUD LLM</a:t>
            </a:r>
          </a:p>
          <a:p>
            <a:pPr algn="l">
              <a:spcBef>
                <a:spcPts val="800"/>
              </a:spcBef>
              <a:defRPr sz="1300">
                <a:solidFill>
                  <a:srgbClr val="0F172A"/>
                </a:solidFill>
                <a:latin typeface="Segoe UI"/>
              </a:defRPr>
            </a:pPr>
            <a:r>
              <a:t>• Ứng dụng mô hình Google Gemini 1.5 / 2.0 (gemini-3.5-flash-lite)</a:t>
            </a:r>
          </a:p>
          <a:p>
            <a:pPr algn="l">
              <a:spcBef>
                <a:spcPts val="800"/>
              </a:spcBef>
              <a:defRPr sz="1300">
                <a:solidFill>
                  <a:srgbClr val="0F172A"/>
                </a:solidFill>
                <a:latin typeface="Segoe UI"/>
              </a:defRPr>
            </a:pPr>
            <a:r>
              <a:t>• Khả năng phân tích ngôn ngữ tự nhiên và lập luận logic quản trị chuyên sâu</a:t>
            </a:r>
          </a:p>
          <a:p>
            <a:pPr algn="l">
              <a:spcBef>
                <a:spcPts val="800"/>
              </a:spcBef>
              <a:defRPr sz="1300">
                <a:solidFill>
                  <a:srgbClr val="0F172A"/>
                </a:solidFill>
                <a:latin typeface="Segoe UI"/>
              </a:defRPr>
            </a:pPr>
            <a:r>
              <a:t>• Cơ chế Exponential Backoff tự động retry 3 lần khi gián đoạn mạng</a:t>
            </a:r>
          </a:p>
          <a:p>
            <a:pPr algn="l">
              <a:spcBef>
                <a:spcPts val="800"/>
              </a:spcBef>
              <a:defRPr sz="1300">
                <a:solidFill>
                  <a:srgbClr val="0F172A"/>
                </a:solidFill>
                <a:latin typeface="Segoe UI"/>
              </a:defRPr>
            </a:pPr>
            <a:r>
              <a:t>• Mang lại báo cáo điều hành chuyên nghiệp với văn phong linh hoạt</a:t>
            </a:r>
          </a:p>
        </p:txBody>
      </p:sp>
      <p:sp>
        <p:nvSpPr>
          <p:cNvPr id="8" name="Rounded Rectangle 7"/>
          <p:cNvSpPr/>
          <p:nvPr/>
        </p:nvSpPr>
        <p:spPr>
          <a:xfrm>
            <a:off x="6245352" y="2788920"/>
            <a:ext cx="5212080" cy="3657600"/>
          </a:xfrm>
          <a:prstGeom prst="roundRect">
            <a:avLst/>
          </a:prstGeom>
          <a:solidFill>
            <a:srgbClr val="F0F7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l">
              <a:defRPr sz="1450" b="1">
                <a:solidFill>
                  <a:srgbClr val="10B981"/>
                </a:solidFill>
                <a:latin typeface="Segoe UI"/>
              </a:defRPr>
            </a:pPr>
            <a:r>
              <a:t>🛡️ CHẾ ĐỘ 2: LOCAL GROUNDED FALLBACK ENGINE</a:t>
            </a:r>
          </a:p>
          <a:p>
            <a:pPr algn="l">
              <a:spcBef>
                <a:spcPts val="800"/>
              </a:spcBef>
              <a:defRPr sz="1300">
                <a:solidFill>
                  <a:srgbClr val="0F172A"/>
                </a:solidFill>
                <a:latin typeface="Segoe UI"/>
              </a:defRPr>
            </a:pPr>
            <a:r>
              <a:t>• Tự động kích hoạt khi mất kết nối Internet, chưa có API Key hoặc lỗi 429</a:t>
            </a:r>
          </a:p>
          <a:p>
            <a:pPr algn="l">
              <a:spcBef>
                <a:spcPts val="800"/>
              </a:spcBef>
              <a:defRPr sz="1300">
                <a:solidFill>
                  <a:srgbClr val="0F172A"/>
                </a:solidFill>
                <a:latin typeface="Segoe UI"/>
              </a:defRPr>
            </a:pPr>
            <a:r>
              <a:t>• Giải thuật nội bộ phân tích và tính toán toán học trực tiếp từ CSDL</a:t>
            </a:r>
          </a:p>
          <a:p>
            <a:pPr algn="l">
              <a:spcBef>
                <a:spcPts val="800"/>
              </a:spcBef>
              <a:defRPr sz="1300">
                <a:solidFill>
                  <a:srgbClr val="0F172A"/>
                </a:solidFill>
                <a:latin typeface="Segoe UI"/>
              </a:defRPr>
            </a:pPr>
            <a:r>
              <a:t>• Đảm bảo sinh báo cáo đủ chuẩn 3 phần với số liệu thực tế 100%</a:t>
            </a:r>
          </a:p>
          <a:p>
            <a:pPr algn="l">
              <a:spcBef>
                <a:spcPts val="800"/>
              </a:spcBef>
              <a:defRPr sz="1300">
                <a:solidFill>
                  <a:srgbClr val="0F172A"/>
                </a:solidFill>
                <a:latin typeface="Segoe UI"/>
              </a:defRPr>
            </a:pPr>
            <a:r>
              <a:t>• Hoàn toàn độc lập với dịch vụ bên thứ ba, bảo đảm hệ thống không bị crash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47472"/>
            <a:ext cx="2468880" cy="329184"/>
          </a:xfrm>
          <a:prstGeom prst="roundRect">
            <a:avLst/>
          </a:prstGeom>
          <a:solidFill>
            <a:srgbClr val="1E3A8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FFFFFF"/>
                </a:solidFill>
                <a:latin typeface="Segoe UI"/>
              </a:defRPr>
            </a:pPr>
            <a:r>
              <a:t>SDLC: AGILE SCRUM</a:t>
            </a:r>
          </a:p>
        </p:txBody>
      </p:sp>
      <p:sp>
        <p:nvSpPr>
          <p:cNvPr id="3" name="TextBox 2"/>
          <p:cNvSpPr txBox="1"/>
          <p:nvPr/>
        </p:nvSpPr>
        <p:spPr>
          <a:xfrm>
            <a:off x="731520" y="713232"/>
            <a:ext cx="10725912" cy="621792"/>
          </a:xfrm>
          <a:prstGeom prst="rect">
            <a:avLst/>
          </a:prstGeom>
          <a:noFill/>
        </p:spPr>
        <p:txBody>
          <a:bodyPr wrap="square" lIns="0" tIns="0" rIns="0" bIns="0">
            <a:spAutoFit/>
          </a:bodyPr>
          <a:lstStyle/>
          <a:p>
            <a:pPr algn="l">
              <a:defRPr sz="2600" b="1">
                <a:solidFill>
                  <a:srgbClr val="1E3A8A"/>
                </a:solidFill>
                <a:latin typeface="Segoe UI"/>
              </a:defRPr>
            </a:pPr>
            <a:r>
              <a:t>Quy Trình Phát Triển Phần Mềm: Mô Hình Agile Scrum 4 Sprints</a:t>
            </a:r>
          </a:p>
        </p:txBody>
      </p:sp>
      <p:sp>
        <p:nvSpPr>
          <p:cNvPr id="4" name="Rounded Rectangle 3"/>
          <p:cNvSpPr/>
          <p:nvPr/>
        </p:nvSpPr>
        <p:spPr>
          <a:xfrm>
            <a:off x="731520" y="1417320"/>
            <a:ext cx="2468880" cy="3977639"/>
          </a:xfrm>
          <a:prstGeom prst="roundRect">
            <a:avLst/>
          </a:prstGeom>
          <a:solidFill>
            <a:srgbClr val="F0F7FF"/>
          </a:solidFill>
          <a:ln w="19050">
            <a:solidFill>
              <a:srgbClr val="0F234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32688"/>
          <a:lstStyle/>
          <a:p>
            <a:pPr algn="ctr"/>
          </a:p>
          <a:p>
            <a:pPr algn="l">
              <a:spcBef>
                <a:spcPts val="600"/>
              </a:spcBef>
              <a:defRPr sz="1200">
                <a:solidFill>
                  <a:srgbClr val="0F172A"/>
                </a:solidFill>
                <a:latin typeface="Segoe UI"/>
              </a:defRPr>
            </a:pPr>
            <a:r>
              <a:t>• Khảo sát nghiệp vụ kho và thiết kế ERD 11 bảng chuẩn 3NF</a:t>
            </a:r>
          </a:p>
          <a:p>
            <a:pPr algn="l">
              <a:spcBef>
                <a:spcPts val="600"/>
              </a:spcBef>
              <a:defRPr sz="1200">
                <a:solidFill>
                  <a:srgbClr val="0F172A"/>
                </a:solidFill>
                <a:latin typeface="Segoe UI"/>
              </a:defRPr>
            </a:pPr>
            <a:r>
              <a:t>• Hiện thực hóa Atomic SQL Decrement chống tồn âm 2 tầng</a:t>
            </a:r>
          </a:p>
          <a:p>
            <a:pPr algn="l">
              <a:spcBef>
                <a:spcPts val="600"/>
              </a:spcBef>
              <a:defRPr sz="1200">
                <a:solidFill>
                  <a:srgbClr val="0F172A"/>
                </a:solidFill>
                <a:latin typeface="Segoe UI"/>
              </a:defRPr>
            </a:pPr>
            <a:r>
              <a:t>• Xây dựng REST APIs Inbound/Outbound và cấu hình SQLite WAL</a:t>
            </a:r>
          </a:p>
          <a:p>
            <a:pPr algn="l">
              <a:spcBef>
                <a:spcPts val="600"/>
              </a:spcBef>
              <a:defRPr sz="1200">
                <a:solidFill>
                  <a:srgbClr val="0F172A"/>
                </a:solidFill>
                <a:latin typeface="Segoe UI"/>
              </a:defRPr>
            </a:pPr>
            <a:r>
              <a:t>• Dựng khung giao diện Jinja2 Server-Side Rendering</a:t>
            </a:r>
          </a:p>
        </p:txBody>
      </p:sp>
      <p:sp>
        <p:nvSpPr>
          <p:cNvPr id="5" name="Rounded Rectangle 4"/>
          <p:cNvSpPr/>
          <p:nvPr/>
        </p:nvSpPr>
        <p:spPr>
          <a:xfrm>
            <a:off x="731520" y="1417320"/>
            <a:ext cx="2468880" cy="841248"/>
          </a:xfrm>
          <a:prstGeom prst="roundRect">
            <a:avLst/>
          </a:prstGeom>
          <a:solidFill>
            <a:srgbClr val="0F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6B6D4"/>
                </a:solidFill>
                <a:latin typeface="Segoe UI"/>
              </a:defRPr>
            </a:pPr>
            <a:r>
              <a:t>SPRINT 1</a:t>
            </a:r>
          </a:p>
          <a:p>
            <a:pPr algn="ctr">
              <a:defRPr sz="1300" b="1">
                <a:solidFill>
                  <a:srgbClr val="FFFFFF"/>
                </a:solidFill>
                <a:latin typeface="Segoe UI"/>
              </a:defRPr>
            </a:pPr>
            <a:r>
              <a:t>Nền Tảng &amp; ACID</a:t>
            </a:r>
          </a:p>
        </p:txBody>
      </p:sp>
      <p:sp>
        <p:nvSpPr>
          <p:cNvPr id="6" name="Rounded Rectangle 5"/>
          <p:cNvSpPr/>
          <p:nvPr/>
        </p:nvSpPr>
        <p:spPr>
          <a:xfrm>
            <a:off x="3483864" y="1417320"/>
            <a:ext cx="2468880" cy="3977639"/>
          </a:xfrm>
          <a:prstGeom prst="roundRect">
            <a:avLst/>
          </a:prstGeom>
          <a:solidFill>
            <a:srgbClr val="F0F7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32688"/>
          <a:lstStyle/>
          <a:p>
            <a:pPr algn="ctr"/>
          </a:p>
          <a:p>
            <a:pPr algn="l">
              <a:spcBef>
                <a:spcPts val="600"/>
              </a:spcBef>
              <a:defRPr sz="1200">
                <a:solidFill>
                  <a:srgbClr val="0F172A"/>
                </a:solidFill>
                <a:latin typeface="Segoe UI"/>
              </a:defRPr>
            </a:pPr>
            <a:r>
              <a:t>• Tích hợp Google Gemini Live API với System Instruction</a:t>
            </a:r>
          </a:p>
          <a:p>
            <a:pPr algn="l">
              <a:spcBef>
                <a:spcPts val="600"/>
              </a:spcBef>
              <a:defRPr sz="1200">
                <a:solidFill>
                  <a:srgbClr val="0F172A"/>
                </a:solidFill>
                <a:latin typeface="Segoe UI"/>
              </a:defRPr>
            </a:pPr>
            <a:r>
              <a:t>• Xây dựng module Data Sanitizer lọc bỏ 100% giá vốn</a:t>
            </a:r>
          </a:p>
          <a:p>
            <a:pPr algn="l">
              <a:spcBef>
                <a:spcPts val="600"/>
              </a:spcBef>
              <a:defRPr sz="1200">
                <a:solidFill>
                  <a:srgbClr val="0F172A"/>
                </a:solidFill>
                <a:latin typeface="Segoe UI"/>
              </a:defRPr>
            </a:pPr>
            <a:r>
              <a:t>• Hiện thực hóa Local Grounded Fallback Engine ngoại tuyến</a:t>
            </a:r>
          </a:p>
          <a:p>
            <a:pPr algn="l">
              <a:spcBef>
                <a:spcPts val="600"/>
              </a:spcBef>
              <a:defRPr sz="1200">
                <a:solidFill>
                  <a:srgbClr val="0F172A"/>
                </a:solidFill>
                <a:latin typeface="Segoe UI"/>
              </a:defRPr>
            </a:pPr>
            <a:r>
              <a:t>• Thiết lập endpoint kiểm toán minh bạch /raw-context</a:t>
            </a:r>
          </a:p>
        </p:txBody>
      </p:sp>
      <p:sp>
        <p:nvSpPr>
          <p:cNvPr id="7" name="Rounded Rectangle 6"/>
          <p:cNvSpPr/>
          <p:nvPr/>
        </p:nvSpPr>
        <p:spPr>
          <a:xfrm>
            <a:off x="3483864" y="1417320"/>
            <a:ext cx="2468880" cy="841248"/>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SPRINT 2</a:t>
            </a:r>
          </a:p>
          <a:p>
            <a:pPr algn="ctr">
              <a:defRPr sz="1300" b="1">
                <a:solidFill>
                  <a:srgbClr val="FFFFFF"/>
                </a:solidFill>
                <a:latin typeface="Segoe UI"/>
              </a:defRPr>
            </a:pPr>
            <a:r>
              <a:t>AI &amp; Data Sanitizer</a:t>
            </a:r>
          </a:p>
        </p:txBody>
      </p:sp>
      <p:sp>
        <p:nvSpPr>
          <p:cNvPr id="8" name="Rounded Rectangle 7"/>
          <p:cNvSpPr/>
          <p:nvPr/>
        </p:nvSpPr>
        <p:spPr>
          <a:xfrm>
            <a:off x="6236208" y="1417320"/>
            <a:ext cx="2468880" cy="3977639"/>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32688"/>
          <a:lstStyle/>
          <a:p>
            <a:pPr algn="ctr"/>
          </a:p>
          <a:p>
            <a:pPr algn="l">
              <a:spcBef>
                <a:spcPts val="600"/>
              </a:spcBef>
              <a:defRPr sz="1200">
                <a:solidFill>
                  <a:srgbClr val="0F172A"/>
                </a:solidFill>
                <a:latin typeface="Segoe UI"/>
              </a:defRPr>
            </a:pPr>
            <a:r>
              <a:t>• Tích hợp WebSocket Realtime broadcast biến động kho</a:t>
            </a:r>
          </a:p>
          <a:p>
            <a:pPr algn="l">
              <a:spcBef>
                <a:spcPts val="600"/>
              </a:spcBef>
              <a:defRPr sz="1200">
                <a:solidFill>
                  <a:srgbClr val="0F172A"/>
                </a:solidFill>
                <a:latin typeface="Segoe UI"/>
              </a:defRPr>
            </a:pPr>
            <a:r>
              <a:t>• Thiết lập phân quyền RBAC 3 vai trò và Tab Session Isolation</a:t>
            </a:r>
          </a:p>
          <a:p>
            <a:pPr algn="l">
              <a:spcBef>
                <a:spcPts val="600"/>
              </a:spcBef>
              <a:defRPr sz="1200">
                <a:solidFill>
                  <a:srgbClr val="0F172A"/>
                </a:solidFill>
                <a:latin typeface="Segoe UI"/>
              </a:defRPr>
            </a:pPr>
            <a:r>
              <a:t>• Hoàn thiện giao diện Tailwind CSS responsive đa thiết bị</a:t>
            </a:r>
          </a:p>
          <a:p>
            <a:pPr algn="l">
              <a:spcBef>
                <a:spcPts val="600"/>
              </a:spcBef>
              <a:defRPr sz="1200">
                <a:solidFill>
                  <a:srgbClr val="0F172A"/>
                </a:solidFill>
                <a:latin typeface="Segoe UI"/>
              </a:defRPr>
            </a:pPr>
            <a:r>
              <a:t>• Tích hợp bộ lọc chống cache trình duyệt (Anti-cache Headers)</a:t>
            </a:r>
          </a:p>
        </p:txBody>
      </p:sp>
      <p:sp>
        <p:nvSpPr>
          <p:cNvPr id="9" name="Rounded Rectangle 8"/>
          <p:cNvSpPr/>
          <p:nvPr/>
        </p:nvSpPr>
        <p:spPr>
          <a:xfrm>
            <a:off x="6236208" y="1417320"/>
            <a:ext cx="2468880" cy="8412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SPRINT 3</a:t>
            </a:r>
          </a:p>
          <a:p>
            <a:pPr algn="ctr">
              <a:defRPr sz="1300" b="1">
                <a:solidFill>
                  <a:srgbClr val="FFFFFF"/>
                </a:solidFill>
                <a:latin typeface="Segoe UI"/>
              </a:defRPr>
            </a:pPr>
            <a:r>
              <a:t>Realtime &amp; RBAC</a:t>
            </a:r>
          </a:p>
        </p:txBody>
      </p:sp>
      <p:sp>
        <p:nvSpPr>
          <p:cNvPr id="10" name="Rounded Rectangle 9"/>
          <p:cNvSpPr/>
          <p:nvPr/>
        </p:nvSpPr>
        <p:spPr>
          <a:xfrm>
            <a:off x="8988552" y="1417320"/>
            <a:ext cx="2468880" cy="3977639"/>
          </a:xfrm>
          <a:prstGeom prst="roundRect">
            <a:avLst/>
          </a:prstGeom>
          <a:solidFill>
            <a:srgbClr val="F0F7FF"/>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32688"/>
          <a:lstStyle/>
          <a:p>
            <a:pPr algn="ctr"/>
          </a:p>
          <a:p>
            <a:pPr algn="l">
              <a:spcBef>
                <a:spcPts val="600"/>
              </a:spcBef>
              <a:defRPr sz="1200">
                <a:solidFill>
                  <a:srgbClr val="0F172A"/>
                </a:solidFill>
                <a:latin typeface="Segoe UI"/>
              </a:defRPr>
            </a:pPr>
            <a:r>
              <a:t>• Xây dựng bộ kiểm thử tự động 65+ Test Cases Pytest</a:t>
            </a:r>
          </a:p>
          <a:p>
            <a:pPr algn="l">
              <a:spcBef>
                <a:spcPts val="600"/>
              </a:spcBef>
              <a:defRPr sz="1200">
                <a:solidFill>
                  <a:srgbClr val="0F172A"/>
                </a:solidFill>
                <a:latin typeface="Segoe UI"/>
              </a:defRPr>
            </a:pPr>
            <a:r>
              <a:t>• Kiểm thử Concurrency Stress Test và Ledger Sync</a:t>
            </a:r>
          </a:p>
          <a:p>
            <a:pPr algn="l">
              <a:spcBef>
                <a:spcPts val="600"/>
              </a:spcBef>
              <a:defRPr sz="1200">
                <a:solidFill>
                  <a:srgbClr val="0F172A"/>
                </a:solidFill>
                <a:latin typeface="Segoe UI"/>
              </a:defRPr>
            </a:pPr>
            <a:r>
              <a:t>• Đóng gói Docker Compose (Nginx, FastAPI, PostgreSQL, pgAdmin)</a:t>
            </a:r>
          </a:p>
          <a:p>
            <a:pPr algn="l">
              <a:spcBef>
                <a:spcPts val="600"/>
              </a:spcBef>
              <a:defRPr sz="1200">
                <a:solidFill>
                  <a:srgbClr val="0F172A"/>
                </a:solidFill>
                <a:latin typeface="Segoe UI"/>
              </a:defRPr>
            </a:pPr>
            <a:r>
              <a:t>• Hoàn thiện tài liệu nghiệm thu và bảo vệ đồ án</a:t>
            </a:r>
          </a:p>
        </p:txBody>
      </p:sp>
      <p:sp>
        <p:nvSpPr>
          <p:cNvPr id="11" name="Rounded Rectangle 10"/>
          <p:cNvSpPr/>
          <p:nvPr/>
        </p:nvSpPr>
        <p:spPr>
          <a:xfrm>
            <a:off x="8988552" y="1417320"/>
            <a:ext cx="2468880" cy="841248"/>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SPRINT 4</a:t>
            </a:r>
          </a:p>
          <a:p>
            <a:pPr algn="ctr">
              <a:defRPr sz="1300" b="1">
                <a:solidFill>
                  <a:srgbClr val="FFFFFF"/>
                </a:solidFill>
                <a:latin typeface="Segoe UI"/>
              </a:defRPr>
            </a:pPr>
            <a:r>
              <a:t>Kiểm Thử &amp; Docker</a:t>
            </a:r>
          </a:p>
        </p:txBody>
      </p:sp>
      <p:sp>
        <p:nvSpPr>
          <p:cNvPr id="12" name="Rounded Rectangle 11"/>
          <p:cNvSpPr/>
          <p:nvPr/>
        </p:nvSpPr>
        <p:spPr>
          <a:xfrm>
            <a:off x="731520" y="5623560"/>
            <a:ext cx="10725912" cy="731520"/>
          </a:xfrm>
          <a:prstGeom prst="roundRect">
            <a:avLst/>
          </a:prstGeom>
          <a:solidFill>
            <a:srgbClr val="0F2341"/>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6B6D4"/>
                </a:solidFill>
                <a:latin typeface="Segoe UI"/>
              </a:defRPr>
            </a:pPr>
            <a:r>
              <a:t>✅ QUY TRÌNH AGILE: 4 Sprint phát triển liên tục, phân công rõ ràng giữa PO và Scrum Master, hoàn thành 100% mục tiêu.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47472"/>
            <a:ext cx="2468880" cy="329184"/>
          </a:xfrm>
          <a:prstGeom prst="roundRect">
            <a:avLst/>
          </a:prstGeom>
          <a:solidFill>
            <a:srgbClr val="1E3A8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FFFFFF"/>
                </a:solidFill>
                <a:latin typeface="Segoe UI"/>
              </a:defRPr>
            </a:pPr>
            <a:r>
              <a:t>QUALITY ASSURANCE</a:t>
            </a:r>
          </a:p>
        </p:txBody>
      </p:sp>
      <p:sp>
        <p:nvSpPr>
          <p:cNvPr id="3" name="TextBox 2"/>
          <p:cNvSpPr txBox="1"/>
          <p:nvPr/>
        </p:nvSpPr>
        <p:spPr>
          <a:xfrm>
            <a:off x="731520" y="713232"/>
            <a:ext cx="10725912" cy="621792"/>
          </a:xfrm>
          <a:prstGeom prst="rect">
            <a:avLst/>
          </a:prstGeom>
          <a:noFill/>
        </p:spPr>
        <p:txBody>
          <a:bodyPr wrap="square" lIns="0" tIns="0" rIns="0" bIns="0">
            <a:spAutoFit/>
          </a:bodyPr>
          <a:lstStyle/>
          <a:p>
            <a:pPr algn="l">
              <a:defRPr sz="2600" b="1">
                <a:solidFill>
                  <a:srgbClr val="1E3A8A"/>
                </a:solidFill>
                <a:latin typeface="Segoe UI"/>
              </a:defRPr>
            </a:pPr>
            <a:r>
              <a:t>Chiến Lược Đảm Bảo Chất Lượng: 65+ Test Cases Tự Động (Pytest)</a:t>
            </a:r>
          </a:p>
        </p:txBody>
      </p:sp>
      <p:graphicFrame>
        <p:nvGraphicFramePr>
          <p:cNvPr id="4" name="Table 3"/>
          <p:cNvGraphicFramePr>
            <a:graphicFrameLocks noGrp="1"/>
          </p:cNvGraphicFramePr>
          <p:nvPr/>
        </p:nvGraphicFramePr>
        <p:xfrm>
          <a:off x="731520" y="1417320"/>
          <a:ext cx="10725912" cy="3977639"/>
        </p:xfrm>
        <a:graphic>
          <a:graphicData uri="http://schemas.openxmlformats.org/drawingml/2006/table">
            <a:tbl>
              <a:tblPr firstRow="1" bandRow="1">
                <a:tableStyleId>{5C22544A-7EE6-4342-B048-85BDC9FD1C3A}</a:tableStyleId>
              </a:tblPr>
              <a:tblGrid>
                <a:gridCol w="2926080"/>
                <a:gridCol w="1645920"/>
                <a:gridCol w="4325112"/>
                <a:gridCol w="1828800"/>
              </a:tblGrid>
              <a:tr h="662939">
                <a:tc>
                  <a:txBody>
                    <a:bodyPr/>
                    <a:lstStyle/>
                    <a:p>
                      <a:pPr algn="l">
                        <a:defRPr sz="1200" b="1">
                          <a:solidFill>
                            <a:srgbClr val="FFFFFF"/>
                          </a:solidFill>
                          <a:latin typeface="Segoe UI"/>
                        </a:defRPr>
                      </a:pPr>
                      <a:r>
                        <a:t>PHÂN HỆ KIỂM THỬ</a:t>
                      </a:r>
                    </a:p>
                  </a:txBody>
                  <a:tcPr anchor="ctr">
                    <a:solidFill>
                      <a:srgbClr val="1E3A8A"/>
                    </a:solidFill>
                  </a:tcPr>
                </a:tc>
                <a:tc>
                  <a:txBody>
                    <a:bodyPr/>
                    <a:lstStyle/>
                    <a:p>
                      <a:pPr algn="ctr">
                        <a:defRPr sz="1200" b="1">
                          <a:solidFill>
                            <a:srgbClr val="FFFFFF"/>
                          </a:solidFill>
                          <a:latin typeface="Segoe UI"/>
                        </a:defRPr>
                      </a:pPr>
                      <a:r>
                        <a:t>SỐ TEST CASES</a:t>
                      </a:r>
                    </a:p>
                  </a:txBody>
                  <a:tcPr anchor="ctr">
                    <a:solidFill>
                      <a:srgbClr val="1E3A8A"/>
                    </a:solidFill>
                  </a:tcPr>
                </a:tc>
                <a:tc>
                  <a:txBody>
                    <a:bodyPr/>
                    <a:lstStyle/>
                    <a:p>
                      <a:pPr algn="ctr">
                        <a:defRPr sz="1200" b="1">
                          <a:solidFill>
                            <a:srgbClr val="FFFFFF"/>
                          </a:solidFill>
                          <a:latin typeface="Segoe UI"/>
                        </a:defRPr>
                      </a:pPr>
                      <a:r>
                        <a:t>KỊCH BẢN KIỂM THỬ TRỌNG YẾU</a:t>
                      </a:r>
                    </a:p>
                  </a:txBody>
                  <a:tcPr anchor="ctr">
                    <a:solidFill>
                      <a:srgbClr val="1E3A8A"/>
                    </a:solidFill>
                  </a:tcPr>
                </a:tc>
                <a:tc>
                  <a:txBody>
                    <a:bodyPr/>
                    <a:lstStyle/>
                    <a:p>
                      <a:pPr algn="ctr">
                        <a:defRPr sz="1200" b="1">
                          <a:solidFill>
                            <a:srgbClr val="FFFFFF"/>
                          </a:solidFill>
                          <a:latin typeface="Segoe UI"/>
                        </a:defRPr>
                      </a:pPr>
                      <a:r>
                        <a:t>KẾT QUẢ</a:t>
                      </a:r>
                    </a:p>
                  </a:txBody>
                  <a:tcPr anchor="ctr">
                    <a:solidFill>
                      <a:srgbClr val="1E3A8A"/>
                    </a:solidFill>
                  </a:tcPr>
                </a:tc>
              </a:tr>
              <a:tr h="662939">
                <a:tc>
                  <a:txBody>
                    <a:bodyPr/>
                    <a:lstStyle/>
                    <a:p>
                      <a:pPr>
                        <a:defRPr sz="1200">
                          <a:solidFill>
                            <a:srgbClr val="0F172A"/>
                          </a:solidFill>
                          <a:latin typeface="Segoe UI"/>
                        </a:defRPr>
                      </a:pPr>
                      <a:r>
                        <a:t>test_phase2_inventory.py</a:t>
                      </a:r>
                    </a:p>
                  </a:txBody>
                  <a:tcPr anchor="ctr">
                    <a:solidFill>
                      <a:srgbClr val="F0F7FF"/>
                    </a:solidFill>
                  </a:tcPr>
                </a:tc>
                <a:tc>
                  <a:txBody>
                    <a:bodyPr/>
                    <a:lstStyle/>
                    <a:p>
                      <a:pPr algn="ctr">
                        <a:defRPr sz="1200">
                          <a:solidFill>
                            <a:srgbClr val="0F172A"/>
                          </a:solidFill>
                          <a:latin typeface="Segoe UI"/>
                        </a:defRPr>
                      </a:pPr>
                      <a:r>
                        <a:t>6 Test Cases</a:t>
                      </a:r>
                    </a:p>
                  </a:txBody>
                  <a:tcPr anchor="ctr">
                    <a:solidFill>
                      <a:srgbClr val="F0F7FF"/>
                    </a:solidFill>
                  </a:tcPr>
                </a:tc>
                <a:tc>
                  <a:txBody>
                    <a:bodyPr/>
                    <a:lstStyle/>
                    <a:p>
                      <a:pPr>
                        <a:defRPr sz="1200">
                          <a:solidFill>
                            <a:srgbClr val="0F172A"/>
                          </a:solidFill>
                          <a:latin typeface="Segoe UI"/>
                        </a:defRPr>
                      </a:pPr>
                      <a:r>
                        <a:t>ACID Inbound/Outbound, Concurrency Stress Test, CheckConstraints cấp CSDL</a:t>
                      </a:r>
                    </a:p>
                  </a:txBody>
                  <a:tcPr anchor="ctr">
                    <a:solidFill>
                      <a:srgbClr val="F0F7FF"/>
                    </a:solidFill>
                  </a:tcPr>
                </a:tc>
                <a:tc>
                  <a:txBody>
                    <a:bodyPr/>
                    <a:lstStyle/>
                    <a:p>
                      <a:pPr algn="ctr">
                        <a:defRPr sz="1200" b="1">
                          <a:solidFill>
                            <a:srgbClr val="10B981"/>
                          </a:solidFill>
                          <a:latin typeface="Segoe UI"/>
                        </a:defRPr>
                      </a:pPr>
                      <a:r>
                        <a:t>✅ 100% PASSED</a:t>
                      </a:r>
                    </a:p>
                  </a:txBody>
                  <a:tcPr anchor="ctr">
                    <a:solidFill>
                      <a:srgbClr val="F0F7FF"/>
                    </a:solidFill>
                  </a:tcPr>
                </a:tc>
              </a:tr>
              <a:tr h="662939">
                <a:tc>
                  <a:txBody>
                    <a:bodyPr/>
                    <a:lstStyle/>
                    <a:p>
                      <a:pPr>
                        <a:defRPr sz="1200">
                          <a:solidFill>
                            <a:srgbClr val="0F172A"/>
                          </a:solidFill>
                          <a:latin typeface="Segoe UI"/>
                        </a:defRPr>
                      </a:pPr>
                      <a:r>
                        <a:t>test_inventory_ledger_sync.py</a:t>
                      </a:r>
                    </a:p>
                  </a:txBody>
                  <a:tcPr anchor="ctr">
                    <a:solidFill>
                      <a:srgbClr val="FFFFFF"/>
                    </a:solidFill>
                  </a:tcPr>
                </a:tc>
                <a:tc>
                  <a:txBody>
                    <a:bodyPr/>
                    <a:lstStyle/>
                    <a:p>
                      <a:pPr algn="ctr">
                        <a:defRPr sz="1200">
                          <a:solidFill>
                            <a:srgbClr val="0F172A"/>
                          </a:solidFill>
                          <a:latin typeface="Segoe UI"/>
                        </a:defRPr>
                      </a:pPr>
                      <a:r>
                        <a:t>5 Test Cases</a:t>
                      </a:r>
                    </a:p>
                  </a:txBody>
                  <a:tcPr anchor="ctr">
                    <a:solidFill>
                      <a:srgbClr val="FFFFFF"/>
                    </a:solidFill>
                  </a:tcPr>
                </a:tc>
                <a:tc>
                  <a:txBody>
                    <a:bodyPr/>
                    <a:lstStyle/>
                    <a:p>
                      <a:pPr>
                        <a:defRPr sz="1200">
                          <a:solidFill>
                            <a:srgbClr val="0F172A"/>
                          </a:solidFill>
                          <a:latin typeface="Segoe UI"/>
                        </a:defRPr>
                      </a:pPr>
                      <a:r>
                        <a:t>Bất biến sổ cái Thẻ kho lũy kế (Running Balance Invariant), Anti-cache headers</a:t>
                      </a:r>
                    </a:p>
                  </a:txBody>
                  <a:tcPr anchor="ctr">
                    <a:solidFill>
                      <a:srgbClr val="FFFFFF"/>
                    </a:solidFill>
                  </a:tcPr>
                </a:tc>
                <a:tc>
                  <a:txBody>
                    <a:bodyPr/>
                    <a:lstStyle/>
                    <a:p>
                      <a:pPr algn="ctr">
                        <a:defRPr sz="1200" b="1">
                          <a:solidFill>
                            <a:srgbClr val="10B981"/>
                          </a:solidFill>
                          <a:latin typeface="Segoe UI"/>
                        </a:defRPr>
                      </a:pPr>
                      <a:r>
                        <a:t>✅ 100% PASSED</a:t>
                      </a:r>
                    </a:p>
                  </a:txBody>
                  <a:tcPr anchor="ctr">
                    <a:solidFill>
                      <a:srgbClr val="FFFFFF"/>
                    </a:solidFill>
                  </a:tcPr>
                </a:tc>
              </a:tr>
              <a:tr h="662939">
                <a:tc>
                  <a:txBody>
                    <a:bodyPr/>
                    <a:lstStyle/>
                    <a:p>
                      <a:pPr>
                        <a:defRPr sz="1200">
                          <a:solidFill>
                            <a:srgbClr val="0F172A"/>
                          </a:solidFill>
                          <a:latin typeface="Segoe UI"/>
                        </a:defRPr>
                      </a:pPr>
                      <a:r>
                        <a:t>test_ai_engine.py &amp; test_ai_chat.py</a:t>
                      </a:r>
                    </a:p>
                  </a:txBody>
                  <a:tcPr anchor="ctr">
                    <a:solidFill>
                      <a:srgbClr val="F0F7FF"/>
                    </a:solidFill>
                  </a:tcPr>
                </a:tc>
                <a:tc>
                  <a:txBody>
                    <a:bodyPr/>
                    <a:lstStyle/>
                    <a:p>
                      <a:pPr algn="ctr">
                        <a:defRPr sz="1200">
                          <a:solidFill>
                            <a:srgbClr val="0F172A"/>
                          </a:solidFill>
                          <a:latin typeface="Segoe UI"/>
                        </a:defRPr>
                      </a:pPr>
                      <a:r>
                        <a:t>17 Test Cases</a:t>
                      </a:r>
                    </a:p>
                  </a:txBody>
                  <a:tcPr anchor="ctr">
                    <a:solidFill>
                      <a:srgbClr val="F0F7FF"/>
                    </a:solidFill>
                  </a:tcPr>
                </a:tc>
                <a:tc>
                  <a:txBody>
                    <a:bodyPr/>
                    <a:lstStyle/>
                    <a:p>
                      <a:pPr>
                        <a:defRPr sz="1200">
                          <a:solidFill>
                            <a:srgbClr val="0F172A"/>
                          </a:solidFill>
                          <a:latin typeface="Segoe UI"/>
                        </a:defRPr>
                      </a:pPr>
                      <a:r>
                        <a:t>Khử 100% giá vốn, Mocking lỗi 429 Fallback, Chatbot đa chủ đề, Anti-hallucination</a:t>
                      </a:r>
                    </a:p>
                  </a:txBody>
                  <a:tcPr anchor="ctr">
                    <a:solidFill>
                      <a:srgbClr val="F0F7FF"/>
                    </a:solidFill>
                  </a:tcPr>
                </a:tc>
                <a:tc>
                  <a:txBody>
                    <a:bodyPr/>
                    <a:lstStyle/>
                    <a:p>
                      <a:pPr algn="ctr">
                        <a:defRPr sz="1200" b="1">
                          <a:solidFill>
                            <a:srgbClr val="10B981"/>
                          </a:solidFill>
                          <a:latin typeface="Segoe UI"/>
                        </a:defRPr>
                      </a:pPr>
                      <a:r>
                        <a:t>✅ 100% PASSED</a:t>
                      </a:r>
                    </a:p>
                  </a:txBody>
                  <a:tcPr anchor="ctr">
                    <a:solidFill>
                      <a:srgbClr val="F0F7FF"/>
                    </a:solidFill>
                  </a:tcPr>
                </a:tc>
              </a:tr>
              <a:tr h="662939">
                <a:tc>
                  <a:txBody>
                    <a:bodyPr/>
                    <a:lstStyle/>
                    <a:p>
                      <a:pPr>
                        <a:defRPr sz="1200">
                          <a:solidFill>
                            <a:srgbClr val="0F172A"/>
                          </a:solidFill>
                          <a:latin typeface="Segoe UI"/>
                        </a:defRPr>
                      </a:pPr>
                      <a:r>
                        <a:t>test_auth_tab_session.py &amp; rbac</a:t>
                      </a:r>
                    </a:p>
                  </a:txBody>
                  <a:tcPr anchor="ctr">
                    <a:solidFill>
                      <a:srgbClr val="FFFFFF"/>
                    </a:solidFill>
                  </a:tcPr>
                </a:tc>
                <a:tc>
                  <a:txBody>
                    <a:bodyPr/>
                    <a:lstStyle/>
                    <a:p>
                      <a:pPr algn="ctr">
                        <a:defRPr sz="1200">
                          <a:solidFill>
                            <a:srgbClr val="0F172A"/>
                          </a:solidFill>
                          <a:latin typeface="Segoe UI"/>
                        </a:defRPr>
                      </a:pPr>
                      <a:r>
                        <a:t>7 Test Cases</a:t>
                      </a:r>
                    </a:p>
                  </a:txBody>
                  <a:tcPr anchor="ctr">
                    <a:solidFill>
                      <a:srgbClr val="FFFFFF"/>
                    </a:solidFill>
                  </a:tcPr>
                </a:tc>
                <a:tc>
                  <a:txBody>
                    <a:bodyPr/>
                    <a:lstStyle/>
                    <a:p>
                      <a:pPr>
                        <a:defRPr sz="1200">
                          <a:solidFill>
                            <a:srgbClr val="0F172A"/>
                          </a:solidFill>
                          <a:latin typeface="Segoe UI"/>
                        </a:defRPr>
                      </a:pPr>
                      <a:r>
                        <a:t>JWT Cookie HTTPOnly, Header X-Session-User cô lập phiên đa tab, chặn RBAC 403</a:t>
                      </a:r>
                    </a:p>
                  </a:txBody>
                  <a:tcPr anchor="ctr">
                    <a:solidFill>
                      <a:srgbClr val="FFFFFF"/>
                    </a:solidFill>
                  </a:tcPr>
                </a:tc>
                <a:tc>
                  <a:txBody>
                    <a:bodyPr/>
                    <a:lstStyle/>
                    <a:p>
                      <a:pPr algn="ctr">
                        <a:defRPr sz="1200" b="1">
                          <a:solidFill>
                            <a:srgbClr val="10B981"/>
                          </a:solidFill>
                          <a:latin typeface="Segoe UI"/>
                        </a:defRPr>
                      </a:pPr>
                      <a:r>
                        <a:t>✅ 100% PASSED</a:t>
                      </a:r>
                    </a:p>
                  </a:txBody>
                  <a:tcPr anchor="ctr">
                    <a:solidFill>
                      <a:srgbClr val="FFFFFF"/>
                    </a:solidFill>
                  </a:tcPr>
                </a:tc>
              </a:tr>
              <a:tr h="662944">
                <a:tc>
                  <a:txBody>
                    <a:bodyPr/>
                    <a:lstStyle/>
                    <a:p>
                      <a:pPr>
                        <a:defRPr sz="1200">
                          <a:solidFill>
                            <a:srgbClr val="0F172A"/>
                          </a:solidFill>
                          <a:latin typeface="Segoe UI"/>
                        </a:defRPr>
                      </a:pPr>
                      <a:r>
                        <a:t>test_websocket, exceptions, crud</a:t>
                      </a:r>
                    </a:p>
                  </a:txBody>
                  <a:tcPr anchor="ctr">
                    <a:solidFill>
                      <a:srgbClr val="F0F7FF"/>
                    </a:solidFill>
                  </a:tcPr>
                </a:tc>
                <a:tc>
                  <a:txBody>
                    <a:bodyPr/>
                    <a:lstStyle/>
                    <a:p>
                      <a:pPr algn="ctr">
                        <a:defRPr sz="1200">
                          <a:solidFill>
                            <a:srgbClr val="0F172A"/>
                          </a:solidFill>
                          <a:latin typeface="Segoe UI"/>
                        </a:defRPr>
                      </a:pPr>
                      <a:r>
                        <a:t>31+ Test Cases</a:t>
                      </a:r>
                    </a:p>
                  </a:txBody>
                  <a:tcPr anchor="ctr">
                    <a:solidFill>
                      <a:srgbClr val="F0F7FF"/>
                    </a:solidFill>
                  </a:tcPr>
                </a:tc>
                <a:tc>
                  <a:txBody>
                    <a:bodyPr/>
                    <a:lstStyle/>
                    <a:p>
                      <a:pPr>
                        <a:defRPr sz="1200">
                          <a:solidFill>
                            <a:srgbClr val="0F172A"/>
                          </a:solidFill>
                          <a:latin typeface="Segoe UI"/>
                        </a:defRPr>
                      </a:pPr>
                      <a:r>
                        <a:t>WebSocket Broadcast tức thời, Idempotency Token, Xử lý ngoại lệ, CRUD Master Data</a:t>
                      </a:r>
                    </a:p>
                  </a:txBody>
                  <a:tcPr anchor="ctr">
                    <a:solidFill>
                      <a:srgbClr val="F0F7FF"/>
                    </a:solidFill>
                  </a:tcPr>
                </a:tc>
                <a:tc>
                  <a:txBody>
                    <a:bodyPr/>
                    <a:lstStyle/>
                    <a:p>
                      <a:pPr algn="ctr">
                        <a:defRPr sz="1200" b="1">
                          <a:solidFill>
                            <a:srgbClr val="10B981"/>
                          </a:solidFill>
                          <a:latin typeface="Segoe UI"/>
                        </a:defRPr>
                      </a:pPr>
                      <a:r>
                        <a:t>✅ 100% PASSED</a:t>
                      </a:r>
                    </a:p>
                  </a:txBody>
                  <a:tcPr anchor="ctr">
                    <a:solidFill>
                      <a:srgbClr val="F0F7FF"/>
                    </a:solidFill>
                  </a:tcPr>
                </a:tc>
              </a:tr>
            </a:tbl>
          </a:graphicData>
        </a:graphic>
      </p:graphicFrame>
      <p:sp>
        <p:nvSpPr>
          <p:cNvPr id="5" name="Rounded Rectangle 4"/>
          <p:cNvSpPr/>
          <p:nvPr/>
        </p:nvSpPr>
        <p:spPr>
          <a:xfrm>
            <a:off x="731520" y="5623560"/>
            <a:ext cx="10725912" cy="731520"/>
          </a:xfrm>
          <a:prstGeom prst="roundRect">
            <a:avLst/>
          </a:prstGeom>
          <a:solidFill>
            <a:srgbClr val="0F2341"/>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6B6D4"/>
                </a:solidFill>
                <a:latin typeface="Segoe UI"/>
              </a:defRPr>
            </a:pPr>
            <a:r>
              <a:t>🏆 TỔNG KẾT KIỂM THỬ: 66/66 TEST CASES TỰ ĐỘNG (100% PASSED) TRONG ~40 GIÂY THỰC THI PYTEST!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47472"/>
            <a:ext cx="2468880" cy="329184"/>
          </a:xfrm>
          <a:prstGeom prst="roundRect">
            <a:avLst/>
          </a:prstGeom>
          <a:solidFill>
            <a:srgbClr val="1E3A8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FFFFFF"/>
                </a:solidFill>
                <a:latin typeface="Segoe UI"/>
              </a:defRPr>
            </a:pPr>
            <a:r>
              <a:t>DEPLOYMENT &amp; REALTIME</a:t>
            </a:r>
          </a:p>
        </p:txBody>
      </p:sp>
      <p:sp>
        <p:nvSpPr>
          <p:cNvPr id="3" name="TextBox 2"/>
          <p:cNvSpPr txBox="1"/>
          <p:nvPr/>
        </p:nvSpPr>
        <p:spPr>
          <a:xfrm>
            <a:off x="731520" y="713232"/>
            <a:ext cx="10725912" cy="621792"/>
          </a:xfrm>
          <a:prstGeom prst="rect">
            <a:avLst/>
          </a:prstGeom>
          <a:noFill/>
        </p:spPr>
        <p:txBody>
          <a:bodyPr wrap="square" lIns="0" tIns="0" rIns="0" bIns="0">
            <a:spAutoFit/>
          </a:bodyPr>
          <a:lstStyle/>
          <a:p>
            <a:pPr algn="l">
              <a:defRPr sz="2600" b="1">
                <a:solidFill>
                  <a:srgbClr val="1E3A8A"/>
                </a:solidFill>
                <a:latin typeface="Segoe UI"/>
              </a:defRPr>
            </a:pPr>
            <a:r>
              <a:t>Đóng Gói Triển Khai Docker &amp; Đồng Bộ Thời Gian Thực Đa Thiết Bị</a:t>
            </a:r>
          </a:p>
        </p:txBody>
      </p:sp>
      <p:sp>
        <p:nvSpPr>
          <p:cNvPr id="4" name="Rounded Rectangle 3"/>
          <p:cNvSpPr/>
          <p:nvPr/>
        </p:nvSpPr>
        <p:spPr>
          <a:xfrm>
            <a:off x="731520" y="1417320"/>
            <a:ext cx="2468880" cy="2057400"/>
          </a:xfrm>
          <a:prstGeom prst="roundRect">
            <a:avLst/>
          </a:prstGeom>
          <a:solidFill>
            <a:srgbClr val="F0F7FF"/>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l">
              <a:defRPr sz="1250" b="1">
                <a:solidFill>
                  <a:srgbClr val="1E3A8A"/>
                </a:solidFill>
                <a:latin typeface="Segoe UI"/>
              </a:defRPr>
            </a:pPr>
            <a:r>
              <a:t>GATEWAY (NGINX)</a:t>
            </a:r>
          </a:p>
          <a:p>
            <a:pPr algn="l">
              <a:spcBef>
                <a:spcPts val="300"/>
              </a:spcBef>
              <a:defRPr sz="1150" b="1">
                <a:solidFill>
                  <a:srgbClr val="0F172A"/>
                </a:solidFill>
                <a:latin typeface="Segoe UI"/>
              </a:defRPr>
            </a:pPr>
            <a:r>
              <a:t>Reverse Proxy Cổng Vào</a:t>
            </a:r>
          </a:p>
          <a:p>
            <a:pPr algn="l">
              <a:spcBef>
                <a:spcPts val="300"/>
              </a:spcBef>
              <a:defRPr sz="1100">
                <a:solidFill>
                  <a:srgbClr val="334155"/>
                </a:solidFill>
                <a:latin typeface="Segoe UI"/>
              </a:defRPr>
            </a:pPr>
            <a:r>
              <a:t>Lắng nghe Port 80 &amp; 443 SSL, cân bằng tải, định tuyến Web &amp; WebSocket</a:t>
            </a:r>
          </a:p>
        </p:txBody>
      </p:sp>
      <p:sp>
        <p:nvSpPr>
          <p:cNvPr id="5" name="Rounded Rectangle 4"/>
          <p:cNvSpPr/>
          <p:nvPr/>
        </p:nvSpPr>
        <p:spPr>
          <a:xfrm>
            <a:off x="3483864" y="1417320"/>
            <a:ext cx="2468880" cy="2057400"/>
          </a:xfrm>
          <a:prstGeom prst="roundRect">
            <a:avLst/>
          </a:prstGeom>
          <a:solidFill>
            <a:srgbClr val="F0F7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l">
              <a:defRPr sz="1250" b="1">
                <a:solidFill>
                  <a:srgbClr val="2563EB"/>
                </a:solidFill>
                <a:latin typeface="Segoe UI"/>
              </a:defRPr>
            </a:pPr>
            <a:r>
              <a:t>BACKEND (FASTAPI)</a:t>
            </a:r>
          </a:p>
          <a:p>
            <a:pPr algn="l">
              <a:spcBef>
                <a:spcPts val="300"/>
              </a:spcBef>
              <a:defRPr sz="1150" b="1">
                <a:solidFill>
                  <a:srgbClr val="0F172A"/>
                </a:solidFill>
                <a:latin typeface="Segoe UI"/>
              </a:defRPr>
            </a:pPr>
            <a:r>
              <a:t>Máy Chủ Ứng Dụng</a:t>
            </a:r>
          </a:p>
          <a:p>
            <a:pPr algn="l">
              <a:spcBef>
                <a:spcPts val="300"/>
              </a:spcBef>
              <a:defRPr sz="1100">
                <a:solidFill>
                  <a:srgbClr val="334155"/>
                </a:solidFill>
                <a:latin typeface="Segoe UI"/>
              </a:defRPr>
            </a:pPr>
            <a:r>
              <a:t>Python 3.12, Uvicorn ASGI, xử lý nghiệp vụ ACID và điều phối AI</a:t>
            </a:r>
          </a:p>
        </p:txBody>
      </p:sp>
      <p:sp>
        <p:nvSpPr>
          <p:cNvPr id="6" name="Rounded Rectangle 5"/>
          <p:cNvSpPr/>
          <p:nvPr/>
        </p:nvSpPr>
        <p:spPr>
          <a:xfrm>
            <a:off x="6236208" y="1417320"/>
            <a:ext cx="2468880" cy="2057400"/>
          </a:xfrm>
          <a:prstGeom prst="roundRect">
            <a:avLst/>
          </a:prstGeom>
          <a:solidFill>
            <a:srgbClr val="F0F7FF"/>
          </a:solidFill>
          <a:ln w="19050">
            <a:solidFill>
              <a:srgbClr val="0F234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l">
              <a:defRPr sz="1250" b="1">
                <a:solidFill>
                  <a:srgbClr val="0F2341"/>
                </a:solidFill>
                <a:latin typeface="Segoe UI"/>
              </a:defRPr>
            </a:pPr>
            <a:r>
              <a:t>DATABASE (POSTGRESQL)</a:t>
            </a:r>
          </a:p>
          <a:p>
            <a:pPr algn="l">
              <a:spcBef>
                <a:spcPts val="300"/>
              </a:spcBef>
              <a:defRPr sz="1150" b="1">
                <a:solidFill>
                  <a:srgbClr val="0F172A"/>
                </a:solidFill>
                <a:latin typeface="Segoe UI"/>
              </a:defRPr>
            </a:pPr>
            <a:r>
              <a:t>CSDL Quan Hệ Tập Trung</a:t>
            </a:r>
          </a:p>
          <a:p>
            <a:pPr algn="l">
              <a:spcBef>
                <a:spcPts val="300"/>
              </a:spcBef>
              <a:defRPr sz="1100">
                <a:solidFill>
                  <a:srgbClr val="334155"/>
                </a:solidFill>
                <a:latin typeface="Segoe UI"/>
              </a:defRPr>
            </a:pPr>
            <a:r>
              <a:t>PostgreSQL 15, volume lưu trữ dữ liệu bền bỉ postgres_data</a:t>
            </a:r>
          </a:p>
        </p:txBody>
      </p:sp>
      <p:sp>
        <p:nvSpPr>
          <p:cNvPr id="7" name="Rounded Rectangle 6"/>
          <p:cNvSpPr/>
          <p:nvPr/>
        </p:nvSpPr>
        <p:spPr>
          <a:xfrm>
            <a:off x="8988552" y="1417320"/>
            <a:ext cx="2468880" cy="2057400"/>
          </a:xfrm>
          <a:prstGeom prst="roundRect">
            <a:avLst/>
          </a:prstGeom>
          <a:solidFill>
            <a:srgbClr val="F0F7FF"/>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l">
              <a:defRPr sz="1250" b="1">
                <a:solidFill>
                  <a:srgbClr val="06B6D4"/>
                </a:solidFill>
                <a:latin typeface="Segoe UI"/>
              </a:defRPr>
            </a:pPr>
            <a:r>
              <a:t>ADMIN TOOLS (PGADMIN)</a:t>
            </a:r>
          </a:p>
          <a:p>
            <a:pPr algn="l">
              <a:spcBef>
                <a:spcPts val="300"/>
              </a:spcBef>
              <a:defRPr sz="1150" b="1">
                <a:solidFill>
                  <a:srgbClr val="0F172A"/>
                </a:solidFill>
                <a:latin typeface="Segoe UI"/>
              </a:defRPr>
            </a:pPr>
            <a:r>
              <a:t>Quản Trị Trực Quan</a:t>
            </a:r>
          </a:p>
          <a:p>
            <a:pPr algn="l">
              <a:spcBef>
                <a:spcPts val="300"/>
              </a:spcBef>
              <a:defRPr sz="1100">
                <a:solidFill>
                  <a:srgbClr val="334155"/>
                </a:solidFill>
                <a:latin typeface="Segoe UI"/>
              </a:defRPr>
            </a:pPr>
            <a:r>
              <a:t>pgAdmin 4 tại cổng 5050 hỗ trợ quản trị viên giám sát CSDL</a:t>
            </a:r>
          </a:p>
        </p:txBody>
      </p:sp>
      <p:sp>
        <p:nvSpPr>
          <p:cNvPr id="8" name="Rounded Rectangle 7"/>
          <p:cNvSpPr/>
          <p:nvPr/>
        </p:nvSpPr>
        <p:spPr>
          <a:xfrm>
            <a:off x="731520" y="3703320"/>
            <a:ext cx="10725912" cy="2651760"/>
          </a:xfrm>
          <a:prstGeom prst="roundRect">
            <a:avLst/>
          </a:prstGeom>
          <a:solidFill>
            <a:srgbClr val="0A192F"/>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182880"/>
          <a:lstStyle/>
          <a:p>
            <a:pPr algn="l">
              <a:defRPr sz="1400" b="1">
                <a:solidFill>
                  <a:srgbClr val="06B6D4"/>
                </a:solidFill>
                <a:latin typeface="Segoe UI"/>
              </a:defRPr>
            </a:pPr>
            <a:r>
              <a:t>🌐 KHẢ NĂNG TRUY CẬP ĐA THIẾT BỊ &amp; ĐỒNG BỘ REALTIME TRONG MẠNG LAN DOANH NGHIỆP</a:t>
            </a:r>
          </a:p>
          <a:p>
            <a:pPr algn="l">
              <a:spcBef>
                <a:spcPts val="500"/>
              </a:spcBef>
              <a:defRPr sz="1250">
                <a:solidFill>
                  <a:srgbClr val="FFFFFF"/>
                </a:solidFill>
                <a:latin typeface="Segoe UI"/>
              </a:defRPr>
            </a:pPr>
            <a:r>
              <a:t>1. Truy cập Máy chủ Cục bộ (Localhost): http://localhost  |  HTTPS SSL: https://localhost</a:t>
            </a:r>
          </a:p>
          <a:p>
            <a:pPr algn="l">
              <a:spcBef>
                <a:spcPts val="500"/>
              </a:spcBef>
              <a:defRPr sz="1250">
                <a:solidFill>
                  <a:srgbClr val="FFFFFF"/>
                </a:solidFill>
                <a:latin typeface="Segoe UI"/>
              </a:defRPr>
            </a:pPr>
            <a:r>
              <a:t>2. Truy cập Tên miền Nội bộ: http://smartlogis-ai.com qua DNS / file hosts nội bộ</a:t>
            </a:r>
          </a:p>
          <a:p>
            <a:pPr algn="l">
              <a:spcBef>
                <a:spcPts val="500"/>
              </a:spcBef>
              <a:defRPr sz="1250">
                <a:solidFill>
                  <a:srgbClr val="FFFFFF"/>
                </a:solidFill>
                <a:latin typeface="Segoe UI"/>
              </a:defRPr>
            </a:pPr>
            <a:r>
              <a:t>3. Truy cập Thiết bị Di động (Mobile / Tablet cùng Wi-Fi): http://192.168.x.x (Thủ kho kiểm đếm tại bãi)</a:t>
            </a:r>
          </a:p>
          <a:p>
            <a:pPr algn="l">
              <a:spcBef>
                <a:spcPts val="500"/>
              </a:spcBef>
              <a:defRPr sz="1250">
                <a:solidFill>
                  <a:srgbClr val="FFFFFF"/>
                </a:solidFill>
                <a:latin typeface="Segoe UI"/>
              </a:defRPr>
            </a:pPr>
            <a:r>
              <a:t>4. Đồng bộ Thời gian thực (Realtime WebSocket): Biến động kho broadcast tức thời tới mọi thiết bị kết nối</a:t>
            </a:r>
          </a:p>
          <a:p>
            <a:pPr algn="l">
              <a:spcBef>
                <a:spcPts val="500"/>
              </a:spcBef>
              <a:defRPr sz="1250">
                <a:solidFill>
                  <a:srgbClr val="FFFFFF"/>
                </a:solidFill>
                <a:latin typeface="Segoe UI"/>
              </a:defRPr>
            </a:pPr>
            <a:r>
              <a:t>5. Khởi chạy 1-Click tự động: Tệp script run_app.bat (Windows) hoặc Docker Compose sẵn sàng vận hành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731520" y="347472"/>
            <a:ext cx="2468880" cy="329184"/>
          </a:xfrm>
          <a:prstGeom prst="roundRect">
            <a:avLst/>
          </a:prstGeom>
          <a:solidFill>
            <a:srgbClr val="1E3A8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FFFFFF"/>
                </a:solidFill>
                <a:latin typeface="Segoe UI"/>
              </a:defRPr>
            </a:pPr>
            <a:r>
              <a:t>LIVE DEMONSTRATION</a:t>
            </a:r>
          </a:p>
        </p:txBody>
      </p:sp>
      <p:sp>
        <p:nvSpPr>
          <p:cNvPr id="3" name="TextBox 2"/>
          <p:cNvSpPr txBox="1"/>
          <p:nvPr/>
        </p:nvSpPr>
        <p:spPr>
          <a:xfrm>
            <a:off x="731520" y="713232"/>
            <a:ext cx="10725912" cy="621792"/>
          </a:xfrm>
          <a:prstGeom prst="rect">
            <a:avLst/>
          </a:prstGeom>
          <a:noFill/>
        </p:spPr>
        <p:txBody>
          <a:bodyPr wrap="square" lIns="0" tIns="0" rIns="0" bIns="0">
            <a:spAutoFit/>
          </a:bodyPr>
          <a:lstStyle/>
          <a:p>
            <a:pPr algn="l">
              <a:defRPr sz="2600" b="1">
                <a:solidFill>
                  <a:srgbClr val="1E3A8A"/>
                </a:solidFill>
                <a:latin typeface="Segoe UI"/>
              </a:defRPr>
            </a:pPr>
            <a:r>
              <a:t>Kịch Bản Thực Nghiệm Demo Hệ Thống (Lộ Trình 5 Phút Mạch Lạc)</a:t>
            </a:r>
          </a:p>
        </p:txBody>
      </p:sp>
      <p:graphicFrame>
        <p:nvGraphicFramePr>
          <p:cNvPr id="4" name="Table 3"/>
          <p:cNvGraphicFramePr>
            <a:graphicFrameLocks noGrp="1"/>
          </p:cNvGraphicFramePr>
          <p:nvPr/>
        </p:nvGraphicFramePr>
        <p:xfrm>
          <a:off x="731520" y="1417320"/>
          <a:ext cx="10725912" cy="4937760"/>
        </p:xfrm>
        <a:graphic>
          <a:graphicData uri="http://schemas.openxmlformats.org/drawingml/2006/table">
            <a:tbl>
              <a:tblPr firstRow="1" bandRow="1">
                <a:tableStyleId>{5C22544A-7EE6-4342-B048-85BDC9FD1C3A}</a:tableStyleId>
              </a:tblPr>
              <a:tblGrid>
                <a:gridCol w="1645920"/>
                <a:gridCol w="4206240"/>
                <a:gridCol w="4873752"/>
              </a:tblGrid>
              <a:tr h="822960">
                <a:tc>
                  <a:txBody>
                    <a:bodyPr/>
                    <a:lstStyle/>
                    <a:p>
                      <a:pPr algn="ctr">
                        <a:defRPr sz="1250" b="1">
                          <a:solidFill>
                            <a:srgbClr val="FFFFFF"/>
                          </a:solidFill>
                          <a:latin typeface="Segoe UI"/>
                        </a:defRPr>
                      </a:pPr>
                      <a:r>
                        <a:t>THỜI GIAN</a:t>
                      </a:r>
                    </a:p>
                  </a:txBody>
                  <a:tcPr anchor="ctr">
                    <a:solidFill>
                      <a:srgbClr val="1E3A8A"/>
                    </a:solidFill>
                  </a:tcPr>
                </a:tc>
                <a:tc>
                  <a:txBody>
                    <a:bodyPr/>
                    <a:lstStyle/>
                    <a:p>
                      <a:pPr algn="l">
                        <a:defRPr sz="1250" b="1">
                          <a:solidFill>
                            <a:srgbClr val="FFFFFF"/>
                          </a:solidFill>
                          <a:latin typeface="Segoe UI"/>
                        </a:defRPr>
                      </a:pPr>
                      <a:r>
                        <a:t>THAO TÁC THỰC HIỆN TRÊN HỆ THỐNG</a:t>
                      </a:r>
                    </a:p>
                  </a:txBody>
                  <a:tcPr anchor="ctr">
                    <a:solidFill>
                      <a:srgbClr val="1E3A8A"/>
                    </a:solidFill>
                  </a:tcPr>
                </a:tc>
                <a:tc>
                  <a:txBody>
                    <a:bodyPr/>
                    <a:lstStyle/>
                    <a:p>
                      <a:pPr algn="l">
                        <a:defRPr sz="1250" b="1">
                          <a:solidFill>
                            <a:srgbClr val="FFFFFF"/>
                          </a:solidFill>
                          <a:latin typeface="Segoe UI"/>
                        </a:defRPr>
                      </a:pPr>
                      <a:r>
                        <a:t>MỤC TIÊU &amp; KẾT QUẢ KỲ VỌNG</a:t>
                      </a:r>
                    </a:p>
                  </a:txBody>
                  <a:tcPr anchor="ctr">
                    <a:solidFill>
                      <a:srgbClr val="1E3A8A"/>
                    </a:solidFill>
                  </a:tcPr>
                </a:tc>
              </a:tr>
              <a:tr h="822960">
                <a:tc>
                  <a:txBody>
                    <a:bodyPr/>
                    <a:lstStyle/>
                    <a:p>
                      <a:pPr algn="ctr">
                        <a:defRPr sz="1250" b="1">
                          <a:solidFill>
                            <a:srgbClr val="2563EB"/>
                          </a:solidFill>
                          <a:latin typeface="Segoe UI"/>
                        </a:defRPr>
                      </a:pPr>
                      <a:r>
                        <a:t>Phút 1</a:t>
                      </a:r>
                    </a:p>
                  </a:txBody>
                  <a:tcPr anchor="ctr">
                    <a:solidFill>
                      <a:srgbClr val="F0F7FF"/>
                    </a:solidFill>
                  </a:tcPr>
                </a:tc>
                <a:tc>
                  <a:txBody>
                    <a:bodyPr/>
                    <a:lstStyle/>
                    <a:p>
                      <a:pPr>
                        <a:defRPr sz="1250">
                          <a:solidFill>
                            <a:srgbClr val="0F172A"/>
                          </a:solidFill>
                          <a:latin typeface="Segoe UI"/>
                        </a:defRPr>
                      </a:pPr>
                      <a:r>
                        <a:t>Đăng nhập Thủ kho (thukho) và Nhân viên (nhanvien)</a:t>
                      </a:r>
                    </a:p>
                  </a:txBody>
                  <a:tcPr anchor="ctr">
                    <a:solidFill>
                      <a:srgbClr val="F0F7FF"/>
                    </a:solidFill>
                  </a:tcPr>
                </a:tc>
                <a:tc>
                  <a:txBody>
                    <a:bodyPr/>
                    <a:lstStyle/>
                    <a:p>
                      <a:pPr>
                        <a:defRPr sz="1250">
                          <a:solidFill>
                            <a:srgbClr val="0F172A"/>
                          </a:solidFill>
                          <a:latin typeface="Segoe UI"/>
                        </a:defRPr>
                      </a:pPr>
                      <a:r>
                        <a:t>Kiểm chứng phân quyền RBAC: Thủ kho có nút Lập phiếu; Nhân viên ở chế độ chỉ đọc</a:t>
                      </a:r>
                    </a:p>
                  </a:txBody>
                  <a:tcPr anchor="ctr">
                    <a:solidFill>
                      <a:srgbClr val="F0F7FF"/>
                    </a:solidFill>
                  </a:tcPr>
                </a:tc>
              </a:tr>
              <a:tr h="822960">
                <a:tc>
                  <a:txBody>
                    <a:bodyPr/>
                    <a:lstStyle/>
                    <a:p>
                      <a:pPr algn="ctr">
                        <a:defRPr sz="1250" b="1">
                          <a:solidFill>
                            <a:srgbClr val="2563EB"/>
                          </a:solidFill>
                          <a:latin typeface="Segoe UI"/>
                        </a:defRPr>
                      </a:pPr>
                      <a:r>
                        <a:t>Phút 2</a:t>
                      </a:r>
                    </a:p>
                  </a:txBody>
                  <a:tcPr anchor="ctr">
                    <a:solidFill>
                      <a:srgbClr val="FFFFFF"/>
                    </a:solidFill>
                  </a:tcPr>
                </a:tc>
                <a:tc>
                  <a:txBody>
                    <a:bodyPr/>
                    <a:lstStyle/>
                    <a:p>
                      <a:pPr>
                        <a:defRPr sz="1250">
                          <a:solidFill>
                            <a:srgbClr val="0F172A"/>
                          </a:solidFill>
                          <a:latin typeface="Segoe UI"/>
                        </a:defRPr>
                      </a:pPr>
                      <a:r>
                        <a:t>Bấm 'Báo Cáo 3 Phần' trên AI Widget</a:t>
                      </a:r>
                    </a:p>
                  </a:txBody>
                  <a:tcPr anchor="ctr">
                    <a:solidFill>
                      <a:srgbClr val="FFFFFF"/>
                    </a:solidFill>
                  </a:tcPr>
                </a:tc>
                <a:tc>
                  <a:txBody>
                    <a:bodyPr/>
                    <a:lstStyle/>
                    <a:p>
                      <a:pPr>
                        <a:defRPr sz="1250">
                          <a:solidFill>
                            <a:srgbClr val="0F172A"/>
                          </a:solidFill>
                          <a:latin typeface="Segoe UI"/>
                        </a:defRPr>
                      </a:pPr>
                      <a:r>
                        <a:t>Google Gemini tính toán Burn-rate, đề xuất nhập hàng và cảnh báo Dead Stock</a:t>
                      </a:r>
                    </a:p>
                  </a:txBody>
                  <a:tcPr anchor="ctr">
                    <a:solidFill>
                      <a:srgbClr val="FFFFFF"/>
                    </a:solidFill>
                  </a:tcPr>
                </a:tc>
              </a:tr>
              <a:tr h="822960">
                <a:tc>
                  <a:txBody>
                    <a:bodyPr/>
                    <a:lstStyle/>
                    <a:p>
                      <a:pPr algn="ctr">
                        <a:defRPr sz="1250" b="1">
                          <a:solidFill>
                            <a:srgbClr val="2563EB"/>
                          </a:solidFill>
                          <a:latin typeface="Segoe UI"/>
                        </a:defRPr>
                      </a:pPr>
                      <a:r>
                        <a:t>Phút 3</a:t>
                      </a:r>
                    </a:p>
                  </a:txBody>
                  <a:tcPr anchor="ctr">
                    <a:solidFill>
                      <a:srgbClr val="F0F7FF"/>
                    </a:solidFill>
                  </a:tcPr>
                </a:tc>
                <a:tc>
                  <a:txBody>
                    <a:bodyPr/>
                    <a:lstStyle/>
                    <a:p>
                      <a:pPr>
                        <a:defRPr sz="1250">
                          <a:solidFill>
                            <a:srgbClr val="0F172A"/>
                          </a:solidFill>
                          <a:latin typeface="Segoe UI"/>
                        </a:defRPr>
                      </a:pPr>
                      <a:r>
                        <a:t>Thử nghiệm xuất vượt số lượng tồn kho khả dụng</a:t>
                      </a:r>
                    </a:p>
                  </a:txBody>
                  <a:tcPr anchor="ctr">
                    <a:solidFill>
                      <a:srgbClr val="F0F7FF"/>
                    </a:solidFill>
                  </a:tcPr>
                </a:tc>
                <a:tc>
                  <a:txBody>
                    <a:bodyPr/>
                    <a:lstStyle/>
                    <a:p>
                      <a:pPr>
                        <a:defRPr sz="1250">
                          <a:solidFill>
                            <a:srgbClr val="0F172A"/>
                          </a:solidFill>
                          <a:latin typeface="Segoe UI"/>
                        </a:defRPr>
                      </a:pPr>
                      <a:r>
                        <a:t>Giao diện cảnh báo; Backend từ chối ngay lập tức với mã lỗi HTTP 400 Bad Request</a:t>
                      </a:r>
                    </a:p>
                  </a:txBody>
                  <a:tcPr anchor="ctr">
                    <a:solidFill>
                      <a:srgbClr val="F0F7FF"/>
                    </a:solidFill>
                  </a:tcPr>
                </a:tc>
              </a:tr>
              <a:tr h="822960">
                <a:tc>
                  <a:txBody>
                    <a:bodyPr/>
                    <a:lstStyle/>
                    <a:p>
                      <a:pPr algn="ctr">
                        <a:defRPr sz="1250" b="1">
                          <a:solidFill>
                            <a:srgbClr val="2563EB"/>
                          </a:solidFill>
                          <a:latin typeface="Segoe UI"/>
                        </a:defRPr>
                      </a:pPr>
                      <a:r>
                        <a:t>Phút 4</a:t>
                      </a:r>
                    </a:p>
                  </a:txBody>
                  <a:tcPr anchor="ctr">
                    <a:solidFill>
                      <a:srgbClr val="FFFFFF"/>
                    </a:solidFill>
                  </a:tcPr>
                </a:tc>
                <a:tc>
                  <a:txBody>
                    <a:bodyPr/>
                    <a:lstStyle/>
                    <a:p>
                      <a:pPr>
                        <a:defRPr sz="1250">
                          <a:solidFill>
                            <a:srgbClr val="0F172A"/>
                          </a:solidFill>
                          <a:latin typeface="Segoe UI"/>
                        </a:defRPr>
                      </a:pPr>
                      <a:r>
                        <a:t>Lập phiếu nhập kho &amp; Tra cứu sổ Thẻ kho</a:t>
                      </a:r>
                    </a:p>
                  </a:txBody>
                  <a:tcPr anchor="ctr">
                    <a:solidFill>
                      <a:srgbClr val="FFFFFF"/>
                    </a:solidFill>
                  </a:tcPr>
                </a:tc>
                <a:tc>
                  <a:txBody>
                    <a:bodyPr/>
                    <a:lstStyle/>
                    <a:p>
                      <a:pPr>
                        <a:defRPr sz="1250">
                          <a:solidFill>
                            <a:srgbClr val="0F172A"/>
                          </a:solidFill>
                          <a:latin typeface="Segoe UI"/>
                        </a:defRPr>
                      </a:pPr>
                      <a:r>
                        <a:t>Giao dịch Master-Detail thành công; Sổ Thẻ kho tự động cập nhật số dư lũy kế</a:t>
                      </a:r>
                    </a:p>
                  </a:txBody>
                  <a:tcPr anchor="ctr">
                    <a:solidFill>
                      <a:srgbClr val="FFFFFF"/>
                    </a:solidFill>
                  </a:tcPr>
                </a:tc>
              </a:tr>
              <a:tr h="822960">
                <a:tc>
                  <a:txBody>
                    <a:bodyPr/>
                    <a:lstStyle/>
                    <a:p>
                      <a:pPr algn="ctr">
                        <a:defRPr sz="1250" b="1">
                          <a:solidFill>
                            <a:srgbClr val="2563EB"/>
                          </a:solidFill>
                          <a:latin typeface="Segoe UI"/>
                        </a:defRPr>
                      </a:pPr>
                      <a:r>
                        <a:t>Phút 5</a:t>
                      </a:r>
                    </a:p>
                  </a:txBody>
                  <a:tcPr anchor="ctr">
                    <a:solidFill>
                      <a:srgbClr val="F0F7FF"/>
                    </a:solidFill>
                  </a:tcPr>
                </a:tc>
                <a:tc>
                  <a:txBody>
                    <a:bodyPr/>
                    <a:lstStyle/>
                    <a:p>
                      <a:pPr>
                        <a:defRPr sz="1250">
                          <a:solidFill>
                            <a:srgbClr val="0F172A"/>
                          </a:solidFill>
                          <a:latin typeface="Segoe UI"/>
                        </a:defRPr>
                      </a:pPr>
                      <a:r>
                        <a:t>Mở Swagger UI kiểm tra API /raw-context</a:t>
                      </a:r>
                    </a:p>
                  </a:txBody>
                  <a:tcPr anchor="ctr">
                    <a:solidFill>
                      <a:srgbClr val="F0F7FF"/>
                    </a:solidFill>
                  </a:tcPr>
                </a:tc>
                <a:tc>
                  <a:txBody>
                    <a:bodyPr/>
                    <a:lstStyle/>
                    <a:p>
                      <a:pPr>
                        <a:defRPr sz="1250">
                          <a:solidFill>
                            <a:srgbClr val="0F172A"/>
                          </a:solidFill>
                          <a:latin typeface="Segoe UI"/>
                        </a:defRPr>
                      </a:pPr>
                      <a:r>
                        <a:t>Kiểm toán minh bạch: Chứng minh 100% dữ liệu nạp cho AI không chứa giá vốn</a:t>
                      </a:r>
                    </a:p>
                  </a:txBody>
                  <a:tcPr anchor="ctr">
                    <a:solidFill>
                      <a:srgbClr val="F0F7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47472"/>
            <a:ext cx="2468880" cy="329184"/>
          </a:xfrm>
          <a:prstGeom prst="roundRect">
            <a:avLst/>
          </a:prstGeom>
          <a:solidFill>
            <a:srgbClr val="2563E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FFFFFF"/>
                </a:solidFill>
                <a:latin typeface="Segoe UI"/>
              </a:defRPr>
            </a:pPr>
            <a:r>
              <a:t>CONCLUSION &amp; ROADMAP</a:t>
            </a:r>
          </a:p>
        </p:txBody>
      </p:sp>
      <p:sp>
        <p:nvSpPr>
          <p:cNvPr id="4" name="TextBox 3"/>
          <p:cNvSpPr txBox="1"/>
          <p:nvPr/>
        </p:nvSpPr>
        <p:spPr>
          <a:xfrm>
            <a:off x="731520" y="713232"/>
            <a:ext cx="10725912" cy="621792"/>
          </a:xfrm>
          <a:prstGeom prst="rect">
            <a:avLst/>
          </a:prstGeom>
          <a:noFill/>
        </p:spPr>
        <p:txBody>
          <a:bodyPr wrap="square" lIns="0" tIns="0" rIns="0" bIns="0">
            <a:spAutoFit/>
          </a:bodyPr>
          <a:lstStyle/>
          <a:p>
            <a:pPr algn="l">
              <a:defRPr sz="2600" b="1">
                <a:solidFill>
                  <a:srgbClr val="FFFFFF"/>
                </a:solidFill>
                <a:latin typeface="Segoe UI"/>
              </a:defRPr>
            </a:pPr>
            <a:r>
              <a:t>Tổng Kết Đề Tài &amp; Định Hướng Phát Triển Tương Lai</a:t>
            </a:r>
          </a:p>
        </p:txBody>
      </p:sp>
      <p:sp>
        <p:nvSpPr>
          <p:cNvPr id="5" name="Rounded Rectangle 4"/>
          <p:cNvSpPr/>
          <p:nvPr/>
        </p:nvSpPr>
        <p:spPr>
          <a:xfrm>
            <a:off x="731520" y="1417320"/>
            <a:ext cx="5212080" cy="3886200"/>
          </a:xfrm>
          <a:prstGeom prst="roundRect">
            <a:avLst/>
          </a:prstGeom>
          <a:solidFill>
            <a:srgbClr val="142A4D"/>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l">
              <a:defRPr sz="1500" b="1">
                <a:solidFill>
                  <a:srgbClr val="06B6D4"/>
                </a:solidFill>
                <a:latin typeface="Segoe UI"/>
              </a:defRPr>
            </a:pPr>
            <a:r>
              <a:t>🏆 KẾT QUẢ &amp; THÀNH TỰU ĐẠT ĐƯỢC</a:t>
            </a:r>
          </a:p>
          <a:p>
            <a:pPr algn="l">
              <a:spcBef>
                <a:spcPts val="800"/>
              </a:spcBef>
              <a:defRPr sz="1300">
                <a:solidFill>
                  <a:srgbClr val="FFFFFF"/>
                </a:solidFill>
                <a:latin typeface="Segoe UI"/>
              </a:defRPr>
            </a:pPr>
            <a:r>
              <a:t>• Bảo toàn giao dịch ACID: Triệt tiêu hoàn toàn rủi ro tồn âm và Lost Update</a:t>
            </a:r>
          </a:p>
          <a:p>
            <a:pPr algn="l">
              <a:spcBef>
                <a:spcPts val="800"/>
              </a:spcBef>
              <a:defRPr sz="1300">
                <a:solidFill>
                  <a:srgbClr val="FFFFFF"/>
                </a:solidFill>
                <a:latin typeface="Segoe UI"/>
              </a:defRPr>
            </a:pPr>
            <a:r>
              <a:t>• Trợ lý AI thực tiễn: Khử sạch 100% giá vốn nhạy cảm, cung cấp báo cáo 3 phần</a:t>
            </a:r>
          </a:p>
          <a:p>
            <a:pPr algn="l">
              <a:spcBef>
                <a:spcPts val="800"/>
              </a:spcBef>
              <a:defRPr sz="1300">
                <a:solidFill>
                  <a:srgbClr val="FFFFFF"/>
                </a:solidFill>
                <a:latin typeface="Segoe UI"/>
              </a:defRPr>
            </a:pPr>
            <a:r>
              <a:t>• Kiến trúc mở &amp; tin cậy: Đồng bộ WebSocket đa thiết bị, phân quyền RBAC 3 vai trò</a:t>
            </a:r>
          </a:p>
          <a:p>
            <a:pPr algn="l">
              <a:spcBef>
                <a:spcPts val="800"/>
              </a:spcBef>
              <a:defRPr sz="1300">
                <a:solidFill>
                  <a:srgbClr val="FFFFFF"/>
                </a:solidFill>
                <a:latin typeface="Segoe UI"/>
              </a:defRPr>
            </a:pPr>
            <a:r>
              <a:t>• Đảm bảo chất lượng: 66/66 Test Cases Pytest bao phủ toàn diện các phân hệ cốt lõi</a:t>
            </a:r>
          </a:p>
        </p:txBody>
      </p:sp>
      <p:sp>
        <p:nvSpPr>
          <p:cNvPr id="6" name="Rounded Rectangle 5"/>
          <p:cNvSpPr/>
          <p:nvPr/>
        </p:nvSpPr>
        <p:spPr>
          <a:xfrm>
            <a:off x="6245352" y="1417320"/>
            <a:ext cx="5212080" cy="3886200"/>
          </a:xfrm>
          <a:prstGeom prst="roundRect">
            <a:avLst/>
          </a:prstGeom>
          <a:solidFill>
            <a:srgbClr val="142A4D"/>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l">
              <a:defRPr sz="1500" b="1">
                <a:solidFill>
                  <a:srgbClr val="06B6D4"/>
                </a:solidFill>
                <a:latin typeface="Segoe UI"/>
              </a:defRPr>
            </a:pPr>
            <a:r>
              <a:t>🚀 ĐỊNH HƯỚNG MỞ RỘNG TƯƠNG LAI</a:t>
            </a:r>
          </a:p>
          <a:p>
            <a:pPr algn="l">
              <a:spcBef>
                <a:spcPts val="800"/>
              </a:spcBef>
              <a:defRPr sz="1300">
                <a:solidFill>
                  <a:srgbClr val="FFFFFF"/>
                </a:solidFill>
                <a:latin typeface="Segoe UI"/>
              </a:defRPr>
            </a:pPr>
            <a:r>
              <a:t>• Dự báo nhu cầu nâng cao: Tích hợp mô hình chuỗi thời gian (ARIMA / ML)</a:t>
            </a:r>
          </a:p>
          <a:p>
            <a:pPr algn="l">
              <a:spcBef>
                <a:spcPts val="800"/>
              </a:spcBef>
              <a:defRPr sz="1300">
                <a:solidFill>
                  <a:srgbClr val="FFFFFF"/>
                </a:solidFill>
                <a:latin typeface="Segoe UI"/>
              </a:defRPr>
            </a:pPr>
            <a:r>
              <a:t>• Ứng dụng di động Native: Xây dựng App Flutter / React Native quét mã QR/RFID</a:t>
            </a:r>
          </a:p>
          <a:p>
            <a:pPr algn="l">
              <a:spcBef>
                <a:spcPts val="800"/>
              </a:spcBef>
              <a:defRPr sz="1300">
                <a:solidFill>
                  <a:srgbClr val="FFFFFF"/>
                </a:solidFill>
                <a:latin typeface="Segoe UI"/>
              </a:defRPr>
            </a:pPr>
            <a:r>
              <a:t>• Bản đồ kho thông minh (Smart Bin Location): Tối ưu sơ đồ vị trí và đường đi lấy hàng</a:t>
            </a:r>
          </a:p>
          <a:p>
            <a:pPr algn="l">
              <a:spcBef>
                <a:spcPts val="800"/>
              </a:spcBef>
              <a:defRPr sz="1300">
                <a:solidFill>
                  <a:srgbClr val="FFFFFF"/>
                </a:solidFill>
                <a:latin typeface="Segoe UI"/>
              </a:defRPr>
            </a:pPr>
            <a:r>
              <a:t>• Tích hợp chuẩn ERP: Kết nối API trao đổi dữ liệu với Odoo, SAP, Fast Accounting</a:t>
            </a:r>
          </a:p>
        </p:txBody>
      </p:sp>
      <p:sp>
        <p:nvSpPr>
          <p:cNvPr id="7" name="Rounded Rectangle 6"/>
          <p:cNvSpPr/>
          <p:nvPr/>
        </p:nvSpPr>
        <p:spPr>
          <a:xfrm>
            <a:off x="731520" y="5532120"/>
            <a:ext cx="10725912" cy="868680"/>
          </a:xfrm>
          <a:prstGeom prst="roundRect">
            <a:avLst/>
          </a:prstGeom>
          <a:solidFill>
            <a:srgbClr val="1E3A8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50" b="1">
                <a:solidFill>
                  <a:srgbClr val="FFFFFF"/>
                </a:solidFill>
                <a:latin typeface="Segoe UI"/>
              </a:defRPr>
            </a:pPr>
            <a:r>
              <a:t>🌟 TRÂN TRỌNG CẢM ƠN QUÝ THẦY/CÔ TRONG HỘI ĐỒNG ĐÃ CHÚ Ý LẮNG NGHE!</a:t>
            </a:r>
          </a:p>
          <a:p>
            <a:pPr algn="ctr">
              <a:spcBef>
                <a:spcPts val="400"/>
              </a:spcBef>
              <a:defRPr sz="1250">
                <a:solidFill>
                  <a:srgbClr val="06B6D4"/>
                </a:solidFill>
                <a:latin typeface="Segoe UI"/>
              </a:defRPr>
            </a:pPr>
            <a:r>
              <a:t>Nhóm sinh viên thực hiện xin sẵn sàng tiếp thu ý kiến đóng góp và trả lời các câu hỏi phản biện.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